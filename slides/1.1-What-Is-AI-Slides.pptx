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Q1: What triggered the first AI winter, and what ended it?
A1: Two separate national retrenchments: the US 1966 ALPAC report and 1969 Mansfield Amendment, and the UK's 1973 Lighthill Report, both concluding symbolic AI had failed to scale past toy problems. It thawed as XCON proved the commercial case for expert systems from 1980.
Q2: What is the difference between narrow AI and AGI?
A2: Narrow AI performs well at a specific, bounded task without that competence transferring to unrelated tasks. AGI, not yet achieved by any system, would generalize across essentially any cognitive task the way a human does.
Q3: Backprop was popularized in 1986. Why did deep learning only take off in 2012?
A3: The algorithm existed, but training a deep network well requires large labeled datasets and heavy parallel compute; neither was available at scale until ImageNet (2009, grown to ~14M images) and GPUs arrived, culminating in AlexNet's 2012 win.
Q4: Why does the definition of “AI” keep shifting over time?
A4: A task that gets reliably automated tends to get relabeled as “just software” rather than “AI” (the AI effect), so the label keeps moving to whatever capability is still unsolved.
Q5: A vendor claims their chatbot has “achieved AGI.” What should you check first?
A5: Whether the claim is about generalization across genuinely unrelated cognitive tasks (the real AGI bar) or just fluency within language tasks, often in-context learning rather than weight-level generalization. Check the date and source too.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F35"/>
        </a:solidFill>
      </p:bgPr>
    </p:bg>
    <p:spTree>
      <p:nvGrpSpPr>
        <p:cNvPr id="1" name=""/>
        <p:cNvGrpSpPr/>
        <p:nvPr/>
      </p:nvGrpSpPr>
      <p:grpSpPr>
        <a:xfrm>
          <a:off x="0" y="0"/>
          <a:ext cx="0" cy="0"/>
          <a:chOff x="0" y="0"/>
          <a:chExt cx="0" cy="0"/>
        </a:xfrm>
      </p:grpSpPr>
      <p:pic>
        <p:nvPicPr>
          <p:cNvPr id="2" name="Image 0" descr="/tmp/deck/png/d0-title-motif.png">    </p:cNvPr>
          <p:cNvPicPr>
            <a:picLocks noChangeAspect="1"/>
          </p:cNvPicPr>
          <p:nvPr/>
        </p:nvPicPr>
        <p:blipFill>
          <a:blip r:embed="rId1">
            <a:alphaModFix amt="95000"/>
          </a:blip>
          <a:stretch>
            <a:fillRect/>
          </a:stretch>
        </p:blipFill>
        <p:spPr>
          <a:xfrm>
            <a:off x="6949440" y="548640"/>
            <a:ext cx="5760720" cy="5760720"/>
          </a:xfrm>
          <a:prstGeom prst="rect">
            <a:avLst/>
          </a:prstGeom>
        </p:spPr>
      </p:pic>
      <p:sp>
        <p:nvSpPr>
          <p:cNvPr id="3" name="Text 0"/>
          <p:cNvSpPr/>
          <p:nvPr/>
        </p:nvSpPr>
        <p:spPr>
          <a:xfrm>
            <a:off x="640080" y="640080"/>
            <a:ext cx="8229600" cy="320040"/>
          </a:xfrm>
          <a:prstGeom prst="rect">
            <a:avLst/>
          </a:prstGeom>
          <a:noFill/>
          <a:ln/>
        </p:spPr>
        <p:txBody>
          <a:bodyPr wrap="square" lIns="0" tIns="0" rIns="0" bIns="0" rtlCol="0" anchor="ctr"/>
          <a:lstStyle/>
          <a:p>
            <a:pPr indent="0" marL="0">
              <a:buNone/>
            </a:pPr>
            <a:r>
              <a:rPr lang="en-US" sz="1200" b="1" spc="120" kern="0" dirty="0">
                <a:solidFill>
                  <a:srgbClr val="86B6EF"/>
                </a:solidFill>
                <a:latin typeface="Calibri" pitchFamily="34" charset="0"/>
                <a:ea typeface="Calibri" pitchFamily="34" charset="-122"/>
                <a:cs typeface="Calibri" pitchFamily="34" charset="-120"/>
              </a:rPr>
              <a:t>REGAITRAINING  ·  PHASE 1 — AI &amp; MACHINE LEARNING FOUNDATIONS</a:t>
            </a:r>
            <a:endParaRPr lang="en-US" sz="1200" dirty="0"/>
          </a:p>
        </p:txBody>
      </p:sp>
      <p:sp>
        <p:nvSpPr>
          <p:cNvPr id="4" name="Shape 1"/>
          <p:cNvSpPr/>
          <p:nvPr/>
        </p:nvSpPr>
        <p:spPr>
          <a:xfrm>
            <a:off x="640080" y="1234440"/>
            <a:ext cx="1417320" cy="384048"/>
          </a:xfrm>
          <a:prstGeom prst="roundRect">
            <a:avLst>
              <a:gd name="adj" fmla="val 19048"/>
            </a:avLst>
          </a:prstGeom>
          <a:solidFill>
            <a:srgbClr val="104281"/>
          </a:solidFill>
          <a:ln/>
        </p:spPr>
      </p:sp>
      <p:sp>
        <p:nvSpPr>
          <p:cNvPr id="5" name="Text 2"/>
          <p:cNvSpPr/>
          <p:nvPr/>
        </p:nvSpPr>
        <p:spPr>
          <a:xfrm>
            <a:off x="640080" y="1234440"/>
            <a:ext cx="141732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CHAPTER 1.1</a:t>
            </a:r>
            <a:endParaRPr lang="en-US" sz="1200" dirty="0"/>
          </a:p>
        </p:txBody>
      </p:sp>
      <p:sp>
        <p:nvSpPr>
          <p:cNvPr id="6" name="Text 3"/>
          <p:cNvSpPr/>
          <p:nvPr/>
        </p:nvSpPr>
        <p:spPr>
          <a:xfrm>
            <a:off x="594360" y="1920240"/>
            <a:ext cx="8412480" cy="1371600"/>
          </a:xfrm>
          <a:prstGeom prst="rect">
            <a:avLst/>
          </a:prstGeom>
          <a:noFill/>
          <a:ln/>
        </p:spPr>
        <p:txBody>
          <a:bodyPr wrap="square" lIns="0" tIns="0" rIns="0" bIns="0" rtlCol="0" anchor="ctr"/>
          <a:lstStyle/>
          <a:p>
            <a:pPr indent="0" marL="0">
              <a:lnSpc>
                <a:spcPts val="4800"/>
              </a:lnSpc>
              <a:buNone/>
            </a:pPr>
            <a:r>
              <a:rPr lang="en-US" sz="4400" b="1" dirty="0">
                <a:solidFill>
                  <a:srgbClr val="FFFFFF"/>
                </a:solidFill>
                <a:latin typeface="Cambria" pitchFamily="34" charset="0"/>
                <a:ea typeface="Cambria" pitchFamily="34" charset="-122"/>
                <a:cs typeface="Cambria" pitchFamily="34" charset="-120"/>
              </a:rPr>
              <a:t>What Is Artificial Intelligence?</a:t>
            </a:r>
            <a:endParaRPr lang="en-US" sz="4400" dirty="0"/>
          </a:p>
        </p:txBody>
      </p:sp>
      <p:sp>
        <p:nvSpPr>
          <p:cNvPr id="7" name="Text 4"/>
          <p:cNvSpPr/>
          <p:nvPr/>
        </p:nvSpPr>
        <p:spPr>
          <a:xfrm>
            <a:off x="640080" y="3246120"/>
            <a:ext cx="7863840" cy="640080"/>
          </a:xfrm>
          <a:prstGeom prst="rect">
            <a:avLst/>
          </a:prstGeom>
          <a:noFill/>
          <a:ln/>
        </p:spPr>
        <p:txBody>
          <a:bodyPr wrap="square" lIns="0" tIns="0" rIns="0" bIns="0" rtlCol="0" anchor="ctr"/>
          <a:lstStyle/>
          <a:p>
            <a:pPr indent="0" marL="0">
              <a:buNone/>
            </a:pPr>
            <a:r>
              <a:rPr lang="en-US" sz="2200" dirty="0">
                <a:solidFill>
                  <a:srgbClr val="CDE2FB"/>
                </a:solidFill>
                <a:latin typeface="Calibri" pitchFamily="34" charset="0"/>
                <a:ea typeface="Calibri" pitchFamily="34" charset="-122"/>
                <a:cs typeface="Calibri" pitchFamily="34" charset="-120"/>
              </a:rPr>
              <a:t>History, AI Winters, and Narrow vs. General AI</a:t>
            </a:r>
            <a:endParaRPr lang="en-US" sz="2200" dirty="0"/>
          </a:p>
        </p:txBody>
      </p:sp>
      <p:sp>
        <p:nvSpPr>
          <p:cNvPr id="8" name="Text 5"/>
          <p:cNvSpPr/>
          <p:nvPr/>
        </p:nvSpPr>
        <p:spPr>
          <a:xfrm>
            <a:off x="640080" y="4114800"/>
            <a:ext cx="6766560" cy="822960"/>
          </a:xfrm>
          <a:prstGeom prst="rect">
            <a:avLst/>
          </a:prstGeom>
          <a:noFill/>
          <a:ln/>
        </p:spPr>
        <p:txBody>
          <a:bodyPr wrap="square" lIns="0" tIns="0" rIns="0" bIns="0" rtlCol="0" anchor="ctr"/>
          <a:lstStyle/>
          <a:p>
            <a:pPr indent="0" marL="0">
              <a:lnSpc>
                <a:spcPts val="2000"/>
              </a:lnSpc>
              <a:buNone/>
            </a:pPr>
            <a:r>
              <a:rPr lang="en-US" sz="1400" dirty="0">
                <a:solidFill>
                  <a:srgbClr val="C3C2B7"/>
                </a:solidFill>
                <a:latin typeface="Calibri" pitchFamily="34" charset="0"/>
                <a:ea typeface="Calibri" pitchFamily="34" charset="-122"/>
                <a:cs typeface="Calibri" pitchFamily="34" charset="-120"/>
              </a:rPr>
              <a:t>A teaching-slide walkthrough of the chapter: how the field's definition keeps moving, why funding collapsed twice, and what “narrow AI” actually means.</a:t>
            </a:r>
            <a:endParaRPr lang="en-US" sz="1400" dirty="0"/>
          </a:p>
        </p:txBody>
      </p:sp>
      <p:sp>
        <p:nvSpPr>
          <p:cNvPr id="9" name="Text 6"/>
          <p:cNvSpPr/>
          <p:nvPr/>
        </p:nvSpPr>
        <p:spPr>
          <a:xfrm>
            <a:off x="640080" y="6263640"/>
            <a:ext cx="8229600" cy="320040"/>
          </a:xfrm>
          <a:prstGeom prst="rect">
            <a:avLst/>
          </a:prstGeom>
          <a:noFill/>
          <a:ln/>
        </p:spPr>
        <p:txBody>
          <a:bodyPr wrap="square" lIns="0" tIns="0" rIns="0" bIns="0" rtlCol="0" anchor="ctr"/>
          <a:lstStyle/>
          <a:p>
            <a:pPr indent="0" marL="0">
              <a:buNone/>
            </a:pPr>
            <a:r>
              <a:rPr lang="en-US" sz="1100" dirty="0">
                <a:solidFill>
                  <a:srgbClr val="898781"/>
                </a:solidFill>
                <a:latin typeface="Calibri" pitchFamily="34" charset="0"/>
                <a:ea typeface="Calibri" pitchFamily="34" charset="-122"/>
                <a:cs typeface="Calibri" pitchFamily="34" charset="-120"/>
              </a:rPr>
              <a:t>Instructor deck  ·  19 slides  ·  based on docs/01-ai-ml-foundations/1-1-what-is-ai.mdx</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0058400" cy="274320"/>
          </a:xfrm>
          <a:prstGeom prst="rect">
            <a:avLst/>
          </a:prstGeom>
          <a:noFill/>
          <a:ln/>
        </p:spPr>
        <p:txBody>
          <a:bodyPr wrap="square" lIns="0" tIns="0" rIns="0" bIns="0" rtlCol="0" anchor="ctr"/>
          <a:lstStyle/>
          <a:p>
            <a:pPr indent="0" marL="0">
              <a:buNone/>
            </a:pPr>
            <a:r>
              <a:rPr lang="en-US" sz="1200" b="1" spc="100" kern="0" dirty="0">
                <a:solidFill>
                  <a:srgbClr val="2A78D6"/>
                </a:solidFill>
                <a:latin typeface="Calibri" pitchFamily="34" charset="0"/>
                <a:ea typeface="Calibri" pitchFamily="34" charset="-122"/>
                <a:cs typeface="Calibri" pitchFamily="34" charset="-120"/>
              </a:rPr>
              <a:t>ROADMAP</a:t>
            </a:r>
            <a:endParaRPr lang="en-US" sz="1200" dirty="0"/>
          </a:p>
        </p:txBody>
      </p:sp>
      <p:sp>
        <p:nvSpPr>
          <p:cNvPr id="3" name="Text 1"/>
          <p:cNvSpPr/>
          <p:nvPr/>
        </p:nvSpPr>
        <p:spPr>
          <a:xfrm>
            <a:off x="457200" y="566928"/>
            <a:ext cx="11247120" cy="594360"/>
          </a:xfrm>
          <a:prstGeom prst="rect">
            <a:avLst/>
          </a:prstGeom>
          <a:noFill/>
          <a:ln/>
        </p:spPr>
        <p:txBody>
          <a:bodyPr wrap="square" lIns="0" tIns="0" rIns="0" bIns="0" rtlCol="0" anchor="ctr"/>
          <a:lstStyle/>
          <a:p>
            <a:pPr indent="0" marL="0">
              <a:buNone/>
            </a:pPr>
            <a:r>
              <a:rPr lang="en-US" sz="3000" b="1" dirty="0">
                <a:solidFill>
                  <a:srgbClr val="0B0B0B"/>
                </a:solidFill>
                <a:latin typeface="Cambria" pitchFamily="34" charset="0"/>
                <a:ea typeface="Cambria" pitchFamily="34" charset="-122"/>
                <a:cs typeface="Cambria" pitchFamily="34" charset="-120"/>
              </a:rPr>
              <a:t>What We'll Cover</a:t>
            </a:r>
            <a:endParaRPr lang="en-US" sz="3000" dirty="0"/>
          </a:p>
        </p:txBody>
      </p:sp>
      <p:sp>
        <p:nvSpPr>
          <p:cNvPr id="4" name="Shape 2"/>
          <p:cNvSpPr/>
          <p:nvPr/>
        </p:nvSpPr>
        <p:spPr>
          <a:xfrm>
            <a:off x="457200" y="1508760"/>
            <a:ext cx="502920" cy="502920"/>
          </a:xfrm>
          <a:prstGeom prst="ellipse">
            <a:avLst/>
          </a:prstGeom>
          <a:solidFill>
            <a:srgbClr val="104281"/>
          </a:solidFill>
          <a:ln/>
        </p:spPr>
      </p:sp>
      <p:sp>
        <p:nvSpPr>
          <p:cNvPr id="5" name="Text 3"/>
          <p:cNvSpPr/>
          <p:nvPr/>
        </p:nvSpPr>
        <p:spPr>
          <a:xfrm>
            <a:off x="457200" y="150876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6" name="Text 4"/>
          <p:cNvSpPr/>
          <p:nvPr/>
        </p:nvSpPr>
        <p:spPr>
          <a:xfrm>
            <a:off x="1115568" y="1453896"/>
            <a:ext cx="4617720" cy="365760"/>
          </a:xfrm>
          <a:prstGeom prst="rect">
            <a:avLst/>
          </a:prstGeom>
          <a:noFill/>
          <a:ln/>
        </p:spPr>
        <p:txBody>
          <a:bodyPr wrap="square" lIns="0" tIns="0" rIns="0" bIns="0" rtlCol="0" anchor="ctr"/>
          <a:lstStyle/>
          <a:p>
            <a:pPr indent="0" marL="0">
              <a:buNone/>
            </a:pPr>
            <a:r>
              <a:rPr lang="en-US" sz="1550" b="1" dirty="0">
                <a:solidFill>
                  <a:srgbClr val="0B0B0B"/>
                </a:solidFill>
                <a:latin typeface="Calibri" pitchFamily="34" charset="0"/>
                <a:ea typeface="Calibri" pitchFamily="34" charset="-122"/>
                <a:cs typeface="Calibri" pitchFamily="34" charset="-120"/>
              </a:rPr>
              <a:t>The TL;DR and the “AI effect”</a:t>
            </a:r>
            <a:endParaRPr lang="en-US" sz="1550" dirty="0"/>
          </a:p>
        </p:txBody>
      </p:sp>
      <p:sp>
        <p:nvSpPr>
          <p:cNvPr id="7" name="Text 5"/>
          <p:cNvSpPr/>
          <p:nvPr/>
        </p:nvSpPr>
        <p:spPr>
          <a:xfrm>
            <a:off x="1115568" y="1801368"/>
            <a:ext cx="4617720" cy="365760"/>
          </a:xfrm>
          <a:prstGeom prst="rect">
            <a:avLst/>
          </a:prstGeom>
          <a:noFill/>
          <a:ln/>
        </p:spPr>
        <p:txBody>
          <a:bodyPr wrap="square" lIns="0" tIns="0" rIns="0" bIns="0" rtlCol="0" anchor="ctr"/>
          <a:lstStyle/>
          <a:p>
            <a:pPr indent="0" marL="0">
              <a:buNone/>
            </a:pPr>
            <a:r>
              <a:rPr lang="en-US" sz="1250" dirty="0">
                <a:solidFill>
                  <a:srgbClr val="52514E"/>
                </a:solidFill>
                <a:latin typeface="Calibri" pitchFamily="34" charset="0"/>
                <a:ea typeface="Calibri" pitchFamily="34" charset="-122"/>
                <a:cs typeface="Calibri" pitchFamily="34" charset="-120"/>
              </a:rPr>
              <a:t>Why the label keeps moving</a:t>
            </a:r>
            <a:endParaRPr lang="en-US" sz="1250" dirty="0"/>
          </a:p>
        </p:txBody>
      </p:sp>
      <p:sp>
        <p:nvSpPr>
          <p:cNvPr id="8" name="Shape 6"/>
          <p:cNvSpPr/>
          <p:nvPr/>
        </p:nvSpPr>
        <p:spPr>
          <a:xfrm>
            <a:off x="457200" y="2679192"/>
            <a:ext cx="502920" cy="502920"/>
          </a:xfrm>
          <a:prstGeom prst="ellipse">
            <a:avLst/>
          </a:prstGeom>
          <a:solidFill>
            <a:srgbClr val="104281"/>
          </a:solidFill>
          <a:ln/>
        </p:spPr>
      </p:sp>
      <p:sp>
        <p:nvSpPr>
          <p:cNvPr id="9" name="Text 7"/>
          <p:cNvSpPr/>
          <p:nvPr/>
        </p:nvSpPr>
        <p:spPr>
          <a:xfrm>
            <a:off x="457200" y="2679192"/>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0" name="Text 8"/>
          <p:cNvSpPr/>
          <p:nvPr/>
        </p:nvSpPr>
        <p:spPr>
          <a:xfrm>
            <a:off x="1115568" y="2624328"/>
            <a:ext cx="4617720" cy="365760"/>
          </a:xfrm>
          <a:prstGeom prst="rect">
            <a:avLst/>
          </a:prstGeom>
          <a:noFill/>
          <a:ln/>
        </p:spPr>
        <p:txBody>
          <a:bodyPr wrap="square" lIns="0" tIns="0" rIns="0" bIns="0" rtlCol="0" anchor="ctr"/>
          <a:lstStyle/>
          <a:p>
            <a:pPr indent="0" marL="0">
              <a:buNone/>
            </a:pPr>
            <a:r>
              <a:rPr lang="en-US" sz="1550" b="1" dirty="0">
                <a:solidFill>
                  <a:srgbClr val="0B0B0B"/>
                </a:solidFill>
                <a:latin typeface="Calibri" pitchFamily="34" charset="0"/>
                <a:ea typeface="Calibri" pitchFamily="34" charset="-122"/>
                <a:cs typeface="Calibri" pitchFamily="34" charset="-120"/>
              </a:rPr>
              <a:t>Six eras of AI history</a:t>
            </a:r>
            <a:endParaRPr lang="en-US" sz="1550" dirty="0"/>
          </a:p>
        </p:txBody>
      </p:sp>
      <p:sp>
        <p:nvSpPr>
          <p:cNvPr id="11" name="Text 9"/>
          <p:cNvSpPr/>
          <p:nvPr/>
        </p:nvSpPr>
        <p:spPr>
          <a:xfrm>
            <a:off x="1115568" y="2971800"/>
            <a:ext cx="4617720" cy="365760"/>
          </a:xfrm>
          <a:prstGeom prst="rect">
            <a:avLst/>
          </a:prstGeom>
          <a:noFill/>
          <a:ln/>
        </p:spPr>
        <p:txBody>
          <a:bodyPr wrap="square" lIns="0" tIns="0" rIns="0" bIns="0" rtlCol="0" anchor="ctr"/>
          <a:lstStyle/>
          <a:p>
            <a:pPr indent="0" marL="0">
              <a:buNone/>
            </a:pPr>
            <a:r>
              <a:rPr lang="en-US" sz="1250" dirty="0">
                <a:solidFill>
                  <a:srgbClr val="52514E"/>
                </a:solidFill>
                <a:latin typeface="Calibri" pitchFamily="34" charset="0"/>
                <a:ea typeface="Calibri" pitchFamily="34" charset="-122"/>
                <a:cs typeface="Calibri" pitchFamily="34" charset="-120"/>
              </a:rPr>
              <a:t>One timeline, symbolic AI to agentic AI</a:t>
            </a:r>
            <a:endParaRPr lang="en-US" sz="1250" dirty="0"/>
          </a:p>
        </p:txBody>
      </p:sp>
      <p:sp>
        <p:nvSpPr>
          <p:cNvPr id="12" name="Shape 10"/>
          <p:cNvSpPr/>
          <p:nvPr/>
        </p:nvSpPr>
        <p:spPr>
          <a:xfrm>
            <a:off x="457200" y="3849624"/>
            <a:ext cx="502920" cy="502920"/>
          </a:xfrm>
          <a:prstGeom prst="ellipse">
            <a:avLst/>
          </a:prstGeom>
          <a:solidFill>
            <a:srgbClr val="104281"/>
          </a:solidFill>
          <a:ln/>
        </p:spPr>
      </p:sp>
      <p:sp>
        <p:nvSpPr>
          <p:cNvPr id="13" name="Text 11"/>
          <p:cNvSpPr/>
          <p:nvPr/>
        </p:nvSpPr>
        <p:spPr>
          <a:xfrm>
            <a:off x="457200" y="3849624"/>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4" name="Text 12"/>
          <p:cNvSpPr/>
          <p:nvPr/>
        </p:nvSpPr>
        <p:spPr>
          <a:xfrm>
            <a:off x="1115568" y="3794760"/>
            <a:ext cx="4617720" cy="365760"/>
          </a:xfrm>
          <a:prstGeom prst="rect">
            <a:avLst/>
          </a:prstGeom>
          <a:noFill/>
          <a:ln/>
        </p:spPr>
        <p:txBody>
          <a:bodyPr wrap="square" lIns="0" tIns="0" rIns="0" bIns="0" rtlCol="0" anchor="ctr"/>
          <a:lstStyle/>
          <a:p>
            <a:pPr indent="0" marL="0">
              <a:buNone/>
            </a:pPr>
            <a:r>
              <a:rPr lang="en-US" sz="1550" b="1" dirty="0">
                <a:solidFill>
                  <a:srgbClr val="0B0B0B"/>
                </a:solidFill>
                <a:latin typeface="Calibri" pitchFamily="34" charset="0"/>
                <a:ea typeface="Calibri" pitchFamily="34" charset="-122"/>
                <a:cs typeface="Calibri" pitchFamily="34" charset="-120"/>
              </a:rPr>
              <a:t>Two AI winters, explained</a:t>
            </a:r>
            <a:endParaRPr lang="en-US" sz="1550" dirty="0"/>
          </a:p>
        </p:txBody>
      </p:sp>
      <p:sp>
        <p:nvSpPr>
          <p:cNvPr id="15" name="Text 13"/>
          <p:cNvSpPr/>
          <p:nvPr/>
        </p:nvSpPr>
        <p:spPr>
          <a:xfrm>
            <a:off x="1115568" y="4142232"/>
            <a:ext cx="4617720" cy="365760"/>
          </a:xfrm>
          <a:prstGeom prst="rect">
            <a:avLst/>
          </a:prstGeom>
          <a:noFill/>
          <a:ln/>
        </p:spPr>
        <p:txBody>
          <a:bodyPr wrap="square" lIns="0" tIns="0" rIns="0" bIns="0" rtlCol="0" anchor="ctr"/>
          <a:lstStyle/>
          <a:p>
            <a:pPr indent="0" marL="0">
              <a:buNone/>
            </a:pPr>
            <a:r>
              <a:rPr lang="en-US" sz="1250" dirty="0">
                <a:solidFill>
                  <a:srgbClr val="52514E"/>
                </a:solidFill>
                <a:latin typeface="Calibri" pitchFamily="34" charset="0"/>
                <a:ea typeface="Calibri" pitchFamily="34" charset="-122"/>
                <a:cs typeface="Calibri" pitchFamily="34" charset="-120"/>
              </a:rPr>
              <a:t>What actually caused each collapse</a:t>
            </a:r>
            <a:endParaRPr lang="en-US" sz="1250" dirty="0"/>
          </a:p>
        </p:txBody>
      </p:sp>
      <p:sp>
        <p:nvSpPr>
          <p:cNvPr id="16" name="Shape 14"/>
          <p:cNvSpPr/>
          <p:nvPr/>
        </p:nvSpPr>
        <p:spPr>
          <a:xfrm>
            <a:off x="457200" y="5020056"/>
            <a:ext cx="502920" cy="502920"/>
          </a:xfrm>
          <a:prstGeom prst="ellipse">
            <a:avLst/>
          </a:prstGeom>
          <a:solidFill>
            <a:srgbClr val="104281"/>
          </a:solidFill>
          <a:ln/>
        </p:spPr>
      </p:sp>
      <p:sp>
        <p:nvSpPr>
          <p:cNvPr id="17" name="Text 15"/>
          <p:cNvSpPr/>
          <p:nvPr/>
        </p:nvSpPr>
        <p:spPr>
          <a:xfrm>
            <a:off x="457200" y="5020056"/>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18" name="Text 16"/>
          <p:cNvSpPr/>
          <p:nvPr/>
        </p:nvSpPr>
        <p:spPr>
          <a:xfrm>
            <a:off x="1115568" y="4965192"/>
            <a:ext cx="4617720" cy="365760"/>
          </a:xfrm>
          <a:prstGeom prst="rect">
            <a:avLst/>
          </a:prstGeom>
          <a:noFill/>
          <a:ln/>
        </p:spPr>
        <p:txBody>
          <a:bodyPr wrap="square" lIns="0" tIns="0" rIns="0" bIns="0" rtlCol="0" anchor="ctr"/>
          <a:lstStyle/>
          <a:p>
            <a:pPr indent="0" marL="0">
              <a:buNone/>
            </a:pPr>
            <a:r>
              <a:rPr lang="en-US" sz="1550" b="1" dirty="0">
                <a:solidFill>
                  <a:srgbClr val="0B0B0B"/>
                </a:solidFill>
                <a:latin typeface="Calibri" pitchFamily="34" charset="0"/>
                <a:ea typeface="Calibri" pitchFamily="34" charset="-122"/>
                <a:cs typeface="Calibri" pitchFamily="34" charset="-120"/>
              </a:rPr>
              <a:t>Narrow AI vs. AGI vs. ASI</a:t>
            </a:r>
            <a:endParaRPr lang="en-US" sz="1550" dirty="0"/>
          </a:p>
        </p:txBody>
      </p:sp>
      <p:sp>
        <p:nvSpPr>
          <p:cNvPr id="19" name="Text 17"/>
          <p:cNvSpPr/>
          <p:nvPr/>
        </p:nvSpPr>
        <p:spPr>
          <a:xfrm>
            <a:off x="1115568" y="5312664"/>
            <a:ext cx="4617720" cy="365760"/>
          </a:xfrm>
          <a:prstGeom prst="rect">
            <a:avLst/>
          </a:prstGeom>
          <a:noFill/>
          <a:ln/>
        </p:spPr>
        <p:txBody>
          <a:bodyPr wrap="square" lIns="0" tIns="0" rIns="0" bIns="0" rtlCol="0" anchor="ctr"/>
          <a:lstStyle/>
          <a:p>
            <a:pPr indent="0" marL="0">
              <a:buNone/>
            </a:pPr>
            <a:r>
              <a:rPr lang="en-US" sz="1250" dirty="0">
                <a:solidFill>
                  <a:srgbClr val="52514E"/>
                </a:solidFill>
                <a:latin typeface="Calibri" pitchFamily="34" charset="0"/>
                <a:ea typeface="Calibri" pitchFamily="34" charset="-122"/>
                <a:cs typeface="Calibri" pitchFamily="34" charset="-120"/>
              </a:rPr>
              <a:t>A generality spectrum, not a smartness one</a:t>
            </a:r>
            <a:endParaRPr lang="en-US" sz="1250" dirty="0"/>
          </a:p>
        </p:txBody>
      </p:sp>
      <p:sp>
        <p:nvSpPr>
          <p:cNvPr id="20" name="Shape 18"/>
          <p:cNvSpPr/>
          <p:nvPr/>
        </p:nvSpPr>
        <p:spPr>
          <a:xfrm>
            <a:off x="6355080" y="1508760"/>
            <a:ext cx="502920" cy="502920"/>
          </a:xfrm>
          <a:prstGeom prst="ellipse">
            <a:avLst/>
          </a:prstGeom>
          <a:solidFill>
            <a:srgbClr val="104281"/>
          </a:solidFill>
          <a:ln/>
        </p:spPr>
      </p:sp>
      <p:sp>
        <p:nvSpPr>
          <p:cNvPr id="21" name="Text 19"/>
          <p:cNvSpPr/>
          <p:nvPr/>
        </p:nvSpPr>
        <p:spPr>
          <a:xfrm>
            <a:off x="6355080" y="150876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5</a:t>
            </a:r>
            <a:endParaRPr lang="en-US" sz="1800" dirty="0"/>
          </a:p>
        </p:txBody>
      </p:sp>
      <p:sp>
        <p:nvSpPr>
          <p:cNvPr id="22" name="Text 20"/>
          <p:cNvSpPr/>
          <p:nvPr/>
        </p:nvSpPr>
        <p:spPr>
          <a:xfrm>
            <a:off x="7013448" y="1453896"/>
            <a:ext cx="4617720" cy="365760"/>
          </a:xfrm>
          <a:prstGeom prst="rect">
            <a:avLst/>
          </a:prstGeom>
          <a:noFill/>
          <a:ln/>
        </p:spPr>
        <p:txBody>
          <a:bodyPr wrap="square" lIns="0" tIns="0" rIns="0" bIns="0" rtlCol="0" anchor="ctr"/>
          <a:lstStyle/>
          <a:p>
            <a:pPr indent="0" marL="0">
              <a:buNone/>
            </a:pPr>
            <a:r>
              <a:rPr lang="en-US" sz="1550" b="1" dirty="0">
                <a:solidFill>
                  <a:srgbClr val="0B0B0B"/>
                </a:solidFill>
                <a:latin typeface="Calibri" pitchFamily="34" charset="0"/>
                <a:ea typeface="Calibri" pitchFamily="34" charset="-122"/>
                <a:cs typeface="Calibri" pitchFamily="34" charset="-120"/>
              </a:rPr>
              <a:t>How AI / ML / DL / GenAI relate</a:t>
            </a:r>
            <a:endParaRPr lang="en-US" sz="1550" dirty="0"/>
          </a:p>
        </p:txBody>
      </p:sp>
      <p:sp>
        <p:nvSpPr>
          <p:cNvPr id="23" name="Text 21"/>
          <p:cNvSpPr/>
          <p:nvPr/>
        </p:nvSpPr>
        <p:spPr>
          <a:xfrm>
            <a:off x="7013448" y="1801368"/>
            <a:ext cx="4617720" cy="365760"/>
          </a:xfrm>
          <a:prstGeom prst="rect">
            <a:avLst/>
          </a:prstGeom>
          <a:noFill/>
          <a:ln/>
        </p:spPr>
        <p:txBody>
          <a:bodyPr wrap="square" lIns="0" tIns="0" rIns="0" bIns="0" rtlCol="0" anchor="ctr"/>
          <a:lstStyle/>
          <a:p>
            <a:pPr indent="0" marL="0">
              <a:buNone/>
            </a:pPr>
            <a:r>
              <a:rPr lang="en-US" sz="1250" dirty="0">
                <a:solidFill>
                  <a:srgbClr val="52514E"/>
                </a:solidFill>
                <a:latin typeface="Calibri" pitchFamily="34" charset="0"/>
                <a:ea typeface="Calibri" pitchFamily="34" charset="-122"/>
                <a:cs typeface="Calibri" pitchFamily="34" charset="-120"/>
              </a:rPr>
              <a:t>Nested specializations, not rivals</a:t>
            </a:r>
            <a:endParaRPr lang="en-US" sz="1250" dirty="0"/>
          </a:p>
        </p:txBody>
      </p:sp>
      <p:sp>
        <p:nvSpPr>
          <p:cNvPr id="24" name="Shape 22"/>
          <p:cNvSpPr/>
          <p:nvPr/>
        </p:nvSpPr>
        <p:spPr>
          <a:xfrm>
            <a:off x="6355080" y="2679192"/>
            <a:ext cx="502920" cy="502920"/>
          </a:xfrm>
          <a:prstGeom prst="ellipse">
            <a:avLst/>
          </a:prstGeom>
          <a:solidFill>
            <a:srgbClr val="104281"/>
          </a:solidFill>
          <a:ln/>
        </p:spPr>
      </p:sp>
      <p:sp>
        <p:nvSpPr>
          <p:cNvPr id="25" name="Text 23"/>
          <p:cNvSpPr/>
          <p:nvPr/>
        </p:nvSpPr>
        <p:spPr>
          <a:xfrm>
            <a:off x="6355080" y="2679192"/>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6</a:t>
            </a:r>
            <a:endParaRPr lang="en-US" sz="1800" dirty="0"/>
          </a:p>
        </p:txBody>
      </p:sp>
      <p:sp>
        <p:nvSpPr>
          <p:cNvPr id="26" name="Text 24"/>
          <p:cNvSpPr/>
          <p:nvPr/>
        </p:nvSpPr>
        <p:spPr>
          <a:xfrm>
            <a:off x="7013448" y="2624328"/>
            <a:ext cx="4617720" cy="365760"/>
          </a:xfrm>
          <a:prstGeom prst="rect">
            <a:avLst/>
          </a:prstGeom>
          <a:noFill/>
          <a:ln/>
        </p:spPr>
        <p:txBody>
          <a:bodyPr wrap="square" lIns="0" tIns="0" rIns="0" bIns="0" rtlCol="0" anchor="ctr"/>
          <a:lstStyle/>
          <a:p>
            <a:pPr indent="0" marL="0">
              <a:buNone/>
            </a:pPr>
            <a:r>
              <a:rPr lang="en-US" sz="1550" b="1" dirty="0">
                <a:solidFill>
                  <a:srgbClr val="0B0B0B"/>
                </a:solidFill>
                <a:latin typeface="Calibri" pitchFamily="34" charset="0"/>
                <a:ea typeface="Calibri" pitchFamily="34" charset="-122"/>
                <a:cs typeface="Calibri" pitchFamily="34" charset="-120"/>
              </a:rPr>
              <a:t>Industry use cases</a:t>
            </a:r>
            <a:endParaRPr lang="en-US" sz="1550" dirty="0"/>
          </a:p>
        </p:txBody>
      </p:sp>
      <p:sp>
        <p:nvSpPr>
          <p:cNvPr id="27" name="Text 25"/>
          <p:cNvSpPr/>
          <p:nvPr/>
        </p:nvSpPr>
        <p:spPr>
          <a:xfrm>
            <a:off x="7013448" y="2971800"/>
            <a:ext cx="4617720" cy="365760"/>
          </a:xfrm>
          <a:prstGeom prst="rect">
            <a:avLst/>
          </a:prstGeom>
          <a:noFill/>
          <a:ln/>
        </p:spPr>
        <p:txBody>
          <a:bodyPr wrap="square" lIns="0" tIns="0" rIns="0" bIns="0" rtlCol="0" anchor="ctr"/>
          <a:lstStyle/>
          <a:p>
            <a:pPr indent="0" marL="0">
              <a:buNone/>
            </a:pPr>
            <a:r>
              <a:rPr lang="en-US" sz="1250" dirty="0">
                <a:solidFill>
                  <a:srgbClr val="52514E"/>
                </a:solidFill>
                <a:latin typeface="Calibri" pitchFamily="34" charset="0"/>
                <a:ea typeface="Calibri" pitchFamily="34" charset="-122"/>
                <a:cs typeface="Calibri" pitchFamily="34" charset="-120"/>
              </a:rPr>
              <a:t>Finance, Healthcare, and Telecom — 4 each</a:t>
            </a:r>
            <a:endParaRPr lang="en-US" sz="1250" dirty="0"/>
          </a:p>
        </p:txBody>
      </p:sp>
      <p:sp>
        <p:nvSpPr>
          <p:cNvPr id="28" name="Shape 26"/>
          <p:cNvSpPr/>
          <p:nvPr/>
        </p:nvSpPr>
        <p:spPr>
          <a:xfrm>
            <a:off x="6355080" y="3849624"/>
            <a:ext cx="502920" cy="502920"/>
          </a:xfrm>
          <a:prstGeom prst="ellipse">
            <a:avLst/>
          </a:prstGeom>
          <a:solidFill>
            <a:srgbClr val="104281"/>
          </a:solidFill>
          <a:ln/>
        </p:spPr>
      </p:sp>
      <p:sp>
        <p:nvSpPr>
          <p:cNvPr id="29" name="Text 27"/>
          <p:cNvSpPr/>
          <p:nvPr/>
        </p:nvSpPr>
        <p:spPr>
          <a:xfrm>
            <a:off x="6355080" y="3849624"/>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7</a:t>
            </a:r>
            <a:endParaRPr lang="en-US" sz="1800" dirty="0"/>
          </a:p>
        </p:txBody>
      </p:sp>
      <p:sp>
        <p:nvSpPr>
          <p:cNvPr id="30" name="Text 28"/>
          <p:cNvSpPr/>
          <p:nvPr/>
        </p:nvSpPr>
        <p:spPr>
          <a:xfrm>
            <a:off x="7013448" y="3794760"/>
            <a:ext cx="4617720" cy="365760"/>
          </a:xfrm>
          <a:prstGeom prst="rect">
            <a:avLst/>
          </a:prstGeom>
          <a:noFill/>
          <a:ln/>
        </p:spPr>
        <p:txBody>
          <a:bodyPr wrap="square" lIns="0" tIns="0" rIns="0" bIns="0" rtlCol="0" anchor="ctr"/>
          <a:lstStyle/>
          <a:p>
            <a:pPr indent="0" marL="0">
              <a:buNone/>
            </a:pPr>
            <a:r>
              <a:rPr lang="en-US" sz="1550" b="1" dirty="0">
                <a:solidFill>
                  <a:srgbClr val="0B0B0B"/>
                </a:solidFill>
                <a:latin typeface="Calibri" pitchFamily="34" charset="0"/>
                <a:ea typeface="Calibri" pitchFamily="34" charset="-122"/>
                <a:cs typeface="Calibri" pitchFamily="34" charset="-120"/>
              </a:rPr>
              <a:t>Check your understanding</a:t>
            </a:r>
            <a:endParaRPr lang="en-US" sz="1550" dirty="0"/>
          </a:p>
        </p:txBody>
      </p:sp>
      <p:sp>
        <p:nvSpPr>
          <p:cNvPr id="31" name="Text 29"/>
          <p:cNvSpPr/>
          <p:nvPr/>
        </p:nvSpPr>
        <p:spPr>
          <a:xfrm>
            <a:off x="7013448" y="4142232"/>
            <a:ext cx="4617720" cy="365760"/>
          </a:xfrm>
          <a:prstGeom prst="rect">
            <a:avLst/>
          </a:prstGeom>
          <a:noFill/>
          <a:ln/>
        </p:spPr>
        <p:txBody>
          <a:bodyPr wrap="square" lIns="0" tIns="0" rIns="0" bIns="0" rtlCol="0" anchor="ctr"/>
          <a:lstStyle/>
          <a:p>
            <a:pPr indent="0" marL="0">
              <a:buNone/>
            </a:pPr>
            <a:r>
              <a:rPr lang="en-US" sz="1250" dirty="0">
                <a:solidFill>
                  <a:srgbClr val="52514E"/>
                </a:solidFill>
                <a:latin typeface="Calibri" pitchFamily="34" charset="0"/>
                <a:ea typeface="Calibri" pitchFamily="34" charset="-122"/>
                <a:cs typeface="Calibri" pitchFamily="34" charset="-120"/>
              </a:rPr>
              <a:t>Five questions to discuss as a class</a:t>
            </a:r>
            <a:endParaRPr lang="en-US" sz="1250" dirty="0"/>
          </a:p>
        </p:txBody>
      </p:sp>
      <p:sp>
        <p:nvSpPr>
          <p:cNvPr id="32" name="Text 30"/>
          <p:cNvSpPr/>
          <p:nvPr/>
        </p:nvSpPr>
        <p:spPr>
          <a:xfrm>
            <a:off x="457200" y="6510528"/>
            <a:ext cx="7315200" cy="274320"/>
          </a:xfrm>
          <a:prstGeom prst="rect">
            <a:avLst/>
          </a:prstGeom>
          <a:noFill/>
          <a:ln/>
        </p:spPr>
        <p:txBody>
          <a:bodyPr wrap="square" lIns="0" tIns="0" rIns="0" bIns="0" rtlCol="0" anchor="ctr"/>
          <a:lstStyle/>
          <a:p>
            <a:pPr algn="l" indent="0" marL="0">
              <a:buNone/>
            </a:pPr>
            <a:r>
              <a:rPr lang="en-US" sz="1000" dirty="0">
                <a:solidFill>
                  <a:srgbClr val="898781"/>
                </a:solidFill>
                <a:latin typeface="Calibri" pitchFamily="34" charset="0"/>
                <a:ea typeface="Calibri" pitchFamily="34" charset="-122"/>
                <a:cs typeface="Calibri" pitchFamily="34" charset="-120"/>
              </a:rPr>
              <a:t>1.1 · Phase 1 — AI &amp; Machine Learning Foundations</a:t>
            </a:r>
            <a:endParaRPr lang="en-US" sz="1000" dirty="0"/>
          </a:p>
        </p:txBody>
      </p:sp>
      <p:sp>
        <p:nvSpPr>
          <p:cNvPr id="33" name="Text 31"/>
          <p:cNvSpPr/>
          <p:nvPr/>
        </p:nvSpPr>
        <p:spPr>
          <a:xfrm>
            <a:off x="11274552" y="6510528"/>
            <a:ext cx="457200" cy="274320"/>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0058400" cy="274320"/>
          </a:xfrm>
          <a:prstGeom prst="rect">
            <a:avLst/>
          </a:prstGeom>
          <a:noFill/>
          <a:ln/>
        </p:spPr>
        <p:txBody>
          <a:bodyPr wrap="square" lIns="0" tIns="0" rIns="0" bIns="0" rtlCol="0" anchor="ctr"/>
          <a:lstStyle/>
          <a:p>
            <a:pPr indent="0" marL="0">
              <a:buNone/>
            </a:pPr>
            <a:r>
              <a:rPr lang="en-US" sz="1200" b="1" spc="100" kern="0" dirty="0">
                <a:solidFill>
                  <a:srgbClr val="2A78D6"/>
                </a:solidFill>
                <a:latin typeface="Calibri" pitchFamily="34" charset="0"/>
                <a:ea typeface="Calibri" pitchFamily="34" charset="-122"/>
                <a:cs typeface="Calibri" pitchFamily="34" charset="-120"/>
              </a:rPr>
              <a:t>TL;DR</a:t>
            </a:r>
            <a:endParaRPr lang="en-US" sz="1200" dirty="0"/>
          </a:p>
        </p:txBody>
      </p:sp>
      <p:sp>
        <p:nvSpPr>
          <p:cNvPr id="3" name="Text 1"/>
          <p:cNvSpPr/>
          <p:nvPr/>
        </p:nvSpPr>
        <p:spPr>
          <a:xfrm>
            <a:off x="457200" y="566928"/>
            <a:ext cx="11247120" cy="594360"/>
          </a:xfrm>
          <a:prstGeom prst="rect">
            <a:avLst/>
          </a:prstGeom>
          <a:noFill/>
          <a:ln/>
        </p:spPr>
        <p:txBody>
          <a:bodyPr wrap="square" lIns="0" tIns="0" rIns="0" bIns="0" rtlCol="0" anchor="ctr"/>
          <a:lstStyle/>
          <a:p>
            <a:pPr indent="0" marL="0">
              <a:buNone/>
            </a:pPr>
            <a:r>
              <a:rPr lang="en-US" sz="3000" b="1" dirty="0">
                <a:solidFill>
                  <a:srgbClr val="0B0B0B"/>
                </a:solidFill>
                <a:latin typeface="Cambria" pitchFamily="34" charset="0"/>
                <a:ea typeface="Cambria" pitchFamily="34" charset="-122"/>
                <a:cs typeface="Cambria" pitchFamily="34" charset="-120"/>
              </a:rPr>
              <a:t>One Idea to Start With</a:t>
            </a:r>
            <a:endParaRPr lang="en-US" sz="3000" dirty="0"/>
          </a:p>
        </p:txBody>
      </p:sp>
      <p:sp>
        <p:nvSpPr>
          <p:cNvPr id="4" name="Shape 2"/>
          <p:cNvSpPr/>
          <p:nvPr/>
        </p:nvSpPr>
        <p:spPr>
          <a:xfrm>
            <a:off x="457200" y="1417320"/>
            <a:ext cx="11274552" cy="2286000"/>
          </a:xfrm>
          <a:prstGeom prst="roundRect">
            <a:avLst>
              <a:gd name="adj" fmla="val 4800"/>
            </a:avLst>
          </a:prstGeom>
          <a:solidFill>
            <a:srgbClr val="F9F9F7"/>
          </a:solidFill>
          <a:ln/>
        </p:spPr>
      </p:sp>
      <p:sp>
        <p:nvSpPr>
          <p:cNvPr id="5" name="Text 3"/>
          <p:cNvSpPr/>
          <p:nvPr/>
        </p:nvSpPr>
        <p:spPr>
          <a:xfrm>
            <a:off x="822960" y="1645920"/>
            <a:ext cx="10515600" cy="1005840"/>
          </a:xfrm>
          <a:prstGeom prst="rect">
            <a:avLst/>
          </a:prstGeom>
          <a:noFill/>
          <a:ln/>
        </p:spPr>
        <p:txBody>
          <a:bodyPr wrap="square" lIns="0" tIns="0" rIns="0" bIns="0" rtlCol="0" anchor="ctr"/>
          <a:lstStyle/>
          <a:p>
            <a:pPr indent="0" marL="0">
              <a:lnSpc>
                <a:spcPts val="3000"/>
              </a:lnSpc>
              <a:buNone/>
            </a:pPr>
            <a:r>
              <a:rPr lang="en-US" sz="2400" i="1" dirty="0">
                <a:solidFill>
                  <a:srgbClr val="104281"/>
                </a:solidFill>
                <a:latin typeface="Cambria" pitchFamily="34" charset="0"/>
                <a:ea typeface="Cambria" pitchFamily="34" charset="-122"/>
                <a:cs typeface="Cambria" pitchFamily="34" charset="-120"/>
              </a:rPr>
              <a:t>AI is a moving target. Once a task is reliably automated — OCR, chess, spam filtering — it quietly stops being called “AI” and becomes “just software.”</a:t>
            </a:r>
            <a:endParaRPr lang="en-US" sz="2400" dirty="0"/>
          </a:p>
        </p:txBody>
      </p:sp>
      <p:sp>
        <p:nvSpPr>
          <p:cNvPr id="6" name="Text 4"/>
          <p:cNvSpPr/>
          <p:nvPr/>
        </p:nvSpPr>
        <p:spPr>
          <a:xfrm>
            <a:off x="822960" y="2743200"/>
            <a:ext cx="10515600" cy="822960"/>
          </a:xfrm>
          <a:prstGeom prst="rect">
            <a:avLst/>
          </a:prstGeom>
          <a:noFill/>
          <a:ln/>
        </p:spPr>
        <p:txBody>
          <a:bodyPr wrap="square" lIns="0" tIns="0" rIns="0" bIns="0" rtlCol="0" anchor="ctr"/>
          <a:lstStyle/>
          <a:p>
            <a:pPr indent="0" marL="0">
              <a:lnSpc>
                <a:spcPts val="2200"/>
              </a:lnSpc>
              <a:buNone/>
            </a:pPr>
            <a:r>
              <a:rPr lang="en-US" sz="1600" dirty="0">
                <a:solidFill>
                  <a:srgbClr val="52514E"/>
                </a:solidFill>
                <a:latin typeface="Calibri" pitchFamily="34" charset="0"/>
                <a:ea typeface="Calibri" pitchFamily="34" charset="-122"/>
                <a:cs typeface="Calibri" pitchFamily="34" charset="-120"/>
              </a:rPr>
              <a:t>The systems we call “AI” today are still narrow: extremely capable at specific tasks, not generally intelligent the way a human is.</a:t>
            </a:r>
            <a:endParaRPr lang="en-US" sz="1600" dirty="0"/>
          </a:p>
        </p:txBody>
      </p:sp>
      <p:sp>
        <p:nvSpPr>
          <p:cNvPr id="7" name="Text 5"/>
          <p:cNvSpPr/>
          <p:nvPr/>
        </p:nvSpPr>
        <p:spPr>
          <a:xfrm>
            <a:off x="457200" y="3977640"/>
            <a:ext cx="5486400" cy="274320"/>
          </a:xfrm>
          <a:prstGeom prst="rect">
            <a:avLst/>
          </a:prstGeom>
          <a:noFill/>
          <a:ln/>
        </p:spPr>
        <p:txBody>
          <a:bodyPr wrap="square" lIns="0" tIns="0" rIns="0" bIns="0" rtlCol="0" anchor="ctr"/>
          <a:lstStyle/>
          <a:p>
            <a:pPr indent="0" marL="0">
              <a:buNone/>
            </a:pPr>
            <a:r>
              <a:rPr lang="en-US" sz="1200" b="1" spc="100" kern="0" dirty="0">
                <a:solidFill>
                  <a:srgbClr val="2A78D6"/>
                </a:solidFill>
                <a:latin typeface="Calibri" pitchFamily="34" charset="0"/>
                <a:ea typeface="Calibri" pitchFamily="34" charset="-122"/>
                <a:cs typeface="Calibri" pitchFamily="34" charset="-120"/>
              </a:rPr>
              <a:t>THE RELAY-RACE ANALOGY</a:t>
            </a:r>
            <a:endParaRPr lang="en-US" sz="1200" dirty="0"/>
          </a:p>
        </p:txBody>
      </p:sp>
      <p:sp>
        <p:nvSpPr>
          <p:cNvPr id="8" name="Text 6"/>
          <p:cNvSpPr/>
          <p:nvPr/>
        </p:nvSpPr>
        <p:spPr>
          <a:xfrm>
            <a:off x="457200" y="4297680"/>
            <a:ext cx="6949440" cy="1005840"/>
          </a:xfrm>
          <a:prstGeom prst="rect">
            <a:avLst/>
          </a:prstGeom>
          <a:noFill/>
          <a:ln/>
        </p:spPr>
        <p:txBody>
          <a:bodyPr wrap="square" lIns="0" tIns="0" rIns="0" bIns="0" rtlCol="0" anchor="ctr"/>
          <a:lstStyle/>
          <a:p>
            <a:pPr indent="0" marL="0">
              <a:lnSpc>
                <a:spcPts val="2100"/>
              </a:lnSpc>
              <a:buNone/>
            </a:pPr>
            <a:r>
              <a:rPr lang="en-US" sz="1500" dirty="0">
                <a:solidFill>
                  <a:srgbClr val="0B0B0B"/>
                </a:solidFill>
                <a:latin typeface="Calibri" pitchFamily="34" charset="0"/>
                <a:ea typeface="Calibri" pitchFamily="34" charset="-122"/>
                <a:cs typeface="Calibri" pitchFamily="34" charset="-120"/>
              </a:rPr>
              <a:t>Think of AI's history less as one continuous invention and more like a relay race — each runner hands off the baton once the previous approach hits its ceiling.</a:t>
            </a:r>
            <a:endParaRPr lang="en-US" sz="1500" dirty="0"/>
          </a:p>
        </p:txBody>
      </p:sp>
      <p:sp>
        <p:nvSpPr>
          <p:cNvPr id="9" name="Shape 7"/>
          <p:cNvSpPr/>
          <p:nvPr/>
        </p:nvSpPr>
        <p:spPr>
          <a:xfrm>
            <a:off x="8028432" y="5760720"/>
            <a:ext cx="704088" cy="0"/>
          </a:xfrm>
          <a:prstGeom prst="line">
            <a:avLst/>
          </a:prstGeom>
          <a:noFill/>
          <a:ln w="19050">
            <a:solidFill>
              <a:srgbClr val="E1E0D9"/>
            </a:solidFill>
            <a:prstDash val="dash"/>
          </a:ln>
        </p:spPr>
      </p:sp>
      <p:sp>
        <p:nvSpPr>
          <p:cNvPr id="10" name="Shape 8"/>
          <p:cNvSpPr/>
          <p:nvPr/>
        </p:nvSpPr>
        <p:spPr>
          <a:xfrm>
            <a:off x="8897112" y="5760720"/>
            <a:ext cx="704088" cy="0"/>
          </a:xfrm>
          <a:prstGeom prst="line">
            <a:avLst/>
          </a:prstGeom>
          <a:noFill/>
          <a:ln w="19050">
            <a:solidFill>
              <a:srgbClr val="E1E0D9"/>
            </a:solidFill>
            <a:prstDash val="dash"/>
          </a:ln>
        </p:spPr>
      </p:sp>
      <p:sp>
        <p:nvSpPr>
          <p:cNvPr id="11" name="Shape 9"/>
          <p:cNvSpPr/>
          <p:nvPr/>
        </p:nvSpPr>
        <p:spPr>
          <a:xfrm>
            <a:off x="9765792" y="5760720"/>
            <a:ext cx="704088" cy="0"/>
          </a:xfrm>
          <a:prstGeom prst="line">
            <a:avLst/>
          </a:prstGeom>
          <a:noFill/>
          <a:ln w="19050">
            <a:solidFill>
              <a:srgbClr val="E1E0D9"/>
            </a:solidFill>
            <a:prstDash val="dash"/>
          </a:ln>
        </p:spPr>
      </p:sp>
      <p:sp>
        <p:nvSpPr>
          <p:cNvPr id="12" name="Shape 10"/>
          <p:cNvSpPr/>
          <p:nvPr/>
        </p:nvSpPr>
        <p:spPr>
          <a:xfrm>
            <a:off x="10634472" y="5760720"/>
            <a:ext cx="704088" cy="0"/>
          </a:xfrm>
          <a:prstGeom prst="line">
            <a:avLst/>
          </a:prstGeom>
          <a:noFill/>
          <a:ln w="19050">
            <a:solidFill>
              <a:srgbClr val="E1E0D9"/>
            </a:solidFill>
            <a:prstDash val="dash"/>
          </a:ln>
        </p:spPr>
      </p:sp>
      <p:sp>
        <p:nvSpPr>
          <p:cNvPr id="13" name="Shape 11"/>
          <p:cNvSpPr/>
          <p:nvPr/>
        </p:nvSpPr>
        <p:spPr>
          <a:xfrm>
            <a:off x="7863840" y="5623560"/>
            <a:ext cx="329184" cy="329184"/>
          </a:xfrm>
          <a:prstGeom prst="ellipse">
            <a:avLst/>
          </a:prstGeom>
          <a:solidFill>
            <a:srgbClr val="86B6EF"/>
          </a:solidFill>
          <a:ln/>
        </p:spPr>
      </p:sp>
      <p:sp>
        <p:nvSpPr>
          <p:cNvPr id="14" name="Shape 12"/>
          <p:cNvSpPr/>
          <p:nvPr/>
        </p:nvSpPr>
        <p:spPr>
          <a:xfrm>
            <a:off x="8732520" y="5623560"/>
            <a:ext cx="329184" cy="329184"/>
          </a:xfrm>
          <a:prstGeom prst="ellipse">
            <a:avLst/>
          </a:prstGeom>
          <a:solidFill>
            <a:srgbClr val="5598E7"/>
          </a:solidFill>
          <a:ln/>
        </p:spPr>
      </p:sp>
      <p:sp>
        <p:nvSpPr>
          <p:cNvPr id="15" name="Shape 13"/>
          <p:cNvSpPr/>
          <p:nvPr/>
        </p:nvSpPr>
        <p:spPr>
          <a:xfrm>
            <a:off x="9601200" y="5623560"/>
            <a:ext cx="329184" cy="329184"/>
          </a:xfrm>
          <a:prstGeom prst="ellipse">
            <a:avLst/>
          </a:prstGeom>
          <a:solidFill>
            <a:srgbClr val="2A78D6"/>
          </a:solidFill>
          <a:ln/>
        </p:spPr>
      </p:sp>
      <p:sp>
        <p:nvSpPr>
          <p:cNvPr id="16" name="Shape 14"/>
          <p:cNvSpPr/>
          <p:nvPr/>
        </p:nvSpPr>
        <p:spPr>
          <a:xfrm>
            <a:off x="10469880" y="5623560"/>
            <a:ext cx="329184" cy="329184"/>
          </a:xfrm>
          <a:prstGeom prst="ellipse">
            <a:avLst/>
          </a:prstGeom>
          <a:solidFill>
            <a:srgbClr val="184F95"/>
          </a:solidFill>
          <a:ln/>
        </p:spPr>
      </p:sp>
      <p:sp>
        <p:nvSpPr>
          <p:cNvPr id="17" name="Shape 15"/>
          <p:cNvSpPr/>
          <p:nvPr/>
        </p:nvSpPr>
        <p:spPr>
          <a:xfrm>
            <a:off x="11338560" y="5623560"/>
            <a:ext cx="329184" cy="329184"/>
          </a:xfrm>
          <a:prstGeom prst="ellipse">
            <a:avLst/>
          </a:prstGeom>
          <a:solidFill>
            <a:srgbClr val="104281"/>
          </a:solidFill>
          <a:ln/>
        </p:spPr>
      </p:sp>
      <p:sp>
        <p:nvSpPr>
          <p:cNvPr id="18" name="Text 16"/>
          <p:cNvSpPr/>
          <p:nvPr/>
        </p:nvSpPr>
        <p:spPr>
          <a:xfrm>
            <a:off x="457200" y="6510528"/>
            <a:ext cx="7315200" cy="274320"/>
          </a:xfrm>
          <a:prstGeom prst="rect">
            <a:avLst/>
          </a:prstGeom>
          <a:noFill/>
          <a:ln/>
        </p:spPr>
        <p:txBody>
          <a:bodyPr wrap="square" lIns="0" tIns="0" rIns="0" bIns="0" rtlCol="0" anchor="ctr"/>
          <a:lstStyle/>
          <a:p>
            <a:pPr algn="l" indent="0" marL="0">
              <a:buNone/>
            </a:pPr>
            <a:r>
              <a:rPr lang="en-US" sz="1000" dirty="0">
                <a:solidFill>
                  <a:srgbClr val="898781"/>
                </a:solidFill>
                <a:latin typeface="Calibri" pitchFamily="34" charset="0"/>
                <a:ea typeface="Calibri" pitchFamily="34" charset="-122"/>
                <a:cs typeface="Calibri" pitchFamily="34" charset="-120"/>
              </a:rPr>
              <a:t>1.1 · Phase 1 — AI &amp; Machine Learning Foundations</a:t>
            </a:r>
            <a:endParaRPr lang="en-US" sz="1000" dirty="0"/>
          </a:p>
        </p:txBody>
      </p:sp>
      <p:sp>
        <p:nvSpPr>
          <p:cNvPr id="19" name="Text 17"/>
          <p:cNvSpPr/>
          <p:nvPr/>
        </p:nvSpPr>
        <p:spPr>
          <a:xfrm>
            <a:off x="11274552" y="6510528"/>
            <a:ext cx="457200" cy="274320"/>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0058400" cy="274320"/>
          </a:xfrm>
          <a:prstGeom prst="rect">
            <a:avLst/>
          </a:prstGeom>
          <a:noFill/>
          <a:ln/>
        </p:spPr>
        <p:txBody>
          <a:bodyPr wrap="square" lIns="0" tIns="0" rIns="0" bIns="0" rtlCol="0" anchor="ctr"/>
          <a:lstStyle/>
          <a:p>
            <a:pPr indent="0" marL="0">
              <a:buNone/>
            </a:pPr>
            <a:r>
              <a:rPr lang="en-US" sz="1200" b="1" spc="100" kern="0" dirty="0">
                <a:solidFill>
                  <a:srgbClr val="2A78D6"/>
                </a:solidFill>
                <a:latin typeface="Calibri" pitchFamily="34" charset="0"/>
                <a:ea typeface="Calibri" pitchFamily="34" charset="-122"/>
                <a:cs typeface="Calibri" pitchFamily="34" charset="-120"/>
              </a:rPr>
              <a:t>WHY THE DEFINITION MOVES</a:t>
            </a:r>
            <a:endParaRPr lang="en-US" sz="1200" dirty="0"/>
          </a:p>
        </p:txBody>
      </p:sp>
      <p:sp>
        <p:nvSpPr>
          <p:cNvPr id="3" name="Text 1"/>
          <p:cNvSpPr/>
          <p:nvPr/>
        </p:nvSpPr>
        <p:spPr>
          <a:xfrm>
            <a:off x="457200" y="566928"/>
            <a:ext cx="11247120" cy="594360"/>
          </a:xfrm>
          <a:prstGeom prst="rect">
            <a:avLst/>
          </a:prstGeom>
          <a:noFill/>
          <a:ln/>
        </p:spPr>
        <p:txBody>
          <a:bodyPr wrap="square" lIns="0" tIns="0" rIns="0" bIns="0" rtlCol="0" anchor="ctr"/>
          <a:lstStyle/>
          <a:p>
            <a:pPr indent="0" marL="0">
              <a:buNone/>
            </a:pPr>
            <a:r>
              <a:rPr lang="en-US" sz="3000" b="1" dirty="0">
                <a:solidFill>
                  <a:srgbClr val="0B0B0B"/>
                </a:solidFill>
                <a:latin typeface="Cambria" pitchFamily="34" charset="0"/>
                <a:ea typeface="Cambria" pitchFamily="34" charset="-122"/>
                <a:cs typeface="Cambria" pitchFamily="34" charset="-120"/>
              </a:rPr>
              <a:t>The “AI Effect”</a:t>
            </a:r>
            <a:endParaRPr lang="en-US" sz="3000" dirty="0"/>
          </a:p>
        </p:txBody>
      </p:sp>
      <p:sp>
        <p:nvSpPr>
          <p:cNvPr id="4" name="Shape 2"/>
          <p:cNvSpPr/>
          <p:nvPr/>
        </p:nvSpPr>
        <p:spPr>
          <a:xfrm>
            <a:off x="457200" y="1554480"/>
            <a:ext cx="457200" cy="457200"/>
          </a:xfrm>
          <a:prstGeom prst="ellipse">
            <a:avLst/>
          </a:prstGeom>
          <a:solidFill>
            <a:srgbClr val="86B6EF"/>
          </a:solidFill>
          <a:ln/>
        </p:spPr>
      </p:sp>
      <p:sp>
        <p:nvSpPr>
          <p:cNvPr id="5" name="Text 3"/>
          <p:cNvSpPr/>
          <p:nvPr/>
        </p:nvSpPr>
        <p:spPr>
          <a:xfrm>
            <a:off x="457200" y="1554480"/>
            <a:ext cx="457200" cy="457200"/>
          </a:xfrm>
          <a:prstGeom prst="rect">
            <a:avLst/>
          </a:prstGeom>
          <a:noFill/>
          <a:ln/>
        </p:spPr>
        <p:txBody>
          <a:bodyPr wrap="square" lIns="0" tIns="0" rIns="0" bIns="0" rtlCol="0" anchor="ctr"/>
          <a:lstStyle/>
          <a:p>
            <a:pPr algn="ctr" indent="0" marL="0">
              <a:buNone/>
            </a:pPr>
            <a:r>
              <a:rPr lang="en-US" sz="1600" b="1" dirty="0">
                <a:solidFill>
                  <a:srgbClr val="104281"/>
                </a:solidFill>
                <a:latin typeface="Cambria" pitchFamily="34" charset="0"/>
                <a:ea typeface="Cambria" pitchFamily="34" charset="-122"/>
                <a:cs typeface="Cambria" pitchFamily="34" charset="-120"/>
              </a:rPr>
              <a:t>1</a:t>
            </a:r>
            <a:endParaRPr lang="en-US" sz="1600" dirty="0"/>
          </a:p>
        </p:txBody>
      </p:sp>
      <p:sp>
        <p:nvSpPr>
          <p:cNvPr id="6" name="Text 4"/>
          <p:cNvSpPr/>
          <p:nvPr/>
        </p:nvSpPr>
        <p:spPr>
          <a:xfrm>
            <a:off x="1097280" y="1499616"/>
            <a:ext cx="5394960" cy="365760"/>
          </a:xfrm>
          <a:prstGeom prst="rect">
            <a:avLst/>
          </a:prstGeom>
          <a:noFill/>
          <a:ln/>
        </p:spPr>
        <p:txBody>
          <a:bodyPr wrap="square" lIns="0" tIns="0" rIns="0" bIns="0" rtlCol="0" anchor="ctr"/>
          <a:lstStyle/>
          <a:p>
            <a:pPr indent="0" marL="0">
              <a:buNone/>
            </a:pPr>
            <a:r>
              <a:rPr lang="en-US" sz="1600" b="1" dirty="0">
                <a:solidFill>
                  <a:srgbClr val="0B0B0B"/>
                </a:solidFill>
                <a:latin typeface="Calibri" pitchFamily="34" charset="0"/>
                <a:ea typeface="Calibri" pitchFamily="34" charset="-122"/>
                <a:cs typeface="Calibri" pitchFamily="34" charset="-120"/>
              </a:rPr>
              <a:t>Optical character recognition</a:t>
            </a:r>
            <a:endParaRPr lang="en-US" sz="1600" dirty="0"/>
          </a:p>
        </p:txBody>
      </p:sp>
      <p:sp>
        <p:nvSpPr>
          <p:cNvPr id="7" name="Text 5"/>
          <p:cNvSpPr/>
          <p:nvPr/>
        </p:nvSpPr>
        <p:spPr>
          <a:xfrm>
            <a:off x="1097280" y="1847088"/>
            <a:ext cx="5394960" cy="411480"/>
          </a:xfrm>
          <a:prstGeom prst="rect">
            <a:avLst/>
          </a:prstGeom>
          <a:noFill/>
          <a:ln/>
        </p:spPr>
        <p:txBody>
          <a:bodyPr wrap="square" lIns="0" tIns="0" rIns="0" bIns="0" rtlCol="0" anchor="ctr"/>
          <a:lstStyle/>
          <a:p>
            <a:pPr indent="0" marL="0">
              <a:buNone/>
            </a:pPr>
            <a:r>
              <a:rPr lang="en-US" sz="1300" dirty="0">
                <a:solidFill>
                  <a:srgbClr val="52514E"/>
                </a:solidFill>
                <a:latin typeface="Calibri" pitchFamily="34" charset="0"/>
                <a:ea typeface="Calibri" pitchFamily="34" charset="-122"/>
                <a:cs typeface="Calibri" pitchFamily="34" charset="-120"/>
              </a:rPr>
              <a:t>Cutting-edge AI in the 1990s. Now: “just software.”</a:t>
            </a:r>
            <a:endParaRPr lang="en-US" sz="1300" dirty="0"/>
          </a:p>
        </p:txBody>
      </p:sp>
      <p:sp>
        <p:nvSpPr>
          <p:cNvPr id="8" name="Shape 6"/>
          <p:cNvSpPr/>
          <p:nvPr/>
        </p:nvSpPr>
        <p:spPr>
          <a:xfrm>
            <a:off x="457200" y="2514600"/>
            <a:ext cx="457200" cy="457200"/>
          </a:xfrm>
          <a:prstGeom prst="ellipse">
            <a:avLst/>
          </a:prstGeom>
          <a:solidFill>
            <a:srgbClr val="86B6EF"/>
          </a:solidFill>
          <a:ln/>
        </p:spPr>
      </p:sp>
      <p:sp>
        <p:nvSpPr>
          <p:cNvPr id="9" name="Text 7"/>
          <p:cNvSpPr/>
          <p:nvPr/>
        </p:nvSpPr>
        <p:spPr>
          <a:xfrm>
            <a:off x="457200" y="2514600"/>
            <a:ext cx="457200" cy="457200"/>
          </a:xfrm>
          <a:prstGeom prst="rect">
            <a:avLst/>
          </a:prstGeom>
          <a:noFill/>
          <a:ln/>
        </p:spPr>
        <p:txBody>
          <a:bodyPr wrap="square" lIns="0" tIns="0" rIns="0" bIns="0" rtlCol="0" anchor="ctr"/>
          <a:lstStyle/>
          <a:p>
            <a:pPr algn="ctr" indent="0" marL="0">
              <a:buNone/>
            </a:pPr>
            <a:r>
              <a:rPr lang="en-US" sz="1600" b="1" dirty="0">
                <a:solidFill>
                  <a:srgbClr val="104281"/>
                </a:solidFill>
                <a:latin typeface="Cambria" pitchFamily="34" charset="0"/>
                <a:ea typeface="Cambria" pitchFamily="34" charset="-122"/>
                <a:cs typeface="Cambria" pitchFamily="34" charset="-120"/>
              </a:rPr>
              <a:t>2</a:t>
            </a:r>
            <a:endParaRPr lang="en-US" sz="1600" dirty="0"/>
          </a:p>
        </p:txBody>
      </p:sp>
      <p:sp>
        <p:nvSpPr>
          <p:cNvPr id="10" name="Text 8"/>
          <p:cNvSpPr/>
          <p:nvPr/>
        </p:nvSpPr>
        <p:spPr>
          <a:xfrm>
            <a:off x="1097280" y="2459736"/>
            <a:ext cx="5394960" cy="365760"/>
          </a:xfrm>
          <a:prstGeom prst="rect">
            <a:avLst/>
          </a:prstGeom>
          <a:noFill/>
          <a:ln/>
        </p:spPr>
        <p:txBody>
          <a:bodyPr wrap="square" lIns="0" tIns="0" rIns="0" bIns="0" rtlCol="0" anchor="ctr"/>
          <a:lstStyle/>
          <a:p>
            <a:pPr indent="0" marL="0">
              <a:buNone/>
            </a:pPr>
            <a:r>
              <a:rPr lang="en-US" sz="1600" b="1" dirty="0">
                <a:solidFill>
                  <a:srgbClr val="0B0B0B"/>
                </a:solidFill>
                <a:latin typeface="Calibri" pitchFamily="34" charset="0"/>
                <a:ea typeface="Calibri" pitchFamily="34" charset="-122"/>
                <a:cs typeface="Calibri" pitchFamily="34" charset="-120"/>
              </a:rPr>
              <a:t>Chess engines</a:t>
            </a:r>
            <a:endParaRPr lang="en-US" sz="1600" dirty="0"/>
          </a:p>
        </p:txBody>
      </p:sp>
      <p:sp>
        <p:nvSpPr>
          <p:cNvPr id="11" name="Text 9"/>
          <p:cNvSpPr/>
          <p:nvPr/>
        </p:nvSpPr>
        <p:spPr>
          <a:xfrm>
            <a:off x="1097280" y="2807208"/>
            <a:ext cx="5394960" cy="411480"/>
          </a:xfrm>
          <a:prstGeom prst="rect">
            <a:avLst/>
          </a:prstGeom>
          <a:noFill/>
          <a:ln/>
        </p:spPr>
        <p:txBody>
          <a:bodyPr wrap="square" lIns="0" tIns="0" rIns="0" bIns="0" rtlCol="0" anchor="ctr"/>
          <a:lstStyle/>
          <a:p>
            <a:pPr indent="0" marL="0">
              <a:buNone/>
            </a:pPr>
            <a:r>
              <a:rPr lang="en-US" sz="1300" dirty="0">
                <a:solidFill>
                  <a:srgbClr val="52514E"/>
                </a:solidFill>
                <a:latin typeface="Calibri" pitchFamily="34" charset="0"/>
                <a:ea typeface="Calibri" pitchFamily="34" charset="-122"/>
                <a:cs typeface="Calibri" pitchFamily="34" charset="-120"/>
              </a:rPr>
              <a:t>Beat world champions in 1997. Now: a phone app.</a:t>
            </a:r>
            <a:endParaRPr lang="en-US" sz="1300" dirty="0"/>
          </a:p>
        </p:txBody>
      </p:sp>
      <p:sp>
        <p:nvSpPr>
          <p:cNvPr id="12" name="Shape 10"/>
          <p:cNvSpPr/>
          <p:nvPr/>
        </p:nvSpPr>
        <p:spPr>
          <a:xfrm>
            <a:off x="457200" y="3474720"/>
            <a:ext cx="457200" cy="457200"/>
          </a:xfrm>
          <a:prstGeom prst="ellipse">
            <a:avLst/>
          </a:prstGeom>
          <a:solidFill>
            <a:srgbClr val="86B6EF"/>
          </a:solidFill>
          <a:ln/>
        </p:spPr>
      </p:sp>
      <p:sp>
        <p:nvSpPr>
          <p:cNvPr id="13" name="Text 11"/>
          <p:cNvSpPr/>
          <p:nvPr/>
        </p:nvSpPr>
        <p:spPr>
          <a:xfrm>
            <a:off x="457200" y="3474720"/>
            <a:ext cx="457200" cy="457200"/>
          </a:xfrm>
          <a:prstGeom prst="rect">
            <a:avLst/>
          </a:prstGeom>
          <a:noFill/>
          <a:ln/>
        </p:spPr>
        <p:txBody>
          <a:bodyPr wrap="square" lIns="0" tIns="0" rIns="0" bIns="0" rtlCol="0" anchor="ctr"/>
          <a:lstStyle/>
          <a:p>
            <a:pPr algn="ctr" indent="0" marL="0">
              <a:buNone/>
            </a:pPr>
            <a:r>
              <a:rPr lang="en-US" sz="1600" b="1" dirty="0">
                <a:solidFill>
                  <a:srgbClr val="104281"/>
                </a:solidFill>
                <a:latin typeface="Cambria" pitchFamily="34" charset="0"/>
                <a:ea typeface="Cambria" pitchFamily="34" charset="-122"/>
                <a:cs typeface="Cambria" pitchFamily="34" charset="-120"/>
              </a:rPr>
              <a:t>3</a:t>
            </a:r>
            <a:endParaRPr lang="en-US" sz="1600" dirty="0"/>
          </a:p>
        </p:txBody>
      </p:sp>
      <p:sp>
        <p:nvSpPr>
          <p:cNvPr id="14" name="Text 12"/>
          <p:cNvSpPr/>
          <p:nvPr/>
        </p:nvSpPr>
        <p:spPr>
          <a:xfrm>
            <a:off x="1097280" y="3419856"/>
            <a:ext cx="5394960" cy="365760"/>
          </a:xfrm>
          <a:prstGeom prst="rect">
            <a:avLst/>
          </a:prstGeom>
          <a:noFill/>
          <a:ln/>
        </p:spPr>
        <p:txBody>
          <a:bodyPr wrap="square" lIns="0" tIns="0" rIns="0" bIns="0" rtlCol="0" anchor="ctr"/>
          <a:lstStyle/>
          <a:p>
            <a:pPr indent="0" marL="0">
              <a:buNone/>
            </a:pPr>
            <a:r>
              <a:rPr lang="en-US" sz="1600" b="1" dirty="0">
                <a:solidFill>
                  <a:srgbClr val="0B0B0B"/>
                </a:solidFill>
                <a:latin typeface="Calibri" pitchFamily="34" charset="0"/>
                <a:ea typeface="Calibri" pitchFamily="34" charset="-122"/>
                <a:cs typeface="Calibri" pitchFamily="34" charset="-120"/>
              </a:rPr>
              <a:t>Spam filtering</a:t>
            </a:r>
            <a:endParaRPr lang="en-US" sz="1600" dirty="0"/>
          </a:p>
        </p:txBody>
      </p:sp>
      <p:sp>
        <p:nvSpPr>
          <p:cNvPr id="15" name="Text 13"/>
          <p:cNvSpPr/>
          <p:nvPr/>
        </p:nvSpPr>
        <p:spPr>
          <a:xfrm>
            <a:off x="1097280" y="3767328"/>
            <a:ext cx="5394960" cy="411480"/>
          </a:xfrm>
          <a:prstGeom prst="rect">
            <a:avLst/>
          </a:prstGeom>
          <a:noFill/>
          <a:ln/>
        </p:spPr>
        <p:txBody>
          <a:bodyPr wrap="square" lIns="0" tIns="0" rIns="0" bIns="0" rtlCol="0" anchor="ctr"/>
          <a:lstStyle/>
          <a:p>
            <a:pPr indent="0" marL="0">
              <a:buNone/>
            </a:pPr>
            <a:r>
              <a:rPr lang="en-US" sz="1300" dirty="0">
                <a:solidFill>
                  <a:srgbClr val="52514E"/>
                </a:solidFill>
                <a:latin typeface="Calibri" pitchFamily="34" charset="0"/>
                <a:ea typeface="Calibri" pitchFamily="34" charset="-122"/>
                <a:cs typeface="Calibri" pitchFamily="34" charset="-120"/>
              </a:rPr>
              <a:t>Statistical AI in the 2000s. Now: invisible plumbing.</a:t>
            </a:r>
            <a:endParaRPr lang="en-US" sz="1300" dirty="0"/>
          </a:p>
        </p:txBody>
      </p:sp>
      <p:sp>
        <p:nvSpPr>
          <p:cNvPr id="16" name="Shape 14"/>
          <p:cNvSpPr/>
          <p:nvPr/>
        </p:nvSpPr>
        <p:spPr>
          <a:xfrm>
            <a:off x="6949440" y="1554480"/>
            <a:ext cx="4754880" cy="3063240"/>
          </a:xfrm>
          <a:prstGeom prst="roundRect">
            <a:avLst>
              <a:gd name="adj" fmla="val 3582"/>
            </a:avLst>
          </a:prstGeom>
          <a:solidFill>
            <a:srgbClr val="104281"/>
          </a:solidFill>
          <a:ln/>
        </p:spPr>
      </p:sp>
      <p:sp>
        <p:nvSpPr>
          <p:cNvPr id="17" name="Text 15"/>
          <p:cNvSpPr/>
          <p:nvPr/>
        </p:nvSpPr>
        <p:spPr>
          <a:xfrm>
            <a:off x="7269480" y="1810512"/>
            <a:ext cx="4114800" cy="274320"/>
          </a:xfrm>
          <a:prstGeom prst="rect">
            <a:avLst/>
          </a:prstGeom>
          <a:noFill/>
          <a:ln/>
        </p:spPr>
        <p:txBody>
          <a:bodyPr wrap="square" lIns="0" tIns="0" rIns="0" bIns="0" rtlCol="0" anchor="ctr"/>
          <a:lstStyle/>
          <a:p>
            <a:pPr indent="0" marL="0">
              <a:buNone/>
            </a:pPr>
            <a:r>
              <a:rPr lang="en-US" sz="1100" b="1" spc="100" kern="0" dirty="0">
                <a:solidFill>
                  <a:srgbClr val="CDE2FB"/>
                </a:solidFill>
                <a:latin typeface="Calibri" pitchFamily="34" charset="0"/>
                <a:ea typeface="Calibri" pitchFamily="34" charset="-122"/>
                <a:cs typeface="Calibri" pitchFamily="34" charset="-120"/>
              </a:rPr>
              <a:t>DEFINITION</a:t>
            </a:r>
            <a:endParaRPr lang="en-US" sz="1100" dirty="0"/>
          </a:p>
        </p:txBody>
      </p:sp>
      <p:sp>
        <p:nvSpPr>
          <p:cNvPr id="18" name="Text 16"/>
          <p:cNvSpPr/>
          <p:nvPr/>
        </p:nvSpPr>
        <p:spPr>
          <a:xfrm>
            <a:off x="7269480" y="2084832"/>
            <a:ext cx="4114800" cy="45720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AI Effect</a:t>
            </a:r>
            <a:endParaRPr lang="en-US" sz="2400" dirty="0"/>
          </a:p>
        </p:txBody>
      </p:sp>
      <p:sp>
        <p:nvSpPr>
          <p:cNvPr id="19" name="Text 17"/>
          <p:cNvSpPr/>
          <p:nvPr/>
        </p:nvSpPr>
        <p:spPr>
          <a:xfrm>
            <a:off x="7269480" y="2651760"/>
            <a:ext cx="4114800" cy="1371600"/>
          </a:xfrm>
          <a:prstGeom prst="rect">
            <a:avLst/>
          </a:prstGeom>
          <a:noFill/>
          <a:ln/>
        </p:spPr>
        <p:txBody>
          <a:bodyPr wrap="square" lIns="0" tIns="0" rIns="0" bIns="0" rtlCol="0" anchor="ctr"/>
          <a:lstStyle/>
          <a:p>
            <a:pPr indent="0" marL="0">
              <a:lnSpc>
                <a:spcPts val="2000"/>
              </a:lnSpc>
              <a:buNone/>
            </a:pPr>
            <a:r>
              <a:rPr lang="en-US" sz="1450" dirty="0">
                <a:solidFill>
                  <a:srgbClr val="CDE2FB"/>
                </a:solidFill>
                <a:latin typeface="Calibri" pitchFamily="34" charset="0"/>
                <a:ea typeface="Calibri" pitchFamily="34" charset="-122"/>
                <a:cs typeface="Calibri" pitchFamily="34" charset="-120"/>
              </a:rPr>
              <a:t>The tendency for a task to stop being called “AI” once it's reliably automated — so the label keeps shifting to whatever capability is still unsolved.</a:t>
            </a:r>
            <a:endParaRPr lang="en-US" sz="1450" dirty="0"/>
          </a:p>
        </p:txBody>
      </p:sp>
      <p:sp>
        <p:nvSpPr>
          <p:cNvPr id="20" name="Text 18"/>
          <p:cNvSpPr/>
          <p:nvPr/>
        </p:nvSpPr>
        <p:spPr>
          <a:xfrm>
            <a:off x="7269480" y="4206240"/>
            <a:ext cx="4114800" cy="320040"/>
          </a:xfrm>
          <a:prstGeom prst="rect">
            <a:avLst/>
          </a:prstGeom>
          <a:noFill/>
          <a:ln/>
        </p:spPr>
        <p:txBody>
          <a:bodyPr wrap="square" lIns="0" tIns="0" rIns="0" bIns="0" rtlCol="0" anchor="ctr"/>
          <a:lstStyle/>
          <a:p>
            <a:pPr indent="0" marL="0">
              <a:buNone/>
            </a:pPr>
            <a:r>
              <a:rPr lang="en-US" sz="1100" i="1" dirty="0">
                <a:solidFill>
                  <a:srgbClr val="9FB8D6"/>
                </a:solidFill>
                <a:latin typeface="Calibri" pitchFamily="34" charset="0"/>
                <a:ea typeface="Calibri" pitchFamily="34" charset="-122"/>
                <a:cs typeface="Calibri" pitchFamily="34" charset="-120"/>
              </a:rPr>
              <a:t>Added to the site glossary — 0.5 Glossary &amp; Notation Conventions</a:t>
            </a:r>
            <a:endParaRPr lang="en-US" sz="1100" dirty="0"/>
          </a:p>
        </p:txBody>
      </p:sp>
      <p:sp>
        <p:nvSpPr>
          <p:cNvPr id="21" name="Text 19"/>
          <p:cNvSpPr/>
          <p:nvPr/>
        </p:nvSpPr>
        <p:spPr>
          <a:xfrm>
            <a:off x="457200" y="5394960"/>
            <a:ext cx="11274552" cy="548640"/>
          </a:xfrm>
          <a:prstGeom prst="rect">
            <a:avLst/>
          </a:prstGeom>
          <a:noFill/>
          <a:ln/>
        </p:spPr>
        <p:txBody>
          <a:bodyPr wrap="square" lIns="0" tIns="0" rIns="0" bIns="0" rtlCol="0" anchor="ctr"/>
          <a:lstStyle/>
          <a:p>
            <a:pPr indent="0" marL="0">
              <a:buNone/>
            </a:pPr>
            <a:r>
              <a:rPr lang="en-US" sz="1400" i="1" dirty="0">
                <a:solidFill>
                  <a:srgbClr val="898781"/>
                </a:solidFill>
                <a:latin typeface="Calibri" pitchFamily="34" charset="0"/>
                <a:ea typeface="Calibri" pitchFamily="34" charset="-122"/>
                <a:cs typeface="Calibri" pitchFamily="34" charset="-120"/>
              </a:rPr>
              <a:t>Class discussion: what's a technology in your own industry that used to be called “AI” and now just isn't?</a:t>
            </a:r>
            <a:endParaRPr lang="en-US" sz="1400" dirty="0"/>
          </a:p>
        </p:txBody>
      </p:sp>
      <p:sp>
        <p:nvSpPr>
          <p:cNvPr id="22" name="Text 20"/>
          <p:cNvSpPr/>
          <p:nvPr/>
        </p:nvSpPr>
        <p:spPr>
          <a:xfrm>
            <a:off x="457200" y="6510528"/>
            <a:ext cx="7315200" cy="274320"/>
          </a:xfrm>
          <a:prstGeom prst="rect">
            <a:avLst/>
          </a:prstGeom>
          <a:noFill/>
          <a:ln/>
        </p:spPr>
        <p:txBody>
          <a:bodyPr wrap="square" lIns="0" tIns="0" rIns="0" bIns="0" rtlCol="0" anchor="ctr"/>
          <a:lstStyle/>
          <a:p>
            <a:pPr algn="l" indent="0" marL="0">
              <a:buNone/>
            </a:pPr>
            <a:r>
              <a:rPr lang="en-US" sz="1000" dirty="0">
                <a:solidFill>
                  <a:srgbClr val="898781"/>
                </a:solidFill>
                <a:latin typeface="Calibri" pitchFamily="34" charset="0"/>
                <a:ea typeface="Calibri" pitchFamily="34" charset="-122"/>
                <a:cs typeface="Calibri" pitchFamily="34" charset="-120"/>
              </a:rPr>
              <a:t>1.1 · Phase 1 — AI &amp; Machine Learning Foundations</a:t>
            </a:r>
            <a:endParaRPr lang="en-US" sz="1000" dirty="0"/>
          </a:p>
        </p:txBody>
      </p:sp>
      <p:sp>
        <p:nvSpPr>
          <p:cNvPr id="23" name="Text 21"/>
          <p:cNvSpPr/>
          <p:nvPr/>
        </p:nvSpPr>
        <p:spPr>
          <a:xfrm>
            <a:off x="11274552" y="6510528"/>
            <a:ext cx="457200" cy="274320"/>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0058400" cy="274320"/>
          </a:xfrm>
          <a:prstGeom prst="rect">
            <a:avLst/>
          </a:prstGeom>
          <a:noFill/>
          <a:ln/>
        </p:spPr>
        <p:txBody>
          <a:bodyPr wrap="square" lIns="0" tIns="0" rIns="0" bIns="0" rtlCol="0" anchor="ctr"/>
          <a:lstStyle/>
          <a:p>
            <a:pPr indent="0" marL="0">
              <a:buNone/>
            </a:pPr>
            <a:r>
              <a:rPr lang="en-US" sz="1200" b="1" spc="100" kern="0" dirty="0">
                <a:solidFill>
                  <a:srgbClr val="2A78D6"/>
                </a:solidFill>
                <a:latin typeface="Calibri" pitchFamily="34" charset="0"/>
                <a:ea typeface="Calibri" pitchFamily="34" charset="-122"/>
                <a:cs typeface="Calibri" pitchFamily="34" charset="-120"/>
              </a:rPr>
              <a:t>SIX ERAS, ONE TIMELINE</a:t>
            </a:r>
            <a:endParaRPr lang="en-US" sz="1200" dirty="0"/>
          </a:p>
        </p:txBody>
      </p:sp>
      <p:sp>
        <p:nvSpPr>
          <p:cNvPr id="3" name="Text 1"/>
          <p:cNvSpPr/>
          <p:nvPr/>
        </p:nvSpPr>
        <p:spPr>
          <a:xfrm>
            <a:off x="457200" y="566928"/>
            <a:ext cx="11247120" cy="594360"/>
          </a:xfrm>
          <a:prstGeom prst="rect">
            <a:avLst/>
          </a:prstGeom>
          <a:noFill/>
          <a:ln/>
        </p:spPr>
        <p:txBody>
          <a:bodyPr wrap="square" lIns="0" tIns="0" rIns="0" bIns="0" rtlCol="0" anchor="ctr"/>
          <a:lstStyle/>
          <a:p>
            <a:pPr indent="0" marL="0">
              <a:buNone/>
            </a:pPr>
            <a:r>
              <a:rPr lang="en-US" sz="3000" b="1" dirty="0">
                <a:solidFill>
                  <a:srgbClr val="0B0B0B"/>
                </a:solidFill>
                <a:latin typeface="Cambria" pitchFamily="34" charset="0"/>
                <a:ea typeface="Cambria" pitchFamily="34" charset="-122"/>
                <a:cs typeface="Cambria" pitchFamily="34" charset="-120"/>
              </a:rPr>
              <a:t>The Full Arc of AI History</a:t>
            </a:r>
            <a:endParaRPr lang="en-US" sz="3000" dirty="0"/>
          </a:p>
        </p:txBody>
      </p:sp>
      <p:pic>
        <p:nvPicPr>
          <p:cNvPr id="4" name="Image 0" descr="/tmp/deck/png/d1-timeline.png">    </p:cNvPr>
          <p:cNvPicPr>
            <a:picLocks noChangeAspect="1"/>
          </p:cNvPicPr>
          <p:nvPr/>
        </p:nvPicPr>
        <p:blipFill>
          <a:blip r:embed="rId1"/>
          <a:stretch>
            <a:fillRect/>
          </a:stretch>
        </p:blipFill>
        <p:spPr>
          <a:xfrm>
            <a:off x="457200" y="1280160"/>
            <a:ext cx="11274552" cy="4283964"/>
          </a:xfrm>
          <a:prstGeom prst="rect">
            <a:avLst/>
          </a:prstGeom>
        </p:spPr>
      </p:pic>
      <p:sp>
        <p:nvSpPr>
          <p:cNvPr id="5" name="Text 2"/>
          <p:cNvSpPr/>
          <p:nvPr/>
        </p:nvSpPr>
        <p:spPr>
          <a:xfrm>
            <a:off x="457200" y="6510528"/>
            <a:ext cx="7315200" cy="274320"/>
          </a:xfrm>
          <a:prstGeom prst="rect">
            <a:avLst/>
          </a:prstGeom>
          <a:noFill/>
          <a:ln/>
        </p:spPr>
        <p:txBody>
          <a:bodyPr wrap="square" lIns="0" tIns="0" rIns="0" bIns="0" rtlCol="0" anchor="ctr"/>
          <a:lstStyle/>
          <a:p>
            <a:pPr algn="l" indent="0" marL="0">
              <a:buNone/>
            </a:pPr>
            <a:r>
              <a:rPr lang="en-US" sz="1000" dirty="0">
                <a:solidFill>
                  <a:srgbClr val="898781"/>
                </a:solidFill>
                <a:latin typeface="Calibri" pitchFamily="34" charset="0"/>
                <a:ea typeface="Calibri" pitchFamily="34" charset="-122"/>
                <a:cs typeface="Calibri" pitchFamily="34" charset="-120"/>
              </a:rPr>
              <a:t>1.1 · Phase 1 — AI &amp; Machine Learning Foundations</a:t>
            </a:r>
            <a:endParaRPr lang="en-US" sz="1000" dirty="0"/>
          </a:p>
        </p:txBody>
      </p:sp>
      <p:sp>
        <p:nvSpPr>
          <p:cNvPr id="6" name="Text 3"/>
          <p:cNvSpPr/>
          <p:nvPr/>
        </p:nvSpPr>
        <p:spPr>
          <a:xfrm>
            <a:off x="11274552" y="6510528"/>
            <a:ext cx="457200" cy="274320"/>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0058400" cy="274320"/>
          </a:xfrm>
          <a:prstGeom prst="rect">
            <a:avLst/>
          </a:prstGeom>
          <a:noFill/>
          <a:ln/>
        </p:spPr>
        <p:txBody>
          <a:bodyPr wrap="square" lIns="0" tIns="0" rIns="0" bIns="0" rtlCol="0" anchor="ctr"/>
          <a:lstStyle/>
          <a:p>
            <a:pPr indent="0" marL="0">
              <a:buNone/>
            </a:pPr>
            <a:r>
              <a:rPr lang="en-US" sz="1200" b="1" spc="100" kern="0" dirty="0">
                <a:solidFill>
                  <a:srgbClr val="2A78D6"/>
                </a:solidFill>
                <a:latin typeface="Calibri" pitchFamily="34" charset="0"/>
                <a:ea typeface="Calibri" pitchFamily="34" charset="-122"/>
                <a:cs typeface="Calibri" pitchFamily="34" charset="-120"/>
              </a:rPr>
              <a:t>DEEP-DIVE</a:t>
            </a:r>
            <a:endParaRPr lang="en-US" sz="1200" dirty="0"/>
          </a:p>
        </p:txBody>
      </p:sp>
      <p:sp>
        <p:nvSpPr>
          <p:cNvPr id="3" name="Text 1"/>
          <p:cNvSpPr/>
          <p:nvPr/>
        </p:nvSpPr>
        <p:spPr>
          <a:xfrm>
            <a:off x="457200" y="566928"/>
            <a:ext cx="11247120" cy="594360"/>
          </a:xfrm>
          <a:prstGeom prst="rect">
            <a:avLst/>
          </a:prstGeom>
          <a:noFill/>
          <a:ln/>
        </p:spPr>
        <p:txBody>
          <a:bodyPr wrap="square" lIns="0" tIns="0" rIns="0" bIns="0" rtlCol="0" anchor="ctr"/>
          <a:lstStyle/>
          <a:p>
            <a:pPr indent="0" marL="0">
              <a:buNone/>
            </a:pPr>
            <a:r>
              <a:rPr lang="en-US" sz="3000" b="1" dirty="0">
                <a:solidFill>
                  <a:srgbClr val="0B0B0B"/>
                </a:solidFill>
                <a:latin typeface="Cambria" pitchFamily="34" charset="0"/>
                <a:ea typeface="Cambria" pitchFamily="34" charset="-122"/>
                <a:cs typeface="Cambria" pitchFamily="34" charset="-120"/>
              </a:rPr>
              <a:t>What Actually Caused AI Winter I</a:t>
            </a:r>
            <a:endParaRPr lang="en-US" sz="3000" dirty="0"/>
          </a:p>
        </p:txBody>
      </p:sp>
      <p:pic>
        <p:nvPicPr>
          <p:cNvPr id="4" name="Image 0" descr="/tmp/deck/png/d2-winter1-causes.png">    </p:cNvPr>
          <p:cNvPicPr>
            <a:picLocks noChangeAspect="1"/>
          </p:cNvPicPr>
          <p:nvPr/>
        </p:nvPicPr>
        <p:blipFill>
          <a:blip r:embed="rId1"/>
          <a:stretch>
            <a:fillRect/>
          </a:stretch>
        </p:blipFill>
        <p:spPr>
          <a:xfrm>
            <a:off x="960120" y="1280160"/>
            <a:ext cx="10268712" cy="5303520"/>
          </a:xfrm>
          <a:prstGeom prst="rect">
            <a:avLst/>
          </a:prstGeom>
        </p:spPr>
      </p:pic>
      <p:sp>
        <p:nvSpPr>
          <p:cNvPr id="5" name="Text 2"/>
          <p:cNvSpPr/>
          <p:nvPr/>
        </p:nvSpPr>
        <p:spPr>
          <a:xfrm>
            <a:off x="457200" y="6510528"/>
            <a:ext cx="7315200" cy="274320"/>
          </a:xfrm>
          <a:prstGeom prst="rect">
            <a:avLst/>
          </a:prstGeom>
          <a:noFill/>
          <a:ln/>
        </p:spPr>
        <p:txBody>
          <a:bodyPr wrap="square" lIns="0" tIns="0" rIns="0" bIns="0" rtlCol="0" anchor="ctr"/>
          <a:lstStyle/>
          <a:p>
            <a:pPr algn="l" indent="0" marL="0">
              <a:buNone/>
            </a:pPr>
            <a:r>
              <a:rPr lang="en-US" sz="1000" dirty="0">
                <a:solidFill>
                  <a:srgbClr val="898781"/>
                </a:solidFill>
                <a:latin typeface="Calibri" pitchFamily="34" charset="0"/>
                <a:ea typeface="Calibri" pitchFamily="34" charset="-122"/>
                <a:cs typeface="Calibri" pitchFamily="34" charset="-120"/>
              </a:rPr>
              <a:t>1.1 · Phase 1 — AI &amp; Machine Learning Foundations</a:t>
            </a:r>
            <a:endParaRPr lang="en-US" sz="1000" dirty="0"/>
          </a:p>
        </p:txBody>
      </p:sp>
      <p:sp>
        <p:nvSpPr>
          <p:cNvPr id="6" name="Text 3"/>
          <p:cNvSpPr/>
          <p:nvPr/>
        </p:nvSpPr>
        <p:spPr>
          <a:xfrm>
            <a:off x="11274552" y="6510528"/>
            <a:ext cx="457200" cy="274320"/>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0058400" cy="274320"/>
          </a:xfrm>
          <a:prstGeom prst="rect">
            <a:avLst/>
          </a:prstGeom>
          <a:noFill/>
          <a:ln/>
        </p:spPr>
        <p:txBody>
          <a:bodyPr wrap="square" lIns="0" tIns="0" rIns="0" bIns="0" rtlCol="0" anchor="ctr"/>
          <a:lstStyle/>
          <a:p>
            <a:pPr indent="0" marL="0">
              <a:buNone/>
            </a:pPr>
            <a:r>
              <a:rPr lang="en-US" sz="1200" b="1" spc="100" kern="0" dirty="0">
                <a:solidFill>
                  <a:srgbClr val="2A78D6"/>
                </a:solidFill>
                <a:latin typeface="Calibri" pitchFamily="34" charset="0"/>
                <a:ea typeface="Calibri" pitchFamily="34" charset="-122"/>
                <a:cs typeface="Calibri" pitchFamily="34" charset="-120"/>
              </a:rPr>
              <a:t>DEEP-DIVE</a:t>
            </a:r>
            <a:endParaRPr lang="en-US" sz="1200" dirty="0"/>
          </a:p>
        </p:txBody>
      </p:sp>
      <p:sp>
        <p:nvSpPr>
          <p:cNvPr id="3" name="Text 1"/>
          <p:cNvSpPr/>
          <p:nvPr/>
        </p:nvSpPr>
        <p:spPr>
          <a:xfrm>
            <a:off x="457200" y="566928"/>
            <a:ext cx="11247120" cy="594360"/>
          </a:xfrm>
          <a:prstGeom prst="rect">
            <a:avLst/>
          </a:prstGeom>
          <a:noFill/>
          <a:ln/>
        </p:spPr>
        <p:txBody>
          <a:bodyPr wrap="square" lIns="0" tIns="0" rIns="0" bIns="0" rtlCol="0" anchor="ctr"/>
          <a:lstStyle/>
          <a:p>
            <a:pPr indent="0" marL="0">
              <a:buNone/>
            </a:pPr>
            <a:r>
              <a:rPr lang="en-US" sz="3000" b="1" dirty="0">
                <a:solidFill>
                  <a:srgbClr val="0B0B0B"/>
                </a:solidFill>
                <a:latin typeface="Cambria" pitchFamily="34" charset="0"/>
                <a:ea typeface="Cambria" pitchFamily="34" charset="-122"/>
                <a:cs typeface="Cambria" pitchFamily="34" charset="-120"/>
              </a:rPr>
              <a:t>Expert Systems — and AI Winter II</a:t>
            </a:r>
            <a:endParaRPr lang="en-US" sz="3000" dirty="0"/>
          </a:p>
        </p:txBody>
      </p:sp>
      <p:pic>
        <p:nvPicPr>
          <p:cNvPr id="4" name="Image 0" descr="/tmp/deck/png/d3-expert-systems.png">    </p:cNvPr>
          <p:cNvPicPr>
            <a:picLocks noChangeAspect="1"/>
          </p:cNvPicPr>
          <p:nvPr/>
        </p:nvPicPr>
        <p:blipFill>
          <a:blip r:embed="rId1"/>
          <a:stretch>
            <a:fillRect/>
          </a:stretch>
        </p:blipFill>
        <p:spPr>
          <a:xfrm>
            <a:off x="1275588" y="1280160"/>
            <a:ext cx="9637776" cy="5303520"/>
          </a:xfrm>
          <a:prstGeom prst="rect">
            <a:avLst/>
          </a:prstGeom>
        </p:spPr>
      </p:pic>
      <p:sp>
        <p:nvSpPr>
          <p:cNvPr id="5" name="Text 2"/>
          <p:cNvSpPr/>
          <p:nvPr/>
        </p:nvSpPr>
        <p:spPr>
          <a:xfrm>
            <a:off x="457200" y="6510528"/>
            <a:ext cx="7315200" cy="274320"/>
          </a:xfrm>
          <a:prstGeom prst="rect">
            <a:avLst/>
          </a:prstGeom>
          <a:noFill/>
          <a:ln/>
        </p:spPr>
        <p:txBody>
          <a:bodyPr wrap="square" lIns="0" tIns="0" rIns="0" bIns="0" rtlCol="0" anchor="ctr"/>
          <a:lstStyle/>
          <a:p>
            <a:pPr algn="l" indent="0" marL="0">
              <a:buNone/>
            </a:pPr>
            <a:r>
              <a:rPr lang="en-US" sz="1000" dirty="0">
                <a:solidFill>
                  <a:srgbClr val="898781"/>
                </a:solidFill>
                <a:latin typeface="Calibri" pitchFamily="34" charset="0"/>
                <a:ea typeface="Calibri" pitchFamily="34" charset="-122"/>
                <a:cs typeface="Calibri" pitchFamily="34" charset="-120"/>
              </a:rPr>
              <a:t>1.1 · Phase 1 — AI &amp; Machine Learning Foundations</a:t>
            </a:r>
            <a:endParaRPr lang="en-US" sz="1000" dirty="0"/>
          </a:p>
        </p:txBody>
      </p:sp>
      <p:sp>
        <p:nvSpPr>
          <p:cNvPr id="6" name="Text 3"/>
          <p:cNvSpPr/>
          <p:nvPr/>
        </p:nvSpPr>
        <p:spPr>
          <a:xfrm>
            <a:off x="11274552" y="6510528"/>
            <a:ext cx="457200" cy="274320"/>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0058400" cy="274320"/>
          </a:xfrm>
          <a:prstGeom prst="rect">
            <a:avLst/>
          </a:prstGeom>
          <a:noFill/>
          <a:ln/>
        </p:spPr>
        <p:txBody>
          <a:bodyPr wrap="square" lIns="0" tIns="0" rIns="0" bIns="0" rtlCol="0" anchor="ctr"/>
          <a:lstStyle/>
          <a:p>
            <a:pPr indent="0" marL="0">
              <a:buNone/>
            </a:pPr>
            <a:r>
              <a:rPr lang="en-US" sz="1200" b="1" spc="100" kern="0" dirty="0">
                <a:solidFill>
                  <a:srgbClr val="2A78D6"/>
                </a:solidFill>
                <a:latin typeface="Calibri" pitchFamily="34" charset="0"/>
                <a:ea typeface="Calibri" pitchFamily="34" charset="-122"/>
                <a:cs typeface="Calibri" pitchFamily="34" charset="-120"/>
              </a:rPr>
              <a:t>DEEP-DIVE</a:t>
            </a:r>
            <a:endParaRPr lang="en-US" sz="1200" dirty="0"/>
          </a:p>
        </p:txBody>
      </p:sp>
      <p:sp>
        <p:nvSpPr>
          <p:cNvPr id="3" name="Text 1"/>
          <p:cNvSpPr/>
          <p:nvPr/>
        </p:nvSpPr>
        <p:spPr>
          <a:xfrm>
            <a:off x="457200" y="566928"/>
            <a:ext cx="11247120" cy="594360"/>
          </a:xfrm>
          <a:prstGeom prst="rect">
            <a:avLst/>
          </a:prstGeom>
          <a:noFill/>
          <a:ln/>
        </p:spPr>
        <p:txBody>
          <a:bodyPr wrap="square" lIns="0" tIns="0" rIns="0" bIns="0" rtlCol="0" anchor="ctr"/>
          <a:lstStyle/>
          <a:p>
            <a:pPr indent="0" marL="0">
              <a:buNone/>
            </a:pPr>
            <a:r>
              <a:rPr lang="en-US" sz="3000" b="1" dirty="0">
                <a:solidFill>
                  <a:srgbClr val="0B0B0B"/>
                </a:solidFill>
                <a:latin typeface="Cambria" pitchFamily="34" charset="0"/>
                <a:ea typeface="Cambria" pitchFamily="34" charset="-122"/>
                <a:cs typeface="Cambria" pitchFamily="34" charset="-120"/>
              </a:rPr>
              <a:t>Why Deep Learning “Arrived” in 2012</a:t>
            </a:r>
            <a:endParaRPr lang="en-US" sz="3000" dirty="0"/>
          </a:p>
        </p:txBody>
      </p:sp>
      <p:pic>
        <p:nvPicPr>
          <p:cNvPr id="4" name="Image 0" descr="/tmp/deck/png/d4-deep-learning-ingredients.png">    </p:cNvPr>
          <p:cNvPicPr>
            <a:picLocks noChangeAspect="1"/>
          </p:cNvPicPr>
          <p:nvPr/>
        </p:nvPicPr>
        <p:blipFill>
          <a:blip r:embed="rId1"/>
          <a:stretch>
            <a:fillRect/>
          </a:stretch>
        </p:blipFill>
        <p:spPr>
          <a:xfrm>
            <a:off x="457200" y="1280160"/>
            <a:ext cx="11274552" cy="5261458"/>
          </a:xfrm>
          <a:prstGeom prst="rect">
            <a:avLst/>
          </a:prstGeom>
        </p:spPr>
      </p:pic>
      <p:sp>
        <p:nvSpPr>
          <p:cNvPr id="5" name="Text 2"/>
          <p:cNvSpPr/>
          <p:nvPr/>
        </p:nvSpPr>
        <p:spPr>
          <a:xfrm>
            <a:off x="457200" y="6510528"/>
            <a:ext cx="7315200" cy="274320"/>
          </a:xfrm>
          <a:prstGeom prst="rect">
            <a:avLst/>
          </a:prstGeom>
          <a:noFill/>
          <a:ln/>
        </p:spPr>
        <p:txBody>
          <a:bodyPr wrap="square" lIns="0" tIns="0" rIns="0" bIns="0" rtlCol="0" anchor="ctr"/>
          <a:lstStyle/>
          <a:p>
            <a:pPr algn="l" indent="0" marL="0">
              <a:buNone/>
            </a:pPr>
            <a:r>
              <a:rPr lang="en-US" sz="1000" dirty="0">
                <a:solidFill>
                  <a:srgbClr val="898781"/>
                </a:solidFill>
                <a:latin typeface="Calibri" pitchFamily="34" charset="0"/>
                <a:ea typeface="Calibri" pitchFamily="34" charset="-122"/>
                <a:cs typeface="Calibri" pitchFamily="34" charset="-120"/>
              </a:rPr>
              <a:t>1.1 · Phase 1 — AI &amp; Machine Learning Foundations</a:t>
            </a:r>
            <a:endParaRPr lang="en-US" sz="1000" dirty="0"/>
          </a:p>
        </p:txBody>
      </p:sp>
      <p:sp>
        <p:nvSpPr>
          <p:cNvPr id="6" name="Text 3"/>
          <p:cNvSpPr/>
          <p:nvPr/>
        </p:nvSpPr>
        <p:spPr>
          <a:xfrm>
            <a:off x="11274552" y="6510528"/>
            <a:ext cx="457200" cy="274320"/>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0058400" cy="274320"/>
          </a:xfrm>
          <a:prstGeom prst="rect">
            <a:avLst/>
          </a:prstGeom>
          <a:noFill/>
          <a:ln/>
        </p:spPr>
        <p:txBody>
          <a:bodyPr wrap="square" lIns="0" tIns="0" rIns="0" bIns="0" rtlCol="0" anchor="ctr"/>
          <a:lstStyle/>
          <a:p>
            <a:pPr indent="0" marL="0">
              <a:buNone/>
            </a:pPr>
            <a:r>
              <a:rPr lang="en-US" sz="1200" b="1" spc="100" kern="0" dirty="0">
                <a:solidFill>
                  <a:srgbClr val="2A78D6"/>
                </a:solidFill>
                <a:latin typeface="Calibri" pitchFamily="34" charset="0"/>
                <a:ea typeface="Calibri" pitchFamily="34" charset="-122"/>
                <a:cs typeface="Calibri" pitchFamily="34" charset="-120"/>
              </a:rPr>
              <a:t>DATING CAVEAT</a:t>
            </a:r>
            <a:endParaRPr lang="en-US" sz="1200" dirty="0"/>
          </a:p>
        </p:txBody>
      </p:sp>
      <p:sp>
        <p:nvSpPr>
          <p:cNvPr id="3" name="Text 1"/>
          <p:cNvSpPr/>
          <p:nvPr/>
        </p:nvSpPr>
        <p:spPr>
          <a:xfrm>
            <a:off x="457200" y="566928"/>
            <a:ext cx="11247120" cy="594360"/>
          </a:xfrm>
          <a:prstGeom prst="rect">
            <a:avLst/>
          </a:prstGeom>
          <a:noFill/>
          <a:ln/>
        </p:spPr>
        <p:txBody>
          <a:bodyPr wrap="square" lIns="0" tIns="0" rIns="0" bIns="0" rtlCol="0" anchor="ctr"/>
          <a:lstStyle/>
          <a:p>
            <a:pPr indent="0" marL="0">
              <a:buNone/>
            </a:pPr>
            <a:r>
              <a:rPr lang="en-US" sz="3000" b="1" dirty="0">
                <a:solidFill>
                  <a:srgbClr val="0B0B0B"/>
                </a:solidFill>
                <a:latin typeface="Cambria" pitchFamily="34" charset="0"/>
                <a:ea typeface="Cambria" pitchFamily="34" charset="-122"/>
                <a:cs typeface="Cambria" pitchFamily="34" charset="-120"/>
              </a:rPr>
              <a:t>Generative AI &amp; Agentic AI: Roots vs. Mainstream</a:t>
            </a:r>
            <a:endParaRPr lang="en-US" sz="3000" dirty="0"/>
          </a:p>
        </p:txBody>
      </p:sp>
      <p:pic>
        <p:nvPicPr>
          <p:cNvPr id="4" name="Image 0" descr="/tmp/deck/png/d5-genai-agentic.png">    </p:cNvPr>
          <p:cNvPicPr>
            <a:picLocks noChangeAspect="1"/>
          </p:cNvPicPr>
          <p:nvPr/>
        </p:nvPicPr>
        <p:blipFill>
          <a:blip r:embed="rId1"/>
          <a:stretch>
            <a:fillRect/>
          </a:stretch>
        </p:blipFill>
        <p:spPr>
          <a:xfrm>
            <a:off x="457200" y="1280160"/>
            <a:ext cx="11274552" cy="4885639"/>
          </a:xfrm>
          <a:prstGeom prst="rect">
            <a:avLst/>
          </a:prstGeom>
        </p:spPr>
      </p:pic>
      <p:sp>
        <p:nvSpPr>
          <p:cNvPr id="5" name="Text 2"/>
          <p:cNvSpPr/>
          <p:nvPr/>
        </p:nvSpPr>
        <p:spPr>
          <a:xfrm>
            <a:off x="457200" y="6510528"/>
            <a:ext cx="7315200" cy="274320"/>
          </a:xfrm>
          <a:prstGeom prst="rect">
            <a:avLst/>
          </a:prstGeom>
          <a:noFill/>
          <a:ln/>
        </p:spPr>
        <p:txBody>
          <a:bodyPr wrap="square" lIns="0" tIns="0" rIns="0" bIns="0" rtlCol="0" anchor="ctr"/>
          <a:lstStyle/>
          <a:p>
            <a:pPr algn="l" indent="0" marL="0">
              <a:buNone/>
            </a:pPr>
            <a:r>
              <a:rPr lang="en-US" sz="1000" dirty="0">
                <a:solidFill>
                  <a:srgbClr val="898781"/>
                </a:solidFill>
                <a:latin typeface="Calibri" pitchFamily="34" charset="0"/>
                <a:ea typeface="Calibri" pitchFamily="34" charset="-122"/>
                <a:cs typeface="Calibri" pitchFamily="34" charset="-120"/>
              </a:rPr>
              <a:t>1.1 · Phase 1 — AI &amp; Machine Learning Foundations</a:t>
            </a:r>
            <a:endParaRPr lang="en-US" sz="1000" dirty="0"/>
          </a:p>
        </p:txBody>
      </p:sp>
      <p:sp>
        <p:nvSpPr>
          <p:cNvPr id="6" name="Text 3"/>
          <p:cNvSpPr/>
          <p:nvPr/>
        </p:nvSpPr>
        <p:spPr>
          <a:xfrm>
            <a:off x="11274552" y="6510528"/>
            <a:ext cx="457200" cy="274320"/>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0058400" cy="274320"/>
          </a:xfrm>
          <a:prstGeom prst="rect">
            <a:avLst/>
          </a:prstGeom>
          <a:noFill/>
          <a:ln/>
        </p:spPr>
        <p:txBody>
          <a:bodyPr wrap="square" lIns="0" tIns="0" rIns="0" bIns="0" rtlCol="0" anchor="ctr"/>
          <a:lstStyle/>
          <a:p>
            <a:pPr indent="0" marL="0">
              <a:buNone/>
            </a:pPr>
            <a:r>
              <a:rPr lang="en-US" sz="1200" b="1" spc="100" kern="0" dirty="0">
                <a:solidFill>
                  <a:srgbClr val="2A78D6"/>
                </a:solidFill>
                <a:latin typeface="Calibri" pitchFamily="34" charset="0"/>
                <a:ea typeface="Calibri" pitchFamily="34" charset="-122"/>
                <a:cs typeface="Calibri" pitchFamily="34" charset="-120"/>
              </a:rPr>
              <a:t>NARROW VS. GENERAL</a:t>
            </a:r>
            <a:endParaRPr lang="en-US" sz="1200" dirty="0"/>
          </a:p>
        </p:txBody>
      </p:sp>
      <p:sp>
        <p:nvSpPr>
          <p:cNvPr id="3" name="Text 1"/>
          <p:cNvSpPr/>
          <p:nvPr/>
        </p:nvSpPr>
        <p:spPr>
          <a:xfrm>
            <a:off x="457200" y="566928"/>
            <a:ext cx="11247120" cy="594360"/>
          </a:xfrm>
          <a:prstGeom prst="rect">
            <a:avLst/>
          </a:prstGeom>
          <a:noFill/>
          <a:ln/>
        </p:spPr>
        <p:txBody>
          <a:bodyPr wrap="square" lIns="0" tIns="0" rIns="0" bIns="0" rtlCol="0" anchor="ctr"/>
          <a:lstStyle/>
          <a:p>
            <a:pPr indent="0" marL="0">
              <a:buNone/>
            </a:pPr>
            <a:r>
              <a:rPr lang="en-US" sz="3000" b="1" dirty="0">
                <a:solidFill>
                  <a:srgbClr val="0B0B0B"/>
                </a:solidFill>
                <a:latin typeface="Cambria" pitchFamily="34" charset="0"/>
                <a:ea typeface="Cambria" pitchFamily="34" charset="-122"/>
                <a:cs typeface="Cambria" pitchFamily="34" charset="-120"/>
              </a:rPr>
              <a:t>ANI, AGI, and ASI</a:t>
            </a:r>
            <a:endParaRPr lang="en-US" sz="3000" dirty="0"/>
          </a:p>
        </p:txBody>
      </p:sp>
      <p:pic>
        <p:nvPicPr>
          <p:cNvPr id="4" name="Image 0" descr="/tmp/deck/png/d6-ani-agi-asi.png">    </p:cNvPr>
          <p:cNvPicPr>
            <a:picLocks noChangeAspect="1"/>
          </p:cNvPicPr>
          <p:nvPr/>
        </p:nvPicPr>
        <p:blipFill>
          <a:blip r:embed="rId1"/>
          <a:stretch>
            <a:fillRect/>
          </a:stretch>
        </p:blipFill>
        <p:spPr>
          <a:xfrm>
            <a:off x="457200" y="1280160"/>
            <a:ext cx="11274552" cy="5261458"/>
          </a:xfrm>
          <a:prstGeom prst="rect">
            <a:avLst/>
          </a:prstGeom>
        </p:spPr>
      </p:pic>
      <p:sp>
        <p:nvSpPr>
          <p:cNvPr id="5" name="Text 2"/>
          <p:cNvSpPr/>
          <p:nvPr/>
        </p:nvSpPr>
        <p:spPr>
          <a:xfrm>
            <a:off x="457200" y="6510528"/>
            <a:ext cx="7315200" cy="274320"/>
          </a:xfrm>
          <a:prstGeom prst="rect">
            <a:avLst/>
          </a:prstGeom>
          <a:noFill/>
          <a:ln/>
        </p:spPr>
        <p:txBody>
          <a:bodyPr wrap="square" lIns="0" tIns="0" rIns="0" bIns="0" rtlCol="0" anchor="ctr"/>
          <a:lstStyle/>
          <a:p>
            <a:pPr algn="l" indent="0" marL="0">
              <a:buNone/>
            </a:pPr>
            <a:r>
              <a:rPr lang="en-US" sz="1000" dirty="0">
                <a:solidFill>
                  <a:srgbClr val="898781"/>
                </a:solidFill>
                <a:latin typeface="Calibri" pitchFamily="34" charset="0"/>
                <a:ea typeface="Calibri" pitchFamily="34" charset="-122"/>
                <a:cs typeface="Calibri" pitchFamily="34" charset="-120"/>
              </a:rPr>
              <a:t>1.1 · Phase 1 — AI &amp; Machine Learning Foundations</a:t>
            </a:r>
            <a:endParaRPr lang="en-US" sz="1000" dirty="0"/>
          </a:p>
        </p:txBody>
      </p:sp>
      <p:sp>
        <p:nvSpPr>
          <p:cNvPr id="6" name="Text 3"/>
          <p:cNvSpPr/>
          <p:nvPr/>
        </p:nvSpPr>
        <p:spPr>
          <a:xfrm>
            <a:off x="11274552" y="6510528"/>
            <a:ext cx="457200" cy="274320"/>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0058400" cy="274320"/>
          </a:xfrm>
          <a:prstGeom prst="rect">
            <a:avLst/>
          </a:prstGeom>
          <a:noFill/>
          <a:ln/>
        </p:spPr>
        <p:txBody>
          <a:bodyPr wrap="square" lIns="0" tIns="0" rIns="0" bIns="0" rtlCol="0" anchor="ctr"/>
          <a:lstStyle/>
          <a:p>
            <a:pPr indent="0" marL="0">
              <a:buNone/>
            </a:pPr>
            <a:r>
              <a:rPr lang="en-US" sz="1200" b="1" spc="100" kern="0" dirty="0">
                <a:solidFill>
                  <a:srgbClr val="2A78D6"/>
                </a:solidFill>
                <a:latin typeface="Calibri" pitchFamily="34" charset="0"/>
                <a:ea typeface="Calibri" pitchFamily="34" charset="-122"/>
                <a:cs typeface="Calibri" pitchFamily="34" charset="-120"/>
              </a:rPr>
              <a:t>MECHANISM</a:t>
            </a:r>
            <a:endParaRPr lang="en-US" sz="1200" dirty="0"/>
          </a:p>
        </p:txBody>
      </p:sp>
      <p:sp>
        <p:nvSpPr>
          <p:cNvPr id="3" name="Text 1"/>
          <p:cNvSpPr/>
          <p:nvPr/>
        </p:nvSpPr>
        <p:spPr>
          <a:xfrm>
            <a:off x="457200" y="566928"/>
            <a:ext cx="11247120" cy="594360"/>
          </a:xfrm>
          <a:prstGeom prst="rect">
            <a:avLst/>
          </a:prstGeom>
          <a:noFill/>
          <a:ln/>
        </p:spPr>
        <p:txBody>
          <a:bodyPr wrap="square" lIns="0" tIns="0" rIns="0" bIns="0" rtlCol="0" anchor="ctr"/>
          <a:lstStyle/>
          <a:p>
            <a:pPr indent="0" marL="0">
              <a:buNone/>
            </a:pPr>
            <a:r>
              <a:rPr lang="en-US" sz="3000" b="1" dirty="0">
                <a:solidFill>
                  <a:srgbClr val="0B0B0B"/>
                </a:solidFill>
                <a:latin typeface="Cambria" pitchFamily="34" charset="0"/>
                <a:ea typeface="Cambria" pitchFamily="34" charset="-122"/>
                <a:cs typeface="Cambria" pitchFamily="34" charset="-120"/>
              </a:rPr>
              <a:t>How Narrowness Is Actually Measured</a:t>
            </a:r>
            <a:endParaRPr lang="en-US" sz="3000" dirty="0"/>
          </a:p>
        </p:txBody>
      </p:sp>
      <p:pic>
        <p:nvPicPr>
          <p:cNvPr id="4" name="Image 0" descr="/tmp/deck/png/d7-incontext-vs-weights.png">    </p:cNvPr>
          <p:cNvPicPr>
            <a:picLocks noChangeAspect="1"/>
          </p:cNvPicPr>
          <p:nvPr/>
        </p:nvPicPr>
        <p:blipFill>
          <a:blip r:embed="rId1"/>
          <a:stretch>
            <a:fillRect/>
          </a:stretch>
        </p:blipFill>
        <p:spPr>
          <a:xfrm>
            <a:off x="457200" y="1280160"/>
            <a:ext cx="11274552" cy="4885639"/>
          </a:xfrm>
          <a:prstGeom prst="rect">
            <a:avLst/>
          </a:prstGeom>
        </p:spPr>
      </p:pic>
      <p:sp>
        <p:nvSpPr>
          <p:cNvPr id="5" name="Text 2"/>
          <p:cNvSpPr/>
          <p:nvPr/>
        </p:nvSpPr>
        <p:spPr>
          <a:xfrm>
            <a:off x="457200" y="6510528"/>
            <a:ext cx="7315200" cy="274320"/>
          </a:xfrm>
          <a:prstGeom prst="rect">
            <a:avLst/>
          </a:prstGeom>
          <a:noFill/>
          <a:ln/>
        </p:spPr>
        <p:txBody>
          <a:bodyPr wrap="square" lIns="0" tIns="0" rIns="0" bIns="0" rtlCol="0" anchor="ctr"/>
          <a:lstStyle/>
          <a:p>
            <a:pPr algn="l" indent="0" marL="0">
              <a:buNone/>
            </a:pPr>
            <a:r>
              <a:rPr lang="en-US" sz="1000" dirty="0">
                <a:solidFill>
                  <a:srgbClr val="898781"/>
                </a:solidFill>
                <a:latin typeface="Calibri" pitchFamily="34" charset="0"/>
                <a:ea typeface="Calibri" pitchFamily="34" charset="-122"/>
                <a:cs typeface="Calibri" pitchFamily="34" charset="-120"/>
              </a:rPr>
              <a:t>1.1 · Phase 1 — AI &amp; Machine Learning Foundations</a:t>
            </a:r>
            <a:endParaRPr lang="en-US" sz="1000" dirty="0"/>
          </a:p>
        </p:txBody>
      </p:sp>
      <p:sp>
        <p:nvSpPr>
          <p:cNvPr id="6" name="Text 3"/>
          <p:cNvSpPr/>
          <p:nvPr/>
        </p:nvSpPr>
        <p:spPr>
          <a:xfrm>
            <a:off x="11274552" y="6510528"/>
            <a:ext cx="457200" cy="274320"/>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0058400" cy="274320"/>
          </a:xfrm>
          <a:prstGeom prst="rect">
            <a:avLst/>
          </a:prstGeom>
          <a:noFill/>
          <a:ln/>
        </p:spPr>
        <p:txBody>
          <a:bodyPr wrap="square" lIns="0" tIns="0" rIns="0" bIns="0" rtlCol="0" anchor="ctr"/>
          <a:lstStyle/>
          <a:p>
            <a:pPr indent="0" marL="0">
              <a:buNone/>
            </a:pPr>
            <a:r>
              <a:rPr lang="en-US" sz="1200" b="1" spc="100" kern="0" dirty="0">
                <a:solidFill>
                  <a:srgbClr val="2A78D6"/>
                </a:solidFill>
                <a:latin typeface="Calibri" pitchFamily="34" charset="0"/>
                <a:ea typeface="Calibri" pitchFamily="34" charset="-122"/>
                <a:cs typeface="Calibri" pitchFamily="34" charset="-120"/>
              </a:rPr>
              <a:t>COMPARISON</a:t>
            </a:r>
            <a:endParaRPr lang="en-US" sz="1200" dirty="0"/>
          </a:p>
        </p:txBody>
      </p:sp>
      <p:sp>
        <p:nvSpPr>
          <p:cNvPr id="3" name="Text 1"/>
          <p:cNvSpPr/>
          <p:nvPr/>
        </p:nvSpPr>
        <p:spPr>
          <a:xfrm>
            <a:off x="457200" y="566928"/>
            <a:ext cx="11247120" cy="594360"/>
          </a:xfrm>
          <a:prstGeom prst="rect">
            <a:avLst/>
          </a:prstGeom>
          <a:noFill/>
          <a:ln/>
        </p:spPr>
        <p:txBody>
          <a:bodyPr wrap="square" lIns="0" tIns="0" rIns="0" bIns="0" rtlCol="0" anchor="ctr"/>
          <a:lstStyle/>
          <a:p>
            <a:pPr indent="0" marL="0">
              <a:buNone/>
            </a:pPr>
            <a:r>
              <a:rPr lang="en-US" sz="3000" b="1" dirty="0">
                <a:solidFill>
                  <a:srgbClr val="0B0B0B"/>
                </a:solidFill>
                <a:latin typeface="Cambria" pitchFamily="34" charset="0"/>
                <a:ea typeface="Cambria" pitchFamily="34" charset="-122"/>
                <a:cs typeface="Cambria" pitchFamily="34" charset="-120"/>
              </a:rPr>
              <a:t>AI vs. ML vs. Deep Learning vs. Generative AI</a:t>
            </a:r>
            <a:endParaRPr lang="en-US" sz="3000" dirty="0"/>
          </a:p>
        </p:txBody>
      </p:sp>
      <p:pic>
        <p:nvPicPr>
          <p:cNvPr id="4" name="Image 0" descr="/tmp/deck/png/d8-nested-taxonomy.png">    </p:cNvPr>
          <p:cNvPicPr>
            <a:picLocks noChangeAspect="1"/>
          </p:cNvPicPr>
          <p:nvPr/>
        </p:nvPicPr>
        <p:blipFill>
          <a:blip r:embed="rId1"/>
          <a:stretch>
            <a:fillRect/>
          </a:stretch>
        </p:blipFill>
        <p:spPr>
          <a:xfrm>
            <a:off x="960120" y="1280160"/>
            <a:ext cx="10268712" cy="5303520"/>
          </a:xfrm>
          <a:prstGeom prst="rect">
            <a:avLst/>
          </a:prstGeom>
        </p:spPr>
      </p:pic>
      <p:sp>
        <p:nvSpPr>
          <p:cNvPr id="5" name="Text 2"/>
          <p:cNvSpPr/>
          <p:nvPr/>
        </p:nvSpPr>
        <p:spPr>
          <a:xfrm>
            <a:off x="457200" y="6510528"/>
            <a:ext cx="7315200" cy="274320"/>
          </a:xfrm>
          <a:prstGeom prst="rect">
            <a:avLst/>
          </a:prstGeom>
          <a:noFill/>
          <a:ln/>
        </p:spPr>
        <p:txBody>
          <a:bodyPr wrap="square" lIns="0" tIns="0" rIns="0" bIns="0" rtlCol="0" anchor="ctr"/>
          <a:lstStyle/>
          <a:p>
            <a:pPr algn="l" indent="0" marL="0">
              <a:buNone/>
            </a:pPr>
            <a:r>
              <a:rPr lang="en-US" sz="1000" dirty="0">
                <a:solidFill>
                  <a:srgbClr val="898781"/>
                </a:solidFill>
                <a:latin typeface="Calibri" pitchFamily="34" charset="0"/>
                <a:ea typeface="Calibri" pitchFamily="34" charset="-122"/>
                <a:cs typeface="Calibri" pitchFamily="34" charset="-120"/>
              </a:rPr>
              <a:t>1.1 · Phase 1 — AI &amp; Machine Learning Foundations</a:t>
            </a:r>
            <a:endParaRPr lang="en-US" sz="1000" dirty="0"/>
          </a:p>
        </p:txBody>
      </p:sp>
      <p:sp>
        <p:nvSpPr>
          <p:cNvPr id="6" name="Text 3"/>
          <p:cNvSpPr/>
          <p:nvPr/>
        </p:nvSpPr>
        <p:spPr>
          <a:xfrm>
            <a:off x="11274552" y="6510528"/>
            <a:ext cx="457200" cy="274320"/>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0058400" cy="274320"/>
          </a:xfrm>
          <a:prstGeom prst="rect">
            <a:avLst/>
          </a:prstGeom>
          <a:noFill/>
          <a:ln/>
        </p:spPr>
        <p:txBody>
          <a:bodyPr wrap="square" lIns="0" tIns="0" rIns="0" bIns="0" rtlCol="0" anchor="ctr"/>
          <a:lstStyle/>
          <a:p>
            <a:pPr indent="0" marL="0">
              <a:buNone/>
            </a:pPr>
            <a:r>
              <a:rPr lang="en-US" sz="1200" b="1" spc="100" kern="0" dirty="0">
                <a:solidFill>
                  <a:srgbClr val="2A78D6"/>
                </a:solidFill>
                <a:latin typeface="Calibri" pitchFamily="34" charset="0"/>
                <a:ea typeface="Calibri" pitchFamily="34" charset="-122"/>
                <a:cs typeface="Calibri" pitchFamily="34" charset="-120"/>
              </a:rPr>
              <a:t>FAILURE MODE TO WATCH FOR</a:t>
            </a:r>
            <a:endParaRPr lang="en-US" sz="1200" dirty="0"/>
          </a:p>
        </p:txBody>
      </p:sp>
      <p:sp>
        <p:nvSpPr>
          <p:cNvPr id="3" name="Text 1"/>
          <p:cNvSpPr/>
          <p:nvPr/>
        </p:nvSpPr>
        <p:spPr>
          <a:xfrm>
            <a:off x="457200" y="566928"/>
            <a:ext cx="11247120" cy="594360"/>
          </a:xfrm>
          <a:prstGeom prst="rect">
            <a:avLst/>
          </a:prstGeom>
          <a:noFill/>
          <a:ln/>
        </p:spPr>
        <p:txBody>
          <a:bodyPr wrap="square" lIns="0" tIns="0" rIns="0" bIns="0" rtlCol="0" anchor="ctr"/>
          <a:lstStyle/>
          <a:p>
            <a:pPr indent="0" marL="0">
              <a:buNone/>
            </a:pPr>
            <a:r>
              <a:rPr lang="en-US" sz="3000" b="1" dirty="0">
                <a:solidFill>
                  <a:srgbClr val="0B0B0B"/>
                </a:solidFill>
                <a:latin typeface="Cambria" pitchFamily="34" charset="0"/>
                <a:ea typeface="Cambria" pitchFamily="34" charset="-122"/>
                <a:cs typeface="Cambria" pitchFamily="34" charset="-120"/>
              </a:rPr>
              <a:t>Fluency Is Not the Same as Competence</a:t>
            </a:r>
            <a:endParaRPr lang="en-US" sz="3000" dirty="0"/>
          </a:p>
        </p:txBody>
      </p:sp>
      <p:pic>
        <p:nvPicPr>
          <p:cNvPr id="4" name="Image 0" descr="/tmp/deck/png/d9-fluency-vs-generality.png">    </p:cNvPr>
          <p:cNvPicPr>
            <a:picLocks noChangeAspect="1"/>
          </p:cNvPicPr>
          <p:nvPr/>
        </p:nvPicPr>
        <p:blipFill>
          <a:blip r:embed="rId1"/>
          <a:stretch>
            <a:fillRect/>
          </a:stretch>
        </p:blipFill>
        <p:spPr>
          <a:xfrm>
            <a:off x="457200" y="1280160"/>
            <a:ext cx="11274552" cy="4509821"/>
          </a:xfrm>
          <a:prstGeom prst="rect">
            <a:avLst/>
          </a:prstGeom>
        </p:spPr>
      </p:pic>
      <p:sp>
        <p:nvSpPr>
          <p:cNvPr id="5" name="Text 2"/>
          <p:cNvSpPr/>
          <p:nvPr/>
        </p:nvSpPr>
        <p:spPr>
          <a:xfrm>
            <a:off x="457200" y="6510528"/>
            <a:ext cx="7315200" cy="274320"/>
          </a:xfrm>
          <a:prstGeom prst="rect">
            <a:avLst/>
          </a:prstGeom>
          <a:noFill/>
          <a:ln/>
        </p:spPr>
        <p:txBody>
          <a:bodyPr wrap="square" lIns="0" tIns="0" rIns="0" bIns="0" rtlCol="0" anchor="ctr"/>
          <a:lstStyle/>
          <a:p>
            <a:pPr algn="l" indent="0" marL="0">
              <a:buNone/>
            </a:pPr>
            <a:r>
              <a:rPr lang="en-US" sz="1000" dirty="0">
                <a:solidFill>
                  <a:srgbClr val="898781"/>
                </a:solidFill>
                <a:latin typeface="Calibri" pitchFamily="34" charset="0"/>
                <a:ea typeface="Calibri" pitchFamily="34" charset="-122"/>
                <a:cs typeface="Calibri" pitchFamily="34" charset="-120"/>
              </a:rPr>
              <a:t>1.1 · Phase 1 — AI &amp; Machine Learning Foundations</a:t>
            </a:r>
            <a:endParaRPr lang="en-US" sz="1000" dirty="0"/>
          </a:p>
        </p:txBody>
      </p:sp>
      <p:sp>
        <p:nvSpPr>
          <p:cNvPr id="6" name="Text 3"/>
          <p:cNvSpPr/>
          <p:nvPr/>
        </p:nvSpPr>
        <p:spPr>
          <a:xfrm>
            <a:off x="11274552" y="6510528"/>
            <a:ext cx="457200" cy="274320"/>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0058400" cy="274320"/>
          </a:xfrm>
          <a:prstGeom prst="rect">
            <a:avLst/>
          </a:prstGeom>
          <a:noFill/>
          <a:ln/>
        </p:spPr>
        <p:txBody>
          <a:bodyPr wrap="square" lIns="0" tIns="0" rIns="0" bIns="0" rtlCol="0" anchor="ctr"/>
          <a:lstStyle/>
          <a:p>
            <a:pPr indent="0" marL="0">
              <a:buNone/>
            </a:pPr>
            <a:r>
              <a:rPr lang="en-US" sz="1200" b="1" spc="100" kern="0" dirty="0">
                <a:solidFill>
                  <a:srgbClr val="2A78D6"/>
                </a:solidFill>
                <a:latin typeface="Calibri" pitchFamily="34" charset="0"/>
                <a:ea typeface="Calibri" pitchFamily="34" charset="-122"/>
                <a:cs typeface="Calibri" pitchFamily="34" charset="-120"/>
              </a:rPr>
              <a:t>INDUSTRY USE CASES · 1 OF 3</a:t>
            </a:r>
            <a:endParaRPr lang="en-US" sz="1200" dirty="0"/>
          </a:p>
        </p:txBody>
      </p:sp>
      <p:sp>
        <p:nvSpPr>
          <p:cNvPr id="3" name="Text 1"/>
          <p:cNvSpPr/>
          <p:nvPr/>
        </p:nvSpPr>
        <p:spPr>
          <a:xfrm>
            <a:off x="457200" y="566928"/>
            <a:ext cx="11247120" cy="594360"/>
          </a:xfrm>
          <a:prstGeom prst="rect">
            <a:avLst/>
          </a:prstGeom>
          <a:noFill/>
          <a:ln/>
        </p:spPr>
        <p:txBody>
          <a:bodyPr wrap="square" lIns="0" tIns="0" rIns="0" bIns="0" rtlCol="0" anchor="ctr"/>
          <a:lstStyle/>
          <a:p>
            <a:pPr indent="0" marL="0">
              <a:buNone/>
            </a:pPr>
            <a:r>
              <a:rPr lang="en-US" sz="3000" b="1" dirty="0">
                <a:solidFill>
                  <a:srgbClr val="0B0B0B"/>
                </a:solidFill>
                <a:latin typeface="Cambria" pitchFamily="34" charset="0"/>
                <a:ea typeface="Cambria" pitchFamily="34" charset="-122"/>
                <a:cs typeface="Cambria" pitchFamily="34" charset="-120"/>
              </a:rPr>
              <a:t>Finance</a:t>
            </a:r>
            <a:endParaRPr lang="en-US" sz="3000" dirty="0"/>
          </a:p>
        </p:txBody>
      </p:sp>
      <p:pic>
        <p:nvPicPr>
          <p:cNvPr id="4" name="Image 0" descr="/tmp/deck/png/d10-usecases-finance.png">    </p:cNvPr>
          <p:cNvPicPr>
            <a:picLocks noChangeAspect="1"/>
          </p:cNvPicPr>
          <p:nvPr/>
        </p:nvPicPr>
        <p:blipFill>
          <a:blip r:embed="rId1"/>
          <a:stretch>
            <a:fillRect/>
          </a:stretch>
        </p:blipFill>
        <p:spPr>
          <a:xfrm>
            <a:off x="457200" y="1280160"/>
            <a:ext cx="11274552" cy="4509821"/>
          </a:xfrm>
          <a:prstGeom prst="rect">
            <a:avLst/>
          </a:prstGeom>
        </p:spPr>
      </p:pic>
      <p:sp>
        <p:nvSpPr>
          <p:cNvPr id="5" name="Text 2"/>
          <p:cNvSpPr/>
          <p:nvPr/>
        </p:nvSpPr>
        <p:spPr>
          <a:xfrm>
            <a:off x="457200" y="6510528"/>
            <a:ext cx="7315200" cy="274320"/>
          </a:xfrm>
          <a:prstGeom prst="rect">
            <a:avLst/>
          </a:prstGeom>
          <a:noFill/>
          <a:ln/>
        </p:spPr>
        <p:txBody>
          <a:bodyPr wrap="square" lIns="0" tIns="0" rIns="0" bIns="0" rtlCol="0" anchor="ctr"/>
          <a:lstStyle/>
          <a:p>
            <a:pPr algn="l" indent="0" marL="0">
              <a:buNone/>
            </a:pPr>
            <a:r>
              <a:rPr lang="en-US" sz="1000" dirty="0">
                <a:solidFill>
                  <a:srgbClr val="898781"/>
                </a:solidFill>
                <a:latin typeface="Calibri" pitchFamily="34" charset="0"/>
                <a:ea typeface="Calibri" pitchFamily="34" charset="-122"/>
                <a:cs typeface="Calibri" pitchFamily="34" charset="-120"/>
              </a:rPr>
              <a:t>1.1 · Phase 1 — AI &amp; Machine Learning Foundations</a:t>
            </a:r>
            <a:endParaRPr lang="en-US" sz="1000" dirty="0"/>
          </a:p>
        </p:txBody>
      </p:sp>
      <p:sp>
        <p:nvSpPr>
          <p:cNvPr id="6" name="Text 3"/>
          <p:cNvSpPr/>
          <p:nvPr/>
        </p:nvSpPr>
        <p:spPr>
          <a:xfrm>
            <a:off x="11274552" y="6510528"/>
            <a:ext cx="457200" cy="274320"/>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0058400" cy="274320"/>
          </a:xfrm>
          <a:prstGeom prst="rect">
            <a:avLst/>
          </a:prstGeom>
          <a:noFill/>
          <a:ln/>
        </p:spPr>
        <p:txBody>
          <a:bodyPr wrap="square" lIns="0" tIns="0" rIns="0" bIns="0" rtlCol="0" anchor="ctr"/>
          <a:lstStyle/>
          <a:p>
            <a:pPr indent="0" marL="0">
              <a:buNone/>
            </a:pPr>
            <a:r>
              <a:rPr lang="en-US" sz="1200" b="1" spc="100" kern="0" dirty="0">
                <a:solidFill>
                  <a:srgbClr val="2A78D6"/>
                </a:solidFill>
                <a:latin typeface="Calibri" pitchFamily="34" charset="0"/>
                <a:ea typeface="Calibri" pitchFamily="34" charset="-122"/>
                <a:cs typeface="Calibri" pitchFamily="34" charset="-120"/>
              </a:rPr>
              <a:t>INDUSTRY USE CASES · 2 OF 3</a:t>
            </a:r>
            <a:endParaRPr lang="en-US" sz="1200" dirty="0"/>
          </a:p>
        </p:txBody>
      </p:sp>
      <p:sp>
        <p:nvSpPr>
          <p:cNvPr id="3" name="Text 1"/>
          <p:cNvSpPr/>
          <p:nvPr/>
        </p:nvSpPr>
        <p:spPr>
          <a:xfrm>
            <a:off x="457200" y="566928"/>
            <a:ext cx="11247120" cy="594360"/>
          </a:xfrm>
          <a:prstGeom prst="rect">
            <a:avLst/>
          </a:prstGeom>
          <a:noFill/>
          <a:ln/>
        </p:spPr>
        <p:txBody>
          <a:bodyPr wrap="square" lIns="0" tIns="0" rIns="0" bIns="0" rtlCol="0" anchor="ctr"/>
          <a:lstStyle/>
          <a:p>
            <a:pPr indent="0" marL="0">
              <a:buNone/>
            </a:pPr>
            <a:r>
              <a:rPr lang="en-US" sz="3000" b="1" dirty="0">
                <a:solidFill>
                  <a:srgbClr val="0B0B0B"/>
                </a:solidFill>
                <a:latin typeface="Cambria" pitchFamily="34" charset="0"/>
                <a:ea typeface="Cambria" pitchFamily="34" charset="-122"/>
                <a:cs typeface="Cambria" pitchFamily="34" charset="-120"/>
              </a:rPr>
              <a:t>Healthcare</a:t>
            </a:r>
            <a:endParaRPr lang="en-US" sz="3000" dirty="0"/>
          </a:p>
        </p:txBody>
      </p:sp>
      <p:pic>
        <p:nvPicPr>
          <p:cNvPr id="4" name="Image 0" descr="/tmp/deck/png/d11-usecases-healthcare.png">    </p:cNvPr>
          <p:cNvPicPr>
            <a:picLocks noChangeAspect="1"/>
          </p:cNvPicPr>
          <p:nvPr/>
        </p:nvPicPr>
        <p:blipFill>
          <a:blip r:embed="rId1"/>
          <a:stretch>
            <a:fillRect/>
          </a:stretch>
        </p:blipFill>
        <p:spPr>
          <a:xfrm>
            <a:off x="457200" y="1280160"/>
            <a:ext cx="11274552" cy="4509821"/>
          </a:xfrm>
          <a:prstGeom prst="rect">
            <a:avLst/>
          </a:prstGeom>
        </p:spPr>
      </p:pic>
      <p:sp>
        <p:nvSpPr>
          <p:cNvPr id="5" name="Text 2"/>
          <p:cNvSpPr/>
          <p:nvPr/>
        </p:nvSpPr>
        <p:spPr>
          <a:xfrm>
            <a:off x="457200" y="6510528"/>
            <a:ext cx="7315200" cy="274320"/>
          </a:xfrm>
          <a:prstGeom prst="rect">
            <a:avLst/>
          </a:prstGeom>
          <a:noFill/>
          <a:ln/>
        </p:spPr>
        <p:txBody>
          <a:bodyPr wrap="square" lIns="0" tIns="0" rIns="0" bIns="0" rtlCol="0" anchor="ctr"/>
          <a:lstStyle/>
          <a:p>
            <a:pPr algn="l" indent="0" marL="0">
              <a:buNone/>
            </a:pPr>
            <a:r>
              <a:rPr lang="en-US" sz="1000" dirty="0">
                <a:solidFill>
                  <a:srgbClr val="898781"/>
                </a:solidFill>
                <a:latin typeface="Calibri" pitchFamily="34" charset="0"/>
                <a:ea typeface="Calibri" pitchFamily="34" charset="-122"/>
                <a:cs typeface="Calibri" pitchFamily="34" charset="-120"/>
              </a:rPr>
              <a:t>1.1 · Phase 1 — AI &amp; Machine Learning Foundations</a:t>
            </a:r>
            <a:endParaRPr lang="en-US" sz="1000" dirty="0"/>
          </a:p>
        </p:txBody>
      </p:sp>
      <p:sp>
        <p:nvSpPr>
          <p:cNvPr id="6" name="Text 3"/>
          <p:cNvSpPr/>
          <p:nvPr/>
        </p:nvSpPr>
        <p:spPr>
          <a:xfrm>
            <a:off x="11274552" y="6510528"/>
            <a:ext cx="457200" cy="274320"/>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0058400" cy="274320"/>
          </a:xfrm>
          <a:prstGeom prst="rect">
            <a:avLst/>
          </a:prstGeom>
          <a:noFill/>
          <a:ln/>
        </p:spPr>
        <p:txBody>
          <a:bodyPr wrap="square" lIns="0" tIns="0" rIns="0" bIns="0" rtlCol="0" anchor="ctr"/>
          <a:lstStyle/>
          <a:p>
            <a:pPr indent="0" marL="0">
              <a:buNone/>
            </a:pPr>
            <a:r>
              <a:rPr lang="en-US" sz="1200" b="1" spc="100" kern="0" dirty="0">
                <a:solidFill>
                  <a:srgbClr val="2A78D6"/>
                </a:solidFill>
                <a:latin typeface="Calibri" pitchFamily="34" charset="0"/>
                <a:ea typeface="Calibri" pitchFamily="34" charset="-122"/>
                <a:cs typeface="Calibri" pitchFamily="34" charset="-120"/>
              </a:rPr>
              <a:t>INDUSTRY USE CASES · 3 OF 3</a:t>
            </a:r>
            <a:endParaRPr lang="en-US" sz="1200" dirty="0"/>
          </a:p>
        </p:txBody>
      </p:sp>
      <p:sp>
        <p:nvSpPr>
          <p:cNvPr id="3" name="Text 1"/>
          <p:cNvSpPr/>
          <p:nvPr/>
        </p:nvSpPr>
        <p:spPr>
          <a:xfrm>
            <a:off x="457200" y="566928"/>
            <a:ext cx="11247120" cy="594360"/>
          </a:xfrm>
          <a:prstGeom prst="rect">
            <a:avLst/>
          </a:prstGeom>
          <a:noFill/>
          <a:ln/>
        </p:spPr>
        <p:txBody>
          <a:bodyPr wrap="square" lIns="0" tIns="0" rIns="0" bIns="0" rtlCol="0" anchor="ctr"/>
          <a:lstStyle/>
          <a:p>
            <a:pPr indent="0" marL="0">
              <a:buNone/>
            </a:pPr>
            <a:r>
              <a:rPr lang="en-US" sz="3000" b="1" dirty="0">
                <a:solidFill>
                  <a:srgbClr val="0B0B0B"/>
                </a:solidFill>
                <a:latin typeface="Cambria" pitchFamily="34" charset="0"/>
                <a:ea typeface="Cambria" pitchFamily="34" charset="-122"/>
                <a:cs typeface="Cambria" pitchFamily="34" charset="-120"/>
              </a:rPr>
              <a:t>Telecom</a:t>
            </a:r>
            <a:endParaRPr lang="en-US" sz="3000" dirty="0"/>
          </a:p>
        </p:txBody>
      </p:sp>
      <p:pic>
        <p:nvPicPr>
          <p:cNvPr id="4" name="Image 0" descr="/tmp/deck/png/d12-usecases-telecom.png">    </p:cNvPr>
          <p:cNvPicPr>
            <a:picLocks noChangeAspect="1"/>
          </p:cNvPicPr>
          <p:nvPr/>
        </p:nvPicPr>
        <p:blipFill>
          <a:blip r:embed="rId1"/>
          <a:stretch>
            <a:fillRect/>
          </a:stretch>
        </p:blipFill>
        <p:spPr>
          <a:xfrm>
            <a:off x="457200" y="1280160"/>
            <a:ext cx="11274552" cy="4509821"/>
          </a:xfrm>
          <a:prstGeom prst="rect">
            <a:avLst/>
          </a:prstGeom>
        </p:spPr>
      </p:pic>
      <p:sp>
        <p:nvSpPr>
          <p:cNvPr id="5" name="Text 2"/>
          <p:cNvSpPr/>
          <p:nvPr/>
        </p:nvSpPr>
        <p:spPr>
          <a:xfrm>
            <a:off x="457200" y="6510528"/>
            <a:ext cx="7315200" cy="274320"/>
          </a:xfrm>
          <a:prstGeom prst="rect">
            <a:avLst/>
          </a:prstGeom>
          <a:noFill/>
          <a:ln/>
        </p:spPr>
        <p:txBody>
          <a:bodyPr wrap="square" lIns="0" tIns="0" rIns="0" bIns="0" rtlCol="0" anchor="ctr"/>
          <a:lstStyle/>
          <a:p>
            <a:pPr algn="l" indent="0" marL="0">
              <a:buNone/>
            </a:pPr>
            <a:r>
              <a:rPr lang="en-US" sz="1000" dirty="0">
                <a:solidFill>
                  <a:srgbClr val="898781"/>
                </a:solidFill>
                <a:latin typeface="Calibri" pitchFamily="34" charset="0"/>
                <a:ea typeface="Calibri" pitchFamily="34" charset="-122"/>
                <a:cs typeface="Calibri" pitchFamily="34" charset="-120"/>
              </a:rPr>
              <a:t>1.1 · Phase 1 — AI &amp; Machine Learning Foundations</a:t>
            </a:r>
            <a:endParaRPr lang="en-US" sz="1000" dirty="0"/>
          </a:p>
        </p:txBody>
      </p:sp>
      <p:sp>
        <p:nvSpPr>
          <p:cNvPr id="6" name="Text 3"/>
          <p:cNvSpPr/>
          <p:nvPr/>
        </p:nvSpPr>
        <p:spPr>
          <a:xfrm>
            <a:off x="11274552" y="6510528"/>
            <a:ext cx="457200" cy="274320"/>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16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0058400" cy="274320"/>
          </a:xfrm>
          <a:prstGeom prst="rect">
            <a:avLst/>
          </a:prstGeom>
          <a:noFill/>
          <a:ln/>
        </p:spPr>
        <p:txBody>
          <a:bodyPr wrap="square" lIns="0" tIns="0" rIns="0" bIns="0" rtlCol="0" anchor="ctr"/>
          <a:lstStyle/>
          <a:p>
            <a:pPr indent="0" marL="0">
              <a:buNone/>
            </a:pPr>
            <a:r>
              <a:rPr lang="en-US" sz="1200" b="1" spc="100" kern="0" dirty="0">
                <a:solidFill>
                  <a:srgbClr val="2A78D6"/>
                </a:solidFill>
                <a:latin typeface="Calibri" pitchFamily="34" charset="0"/>
                <a:ea typeface="Calibri" pitchFamily="34" charset="-122"/>
                <a:cs typeface="Calibri" pitchFamily="34" charset="-120"/>
              </a:rPr>
              <a:t>DISCUSS AS A CLASS</a:t>
            </a:r>
            <a:endParaRPr lang="en-US" sz="1200" dirty="0"/>
          </a:p>
        </p:txBody>
      </p:sp>
      <p:sp>
        <p:nvSpPr>
          <p:cNvPr id="3" name="Text 1"/>
          <p:cNvSpPr/>
          <p:nvPr/>
        </p:nvSpPr>
        <p:spPr>
          <a:xfrm>
            <a:off x="457200" y="566928"/>
            <a:ext cx="11247120" cy="594360"/>
          </a:xfrm>
          <a:prstGeom prst="rect">
            <a:avLst/>
          </a:prstGeom>
          <a:noFill/>
          <a:ln/>
        </p:spPr>
        <p:txBody>
          <a:bodyPr wrap="square" lIns="0" tIns="0" rIns="0" bIns="0" rtlCol="0" anchor="ctr"/>
          <a:lstStyle/>
          <a:p>
            <a:pPr indent="0" marL="0">
              <a:buNone/>
            </a:pPr>
            <a:r>
              <a:rPr lang="en-US" sz="3000" b="1" dirty="0">
                <a:solidFill>
                  <a:srgbClr val="0B0B0B"/>
                </a:solidFill>
                <a:latin typeface="Cambria" pitchFamily="34" charset="0"/>
                <a:ea typeface="Cambria" pitchFamily="34" charset="-122"/>
                <a:cs typeface="Cambria" pitchFamily="34" charset="-120"/>
              </a:rPr>
              <a:t>Check Your Understanding</a:t>
            </a:r>
            <a:endParaRPr lang="en-US" sz="3000" dirty="0"/>
          </a:p>
        </p:txBody>
      </p:sp>
      <p:sp>
        <p:nvSpPr>
          <p:cNvPr id="4" name="Shape 2"/>
          <p:cNvSpPr/>
          <p:nvPr/>
        </p:nvSpPr>
        <p:spPr>
          <a:xfrm>
            <a:off x="457200" y="1508760"/>
            <a:ext cx="5486400" cy="1188720"/>
          </a:xfrm>
          <a:prstGeom prst="roundRect">
            <a:avLst>
              <a:gd name="adj" fmla="val 7692"/>
            </a:avLst>
          </a:prstGeom>
          <a:solidFill>
            <a:srgbClr val="F9F9F7"/>
          </a:solidFill>
          <a:ln w="12700">
            <a:solidFill>
              <a:srgbClr val="E1E0D9"/>
            </a:solidFill>
            <a:prstDash val="solid"/>
          </a:ln>
        </p:spPr>
      </p:sp>
      <p:sp>
        <p:nvSpPr>
          <p:cNvPr id="5" name="Shape 3"/>
          <p:cNvSpPr/>
          <p:nvPr/>
        </p:nvSpPr>
        <p:spPr>
          <a:xfrm>
            <a:off x="658368" y="1709928"/>
            <a:ext cx="384048" cy="384048"/>
          </a:xfrm>
          <a:prstGeom prst="ellipse">
            <a:avLst/>
          </a:prstGeom>
          <a:solidFill>
            <a:srgbClr val="2A78D6"/>
          </a:solidFill>
          <a:ln/>
        </p:spPr>
      </p:sp>
      <p:sp>
        <p:nvSpPr>
          <p:cNvPr id="6" name="Text 4"/>
          <p:cNvSpPr/>
          <p:nvPr/>
        </p:nvSpPr>
        <p:spPr>
          <a:xfrm>
            <a:off x="658368" y="1709928"/>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Q1</a:t>
            </a:r>
            <a:endParaRPr lang="en-US" sz="1100" dirty="0"/>
          </a:p>
        </p:txBody>
      </p:sp>
      <p:sp>
        <p:nvSpPr>
          <p:cNvPr id="7" name="Text 5"/>
          <p:cNvSpPr/>
          <p:nvPr/>
        </p:nvSpPr>
        <p:spPr>
          <a:xfrm>
            <a:off x="1188720" y="1645920"/>
            <a:ext cx="4526280" cy="914400"/>
          </a:xfrm>
          <a:prstGeom prst="rect">
            <a:avLst/>
          </a:prstGeom>
          <a:noFill/>
          <a:ln/>
        </p:spPr>
        <p:txBody>
          <a:bodyPr wrap="square" lIns="0" tIns="0" rIns="0" bIns="0" rtlCol="0" anchor="ctr"/>
          <a:lstStyle/>
          <a:p>
            <a:pPr indent="0" marL="0">
              <a:lnSpc>
                <a:spcPts val="1700"/>
              </a:lnSpc>
              <a:buNone/>
            </a:pPr>
            <a:r>
              <a:rPr lang="en-US" sz="1350" dirty="0">
                <a:solidFill>
                  <a:srgbClr val="0B0B0B"/>
                </a:solidFill>
                <a:latin typeface="Calibri" pitchFamily="34" charset="0"/>
                <a:ea typeface="Calibri" pitchFamily="34" charset="-122"/>
                <a:cs typeface="Calibri" pitchFamily="34" charset="-120"/>
              </a:rPr>
              <a:t>What triggered the first AI winter, and what ended it?</a:t>
            </a:r>
            <a:endParaRPr lang="en-US" sz="1350" dirty="0"/>
          </a:p>
        </p:txBody>
      </p:sp>
      <p:sp>
        <p:nvSpPr>
          <p:cNvPr id="8" name="Shape 6"/>
          <p:cNvSpPr/>
          <p:nvPr/>
        </p:nvSpPr>
        <p:spPr>
          <a:xfrm>
            <a:off x="6126480" y="1508760"/>
            <a:ext cx="5486400" cy="1188720"/>
          </a:xfrm>
          <a:prstGeom prst="roundRect">
            <a:avLst>
              <a:gd name="adj" fmla="val 7692"/>
            </a:avLst>
          </a:prstGeom>
          <a:solidFill>
            <a:srgbClr val="F9F9F7"/>
          </a:solidFill>
          <a:ln w="12700">
            <a:solidFill>
              <a:srgbClr val="E1E0D9"/>
            </a:solidFill>
            <a:prstDash val="solid"/>
          </a:ln>
        </p:spPr>
      </p:sp>
      <p:sp>
        <p:nvSpPr>
          <p:cNvPr id="9" name="Shape 7"/>
          <p:cNvSpPr/>
          <p:nvPr/>
        </p:nvSpPr>
        <p:spPr>
          <a:xfrm>
            <a:off x="6327648" y="1709928"/>
            <a:ext cx="384048" cy="384048"/>
          </a:xfrm>
          <a:prstGeom prst="ellipse">
            <a:avLst/>
          </a:prstGeom>
          <a:solidFill>
            <a:srgbClr val="2A78D6"/>
          </a:solidFill>
          <a:ln/>
        </p:spPr>
      </p:sp>
      <p:sp>
        <p:nvSpPr>
          <p:cNvPr id="10" name="Text 8"/>
          <p:cNvSpPr/>
          <p:nvPr/>
        </p:nvSpPr>
        <p:spPr>
          <a:xfrm>
            <a:off x="6327648" y="1709928"/>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Q2</a:t>
            </a:r>
            <a:endParaRPr lang="en-US" sz="1100" dirty="0"/>
          </a:p>
        </p:txBody>
      </p:sp>
      <p:sp>
        <p:nvSpPr>
          <p:cNvPr id="11" name="Text 9"/>
          <p:cNvSpPr/>
          <p:nvPr/>
        </p:nvSpPr>
        <p:spPr>
          <a:xfrm>
            <a:off x="6858000" y="1645920"/>
            <a:ext cx="4526280" cy="914400"/>
          </a:xfrm>
          <a:prstGeom prst="rect">
            <a:avLst/>
          </a:prstGeom>
          <a:noFill/>
          <a:ln/>
        </p:spPr>
        <p:txBody>
          <a:bodyPr wrap="square" lIns="0" tIns="0" rIns="0" bIns="0" rtlCol="0" anchor="ctr"/>
          <a:lstStyle/>
          <a:p>
            <a:pPr indent="0" marL="0">
              <a:lnSpc>
                <a:spcPts val="1700"/>
              </a:lnSpc>
              <a:buNone/>
            </a:pPr>
            <a:r>
              <a:rPr lang="en-US" sz="1350" dirty="0">
                <a:solidFill>
                  <a:srgbClr val="0B0B0B"/>
                </a:solidFill>
                <a:latin typeface="Calibri" pitchFamily="34" charset="0"/>
                <a:ea typeface="Calibri" pitchFamily="34" charset="-122"/>
                <a:cs typeface="Calibri" pitchFamily="34" charset="-120"/>
              </a:rPr>
              <a:t>What is the difference between narrow AI and AGI?</a:t>
            </a:r>
            <a:endParaRPr lang="en-US" sz="1350" dirty="0"/>
          </a:p>
        </p:txBody>
      </p:sp>
      <p:sp>
        <p:nvSpPr>
          <p:cNvPr id="12" name="Shape 10"/>
          <p:cNvSpPr/>
          <p:nvPr/>
        </p:nvSpPr>
        <p:spPr>
          <a:xfrm>
            <a:off x="457200" y="2834640"/>
            <a:ext cx="5486400" cy="1188720"/>
          </a:xfrm>
          <a:prstGeom prst="roundRect">
            <a:avLst>
              <a:gd name="adj" fmla="val 7692"/>
            </a:avLst>
          </a:prstGeom>
          <a:solidFill>
            <a:srgbClr val="F9F9F7"/>
          </a:solidFill>
          <a:ln w="12700">
            <a:solidFill>
              <a:srgbClr val="E1E0D9"/>
            </a:solidFill>
            <a:prstDash val="solid"/>
          </a:ln>
        </p:spPr>
      </p:sp>
      <p:sp>
        <p:nvSpPr>
          <p:cNvPr id="13" name="Shape 11"/>
          <p:cNvSpPr/>
          <p:nvPr/>
        </p:nvSpPr>
        <p:spPr>
          <a:xfrm>
            <a:off x="658368" y="3035808"/>
            <a:ext cx="384048" cy="384048"/>
          </a:xfrm>
          <a:prstGeom prst="ellipse">
            <a:avLst/>
          </a:prstGeom>
          <a:solidFill>
            <a:srgbClr val="2A78D6"/>
          </a:solidFill>
          <a:ln/>
        </p:spPr>
      </p:sp>
      <p:sp>
        <p:nvSpPr>
          <p:cNvPr id="14" name="Text 12"/>
          <p:cNvSpPr/>
          <p:nvPr/>
        </p:nvSpPr>
        <p:spPr>
          <a:xfrm>
            <a:off x="658368" y="3035808"/>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Q3</a:t>
            </a:r>
            <a:endParaRPr lang="en-US" sz="1100" dirty="0"/>
          </a:p>
        </p:txBody>
      </p:sp>
      <p:sp>
        <p:nvSpPr>
          <p:cNvPr id="15" name="Text 13"/>
          <p:cNvSpPr/>
          <p:nvPr/>
        </p:nvSpPr>
        <p:spPr>
          <a:xfrm>
            <a:off x="1188720" y="2971800"/>
            <a:ext cx="4526280" cy="914400"/>
          </a:xfrm>
          <a:prstGeom prst="rect">
            <a:avLst/>
          </a:prstGeom>
          <a:noFill/>
          <a:ln/>
        </p:spPr>
        <p:txBody>
          <a:bodyPr wrap="square" lIns="0" tIns="0" rIns="0" bIns="0" rtlCol="0" anchor="ctr"/>
          <a:lstStyle/>
          <a:p>
            <a:pPr indent="0" marL="0">
              <a:lnSpc>
                <a:spcPts val="1700"/>
              </a:lnSpc>
              <a:buNone/>
            </a:pPr>
            <a:r>
              <a:rPr lang="en-US" sz="1350" dirty="0">
                <a:solidFill>
                  <a:srgbClr val="0B0B0B"/>
                </a:solidFill>
                <a:latin typeface="Calibri" pitchFamily="34" charset="0"/>
                <a:ea typeface="Calibri" pitchFamily="34" charset="-122"/>
                <a:cs typeface="Calibri" pitchFamily="34" charset="-120"/>
              </a:rPr>
              <a:t>Backprop was popularized in 1986. Why did deep learning only take off in 2012?</a:t>
            </a:r>
            <a:endParaRPr lang="en-US" sz="1350" dirty="0"/>
          </a:p>
        </p:txBody>
      </p:sp>
      <p:sp>
        <p:nvSpPr>
          <p:cNvPr id="16" name="Shape 14"/>
          <p:cNvSpPr/>
          <p:nvPr/>
        </p:nvSpPr>
        <p:spPr>
          <a:xfrm>
            <a:off x="6126480" y="2834640"/>
            <a:ext cx="5486400" cy="1188720"/>
          </a:xfrm>
          <a:prstGeom prst="roundRect">
            <a:avLst>
              <a:gd name="adj" fmla="val 7692"/>
            </a:avLst>
          </a:prstGeom>
          <a:solidFill>
            <a:srgbClr val="F9F9F7"/>
          </a:solidFill>
          <a:ln w="12700">
            <a:solidFill>
              <a:srgbClr val="E1E0D9"/>
            </a:solidFill>
            <a:prstDash val="solid"/>
          </a:ln>
        </p:spPr>
      </p:sp>
      <p:sp>
        <p:nvSpPr>
          <p:cNvPr id="17" name="Shape 15"/>
          <p:cNvSpPr/>
          <p:nvPr/>
        </p:nvSpPr>
        <p:spPr>
          <a:xfrm>
            <a:off x="6327648" y="3035808"/>
            <a:ext cx="384048" cy="384048"/>
          </a:xfrm>
          <a:prstGeom prst="ellipse">
            <a:avLst/>
          </a:prstGeom>
          <a:solidFill>
            <a:srgbClr val="2A78D6"/>
          </a:solidFill>
          <a:ln/>
        </p:spPr>
      </p:sp>
      <p:sp>
        <p:nvSpPr>
          <p:cNvPr id="18" name="Text 16"/>
          <p:cNvSpPr/>
          <p:nvPr/>
        </p:nvSpPr>
        <p:spPr>
          <a:xfrm>
            <a:off x="6327648" y="3035808"/>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Q4</a:t>
            </a:r>
            <a:endParaRPr lang="en-US" sz="1100" dirty="0"/>
          </a:p>
        </p:txBody>
      </p:sp>
      <p:sp>
        <p:nvSpPr>
          <p:cNvPr id="19" name="Text 17"/>
          <p:cNvSpPr/>
          <p:nvPr/>
        </p:nvSpPr>
        <p:spPr>
          <a:xfrm>
            <a:off x="6858000" y="2971800"/>
            <a:ext cx="4526280" cy="914400"/>
          </a:xfrm>
          <a:prstGeom prst="rect">
            <a:avLst/>
          </a:prstGeom>
          <a:noFill/>
          <a:ln/>
        </p:spPr>
        <p:txBody>
          <a:bodyPr wrap="square" lIns="0" tIns="0" rIns="0" bIns="0" rtlCol="0" anchor="ctr"/>
          <a:lstStyle/>
          <a:p>
            <a:pPr indent="0" marL="0">
              <a:lnSpc>
                <a:spcPts val="1700"/>
              </a:lnSpc>
              <a:buNone/>
            </a:pPr>
            <a:r>
              <a:rPr lang="en-US" sz="1350" dirty="0">
                <a:solidFill>
                  <a:srgbClr val="0B0B0B"/>
                </a:solidFill>
                <a:latin typeface="Calibri" pitchFamily="34" charset="0"/>
                <a:ea typeface="Calibri" pitchFamily="34" charset="-122"/>
                <a:cs typeface="Calibri" pitchFamily="34" charset="-120"/>
              </a:rPr>
              <a:t>Why does the definition of “AI” keep shifting over time?</a:t>
            </a:r>
            <a:endParaRPr lang="en-US" sz="1350" dirty="0"/>
          </a:p>
        </p:txBody>
      </p:sp>
      <p:sp>
        <p:nvSpPr>
          <p:cNvPr id="20" name="Shape 18"/>
          <p:cNvSpPr/>
          <p:nvPr/>
        </p:nvSpPr>
        <p:spPr>
          <a:xfrm>
            <a:off x="457200" y="4160520"/>
            <a:ext cx="11274552" cy="1188720"/>
          </a:xfrm>
          <a:prstGeom prst="roundRect">
            <a:avLst>
              <a:gd name="adj" fmla="val 7692"/>
            </a:avLst>
          </a:prstGeom>
          <a:solidFill>
            <a:srgbClr val="F9F9F7"/>
          </a:solidFill>
          <a:ln w="12700">
            <a:solidFill>
              <a:srgbClr val="E1E0D9"/>
            </a:solidFill>
            <a:prstDash val="solid"/>
          </a:ln>
        </p:spPr>
      </p:sp>
      <p:sp>
        <p:nvSpPr>
          <p:cNvPr id="21" name="Shape 19"/>
          <p:cNvSpPr/>
          <p:nvPr/>
        </p:nvSpPr>
        <p:spPr>
          <a:xfrm>
            <a:off x="658368" y="4361688"/>
            <a:ext cx="384048" cy="384048"/>
          </a:xfrm>
          <a:prstGeom prst="ellipse">
            <a:avLst/>
          </a:prstGeom>
          <a:solidFill>
            <a:srgbClr val="2A78D6"/>
          </a:solidFill>
          <a:ln/>
        </p:spPr>
      </p:sp>
      <p:sp>
        <p:nvSpPr>
          <p:cNvPr id="22" name="Text 20"/>
          <p:cNvSpPr/>
          <p:nvPr/>
        </p:nvSpPr>
        <p:spPr>
          <a:xfrm>
            <a:off x="658368" y="4361688"/>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Q5</a:t>
            </a:r>
            <a:endParaRPr lang="en-US" sz="1100" dirty="0"/>
          </a:p>
        </p:txBody>
      </p:sp>
      <p:sp>
        <p:nvSpPr>
          <p:cNvPr id="23" name="Text 21"/>
          <p:cNvSpPr/>
          <p:nvPr/>
        </p:nvSpPr>
        <p:spPr>
          <a:xfrm>
            <a:off x="1188720" y="4297680"/>
            <a:ext cx="10314432" cy="914400"/>
          </a:xfrm>
          <a:prstGeom prst="rect">
            <a:avLst/>
          </a:prstGeom>
          <a:noFill/>
          <a:ln/>
        </p:spPr>
        <p:txBody>
          <a:bodyPr wrap="square" lIns="0" tIns="0" rIns="0" bIns="0" rtlCol="0" anchor="ctr"/>
          <a:lstStyle/>
          <a:p>
            <a:pPr indent="0" marL="0">
              <a:lnSpc>
                <a:spcPts val="1700"/>
              </a:lnSpc>
              <a:buNone/>
            </a:pPr>
            <a:r>
              <a:rPr lang="en-US" sz="1350" dirty="0">
                <a:solidFill>
                  <a:srgbClr val="0B0B0B"/>
                </a:solidFill>
                <a:latin typeface="Calibri" pitchFamily="34" charset="0"/>
                <a:ea typeface="Calibri" pitchFamily="34" charset="-122"/>
                <a:cs typeface="Calibri" pitchFamily="34" charset="-120"/>
              </a:rPr>
              <a:t>A vendor claims their chatbot has “achieved AGI.” What should you check first?</a:t>
            </a:r>
            <a:endParaRPr lang="en-US" sz="1350" dirty="0"/>
          </a:p>
        </p:txBody>
      </p:sp>
      <p:sp>
        <p:nvSpPr>
          <p:cNvPr id="24" name="Text 22"/>
          <p:cNvSpPr/>
          <p:nvPr/>
        </p:nvSpPr>
        <p:spPr>
          <a:xfrm>
            <a:off x="457200" y="5623560"/>
            <a:ext cx="11274552" cy="320040"/>
          </a:xfrm>
          <a:prstGeom prst="rect">
            <a:avLst/>
          </a:prstGeom>
          <a:noFill/>
          <a:ln/>
        </p:spPr>
        <p:txBody>
          <a:bodyPr wrap="square" lIns="0" tIns="0" rIns="0" bIns="0" rtlCol="0" anchor="ctr"/>
          <a:lstStyle/>
          <a:p>
            <a:pPr indent="0" marL="0">
              <a:buNone/>
            </a:pPr>
            <a:r>
              <a:rPr lang="en-US" sz="1200" i="1" dirty="0">
                <a:solidFill>
                  <a:srgbClr val="898781"/>
                </a:solidFill>
                <a:latin typeface="Calibri" pitchFamily="34" charset="0"/>
                <a:ea typeface="Calibri" pitchFamily="34" charset="-122"/>
                <a:cs typeface="Calibri" pitchFamily="34" charset="-120"/>
              </a:rPr>
              <a:t>Answers are in the speaker notes for this slide.</a:t>
            </a:r>
            <a:endParaRPr lang="en-US" sz="1200" dirty="0"/>
          </a:p>
        </p:txBody>
      </p:sp>
      <p:sp>
        <p:nvSpPr>
          <p:cNvPr id="26" name="Text 23"/>
          <p:cNvSpPr/>
          <p:nvPr/>
        </p:nvSpPr>
        <p:spPr>
          <a:xfrm>
            <a:off x="457200" y="6510528"/>
            <a:ext cx="7315200" cy="274320"/>
          </a:xfrm>
          <a:prstGeom prst="rect">
            <a:avLst/>
          </a:prstGeom>
          <a:noFill/>
          <a:ln/>
        </p:spPr>
        <p:txBody>
          <a:bodyPr wrap="square" lIns="0" tIns="0" rIns="0" bIns="0" rtlCol="0" anchor="ctr"/>
          <a:lstStyle/>
          <a:p>
            <a:pPr algn="l" indent="0" marL="0">
              <a:buNone/>
            </a:pPr>
            <a:r>
              <a:rPr lang="en-US" sz="1000" dirty="0">
                <a:solidFill>
                  <a:srgbClr val="898781"/>
                </a:solidFill>
                <a:latin typeface="Calibri" pitchFamily="34" charset="0"/>
                <a:ea typeface="Calibri" pitchFamily="34" charset="-122"/>
                <a:cs typeface="Calibri" pitchFamily="34" charset="-120"/>
              </a:rPr>
              <a:t>1.1 · Phase 1 — AI &amp; Machine Learning Foundations</a:t>
            </a:r>
            <a:endParaRPr lang="en-US" sz="1000" dirty="0"/>
          </a:p>
        </p:txBody>
      </p:sp>
      <p:sp>
        <p:nvSpPr>
          <p:cNvPr id="27" name="Text 24"/>
          <p:cNvSpPr/>
          <p:nvPr/>
        </p:nvSpPr>
        <p:spPr>
          <a:xfrm>
            <a:off x="11274552" y="6510528"/>
            <a:ext cx="457200" cy="274320"/>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17</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A1F35"/>
        </a:solidFill>
      </p:bgPr>
    </p:bg>
    <p:spTree>
      <p:nvGrpSpPr>
        <p:cNvPr id="1" name=""/>
        <p:cNvGrpSpPr/>
        <p:nvPr/>
      </p:nvGrpSpPr>
      <p:grpSpPr>
        <a:xfrm>
          <a:off x="0" y="0"/>
          <a:ext cx="0" cy="0"/>
          <a:chOff x="0" y="0"/>
          <a:chExt cx="0" cy="0"/>
        </a:xfrm>
      </p:grpSpPr>
      <p:pic>
        <p:nvPicPr>
          <p:cNvPr id="2" name="Image 0" descr="/tmp/deck/png/d0-title-motif.png">    </p:cNvPr>
          <p:cNvPicPr>
            <a:picLocks noChangeAspect="1"/>
          </p:cNvPicPr>
          <p:nvPr/>
        </p:nvPicPr>
        <p:blipFill>
          <a:blip r:embed="rId1">
            <a:alphaModFix amt="85000"/>
          </a:blip>
          <a:stretch>
            <a:fillRect/>
          </a:stretch>
        </p:blipFill>
        <p:spPr>
          <a:xfrm>
            <a:off x="8595360" y="2103120"/>
            <a:ext cx="3840480" cy="3840480"/>
          </a:xfrm>
          <a:prstGeom prst="rect">
            <a:avLst/>
          </a:prstGeom>
        </p:spPr>
      </p:pic>
      <p:sp>
        <p:nvSpPr>
          <p:cNvPr id="3" name="Text 0"/>
          <p:cNvSpPr/>
          <p:nvPr/>
        </p:nvSpPr>
        <p:spPr>
          <a:xfrm>
            <a:off x="548640" y="457200"/>
            <a:ext cx="7315200" cy="274320"/>
          </a:xfrm>
          <a:prstGeom prst="rect">
            <a:avLst/>
          </a:prstGeom>
          <a:noFill/>
          <a:ln/>
        </p:spPr>
        <p:txBody>
          <a:bodyPr wrap="square" lIns="0" tIns="0" rIns="0" bIns="0" rtlCol="0" anchor="ctr"/>
          <a:lstStyle/>
          <a:p>
            <a:pPr indent="0" marL="0">
              <a:buNone/>
            </a:pPr>
            <a:r>
              <a:rPr lang="en-US" sz="1200" b="1" spc="120" kern="0" dirty="0">
                <a:solidFill>
                  <a:srgbClr val="86B6EF"/>
                </a:solidFill>
                <a:latin typeface="Calibri" pitchFamily="34" charset="0"/>
                <a:ea typeface="Calibri" pitchFamily="34" charset="-122"/>
                <a:cs typeface="Calibri" pitchFamily="34" charset="-120"/>
              </a:rPr>
              <a:t>SUMMARY</a:t>
            </a:r>
            <a:endParaRPr lang="en-US" sz="1200" dirty="0"/>
          </a:p>
        </p:txBody>
      </p:sp>
      <p:sp>
        <p:nvSpPr>
          <p:cNvPr id="4" name="Text 1"/>
          <p:cNvSpPr/>
          <p:nvPr/>
        </p:nvSpPr>
        <p:spPr>
          <a:xfrm>
            <a:off x="548640" y="731520"/>
            <a:ext cx="8229600" cy="64008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Key Takeaways</a:t>
            </a:r>
            <a:endParaRPr lang="en-US" sz="3200" dirty="0"/>
          </a:p>
        </p:txBody>
      </p:sp>
      <p:sp>
        <p:nvSpPr>
          <p:cNvPr id="5" name="Shape 2"/>
          <p:cNvSpPr/>
          <p:nvPr/>
        </p:nvSpPr>
        <p:spPr>
          <a:xfrm>
            <a:off x="548640" y="1719072"/>
            <a:ext cx="292608" cy="292608"/>
          </a:xfrm>
          <a:prstGeom prst="ellipse">
            <a:avLst/>
          </a:prstGeom>
          <a:solidFill>
            <a:srgbClr val="2A78D6"/>
          </a:solidFill>
          <a:ln/>
        </p:spPr>
      </p:sp>
      <p:sp>
        <p:nvSpPr>
          <p:cNvPr id="6" name="Text 3"/>
          <p:cNvSpPr/>
          <p:nvPr/>
        </p:nvSpPr>
        <p:spPr>
          <a:xfrm>
            <a:off x="548640" y="1719072"/>
            <a:ext cx="292608" cy="29260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7" name="Text 4"/>
          <p:cNvSpPr/>
          <p:nvPr/>
        </p:nvSpPr>
        <p:spPr>
          <a:xfrm>
            <a:off x="1005840" y="1691640"/>
            <a:ext cx="7315200" cy="777240"/>
          </a:xfrm>
          <a:prstGeom prst="rect">
            <a:avLst/>
          </a:prstGeom>
          <a:noFill/>
          <a:ln/>
        </p:spPr>
        <p:txBody>
          <a:bodyPr wrap="square" lIns="0" tIns="0" rIns="0" bIns="0" rtlCol="0" anchor="ctr"/>
          <a:lstStyle/>
          <a:p>
            <a:pPr indent="0" marL="0">
              <a:lnSpc>
                <a:spcPts val="1900"/>
              </a:lnSpc>
              <a:buNone/>
            </a:pPr>
            <a:r>
              <a:rPr lang="en-US" sz="1500" dirty="0">
                <a:solidFill>
                  <a:srgbClr val="CDE2FB"/>
                </a:solidFill>
                <a:latin typeface="Calibri" pitchFamily="34" charset="0"/>
                <a:ea typeface="Calibri" pitchFamily="34" charset="-122"/>
                <a:cs typeface="Calibri" pitchFamily="34" charset="-120"/>
              </a:rPr>
              <a:t>“AI” is a moving label — solved tasks quietly become “just software” (the AI effect).</a:t>
            </a:r>
            <a:endParaRPr lang="en-US" sz="1500" dirty="0"/>
          </a:p>
        </p:txBody>
      </p:sp>
      <p:sp>
        <p:nvSpPr>
          <p:cNvPr id="8" name="Shape 5"/>
          <p:cNvSpPr/>
          <p:nvPr/>
        </p:nvSpPr>
        <p:spPr>
          <a:xfrm>
            <a:off x="548640" y="2587752"/>
            <a:ext cx="292608" cy="292608"/>
          </a:xfrm>
          <a:prstGeom prst="ellipse">
            <a:avLst/>
          </a:prstGeom>
          <a:solidFill>
            <a:srgbClr val="2A78D6"/>
          </a:solidFill>
          <a:ln/>
        </p:spPr>
      </p:sp>
      <p:sp>
        <p:nvSpPr>
          <p:cNvPr id="9" name="Text 6"/>
          <p:cNvSpPr/>
          <p:nvPr/>
        </p:nvSpPr>
        <p:spPr>
          <a:xfrm>
            <a:off x="548640" y="2587752"/>
            <a:ext cx="292608" cy="29260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10" name="Text 7"/>
          <p:cNvSpPr/>
          <p:nvPr/>
        </p:nvSpPr>
        <p:spPr>
          <a:xfrm>
            <a:off x="1005840" y="2560320"/>
            <a:ext cx="7315200" cy="777240"/>
          </a:xfrm>
          <a:prstGeom prst="rect">
            <a:avLst/>
          </a:prstGeom>
          <a:noFill/>
          <a:ln/>
        </p:spPr>
        <p:txBody>
          <a:bodyPr wrap="square" lIns="0" tIns="0" rIns="0" bIns="0" rtlCol="0" anchor="ctr"/>
          <a:lstStyle/>
          <a:p>
            <a:pPr indent="0" marL="0">
              <a:lnSpc>
                <a:spcPts val="1900"/>
              </a:lnSpc>
              <a:buNone/>
            </a:pPr>
            <a:r>
              <a:rPr lang="en-US" sz="1500" dirty="0">
                <a:solidFill>
                  <a:srgbClr val="CDE2FB"/>
                </a:solidFill>
                <a:latin typeface="Calibri" pitchFamily="34" charset="0"/>
                <a:ea typeface="Calibri" pitchFamily="34" charset="-122"/>
                <a:cs typeface="Calibri" pitchFamily="34" charset="-120"/>
              </a:rPr>
              <a:t>Two AI winters happened when ambition outran the era's compute and data, not because the ideas were wrong.</a:t>
            </a:r>
            <a:endParaRPr lang="en-US" sz="1500" dirty="0"/>
          </a:p>
        </p:txBody>
      </p:sp>
      <p:sp>
        <p:nvSpPr>
          <p:cNvPr id="11" name="Shape 8"/>
          <p:cNvSpPr/>
          <p:nvPr/>
        </p:nvSpPr>
        <p:spPr>
          <a:xfrm>
            <a:off x="548640" y="3456432"/>
            <a:ext cx="292608" cy="292608"/>
          </a:xfrm>
          <a:prstGeom prst="ellipse">
            <a:avLst/>
          </a:prstGeom>
          <a:solidFill>
            <a:srgbClr val="2A78D6"/>
          </a:solidFill>
          <a:ln/>
        </p:spPr>
      </p:sp>
      <p:sp>
        <p:nvSpPr>
          <p:cNvPr id="12" name="Text 9"/>
          <p:cNvSpPr/>
          <p:nvPr/>
        </p:nvSpPr>
        <p:spPr>
          <a:xfrm>
            <a:off x="548640" y="3456432"/>
            <a:ext cx="292608" cy="29260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13" name="Text 10"/>
          <p:cNvSpPr/>
          <p:nvPr/>
        </p:nvSpPr>
        <p:spPr>
          <a:xfrm>
            <a:off x="1005840" y="3429000"/>
            <a:ext cx="7315200" cy="777240"/>
          </a:xfrm>
          <a:prstGeom prst="rect">
            <a:avLst/>
          </a:prstGeom>
          <a:noFill/>
          <a:ln/>
        </p:spPr>
        <p:txBody>
          <a:bodyPr wrap="square" lIns="0" tIns="0" rIns="0" bIns="0" rtlCol="0" anchor="ctr"/>
          <a:lstStyle/>
          <a:p>
            <a:pPr indent="0" marL="0">
              <a:lnSpc>
                <a:spcPts val="1900"/>
              </a:lnSpc>
              <a:buNone/>
            </a:pPr>
            <a:r>
              <a:rPr lang="en-US" sz="1500" dirty="0">
                <a:solidFill>
                  <a:srgbClr val="CDE2FB"/>
                </a:solidFill>
                <a:latin typeface="Calibri" pitchFamily="34" charset="0"/>
                <a:ea typeface="Calibri" pitchFamily="34" charset="-122"/>
                <a:cs typeface="Calibri" pitchFamily="34" charset="-120"/>
              </a:rPr>
              <a:t>Every system built so far, including today's LLM agents, is narrow — competence doesn't transfer across unrelated tasks.</a:t>
            </a:r>
            <a:endParaRPr lang="en-US" sz="1500" dirty="0"/>
          </a:p>
        </p:txBody>
      </p:sp>
      <p:sp>
        <p:nvSpPr>
          <p:cNvPr id="14" name="Shape 11"/>
          <p:cNvSpPr/>
          <p:nvPr/>
        </p:nvSpPr>
        <p:spPr>
          <a:xfrm>
            <a:off x="548640" y="4325112"/>
            <a:ext cx="292608" cy="292608"/>
          </a:xfrm>
          <a:prstGeom prst="ellipse">
            <a:avLst/>
          </a:prstGeom>
          <a:solidFill>
            <a:srgbClr val="2A78D6"/>
          </a:solidFill>
          <a:ln/>
        </p:spPr>
      </p:sp>
      <p:sp>
        <p:nvSpPr>
          <p:cNvPr id="15" name="Text 12"/>
          <p:cNvSpPr/>
          <p:nvPr/>
        </p:nvSpPr>
        <p:spPr>
          <a:xfrm>
            <a:off x="548640" y="4325112"/>
            <a:ext cx="292608" cy="29260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16" name="Text 13"/>
          <p:cNvSpPr/>
          <p:nvPr/>
        </p:nvSpPr>
        <p:spPr>
          <a:xfrm>
            <a:off x="1005840" y="4297680"/>
            <a:ext cx="7315200" cy="777240"/>
          </a:xfrm>
          <a:prstGeom prst="rect">
            <a:avLst/>
          </a:prstGeom>
          <a:noFill/>
          <a:ln/>
        </p:spPr>
        <p:txBody>
          <a:bodyPr wrap="square" lIns="0" tIns="0" rIns="0" bIns="0" rtlCol="0" anchor="ctr"/>
          <a:lstStyle/>
          <a:p>
            <a:pPr indent="0" marL="0">
              <a:lnSpc>
                <a:spcPts val="1900"/>
              </a:lnSpc>
              <a:buNone/>
            </a:pPr>
            <a:r>
              <a:rPr lang="en-US" sz="1500" dirty="0">
                <a:solidFill>
                  <a:srgbClr val="CDE2FB"/>
                </a:solidFill>
                <a:latin typeface="Calibri" pitchFamily="34" charset="0"/>
                <a:ea typeface="Calibri" pitchFamily="34" charset="-122"/>
                <a:cs typeface="Calibri" pitchFamily="34" charset="-120"/>
              </a:rPr>
              <a:t>AI, ML, Deep Learning, and Generative AI are nested specializations, not rival technologies.</a:t>
            </a:r>
            <a:endParaRPr lang="en-US" sz="1500" dirty="0"/>
          </a:p>
        </p:txBody>
      </p:sp>
      <p:sp>
        <p:nvSpPr>
          <p:cNvPr id="17" name="Shape 14"/>
          <p:cNvSpPr/>
          <p:nvPr/>
        </p:nvSpPr>
        <p:spPr>
          <a:xfrm>
            <a:off x="548640" y="5193792"/>
            <a:ext cx="292608" cy="292608"/>
          </a:xfrm>
          <a:prstGeom prst="ellipse">
            <a:avLst/>
          </a:prstGeom>
          <a:solidFill>
            <a:srgbClr val="2A78D6"/>
          </a:solidFill>
          <a:ln/>
        </p:spPr>
      </p:sp>
      <p:sp>
        <p:nvSpPr>
          <p:cNvPr id="18" name="Text 15"/>
          <p:cNvSpPr/>
          <p:nvPr/>
        </p:nvSpPr>
        <p:spPr>
          <a:xfrm>
            <a:off x="548640" y="5193792"/>
            <a:ext cx="292608" cy="29260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19" name="Text 16"/>
          <p:cNvSpPr/>
          <p:nvPr/>
        </p:nvSpPr>
        <p:spPr>
          <a:xfrm>
            <a:off x="1005840" y="5166360"/>
            <a:ext cx="7315200" cy="777240"/>
          </a:xfrm>
          <a:prstGeom prst="rect">
            <a:avLst/>
          </a:prstGeom>
          <a:noFill/>
          <a:ln/>
        </p:spPr>
        <p:txBody>
          <a:bodyPr wrap="square" lIns="0" tIns="0" rIns="0" bIns="0" rtlCol="0" anchor="ctr"/>
          <a:lstStyle/>
          <a:p>
            <a:pPr indent="0" marL="0">
              <a:lnSpc>
                <a:spcPts val="1900"/>
              </a:lnSpc>
              <a:buNone/>
            </a:pPr>
            <a:r>
              <a:rPr lang="en-US" sz="1500" dirty="0">
                <a:solidFill>
                  <a:srgbClr val="CDE2FB"/>
                </a:solidFill>
                <a:latin typeface="Calibri" pitchFamily="34" charset="0"/>
                <a:ea typeface="Calibri" pitchFamily="34" charset="-122"/>
                <a:cs typeface="Calibri" pitchFamily="34" charset="-120"/>
              </a:rPr>
              <a:t>Fluency is not competence — conflating the two is the seed of hallucination and over-trust.</a:t>
            </a:r>
            <a:endParaRPr lang="en-US" sz="1500" dirty="0"/>
          </a:p>
        </p:txBody>
      </p:sp>
      <p:sp>
        <p:nvSpPr>
          <p:cNvPr id="20" name="Text 17"/>
          <p:cNvSpPr/>
          <p:nvPr/>
        </p:nvSpPr>
        <p:spPr>
          <a:xfrm>
            <a:off x="457200" y="6510528"/>
            <a:ext cx="7315200" cy="274320"/>
          </a:xfrm>
          <a:prstGeom prst="rect">
            <a:avLst/>
          </a:prstGeom>
          <a:noFill/>
          <a:ln/>
        </p:spPr>
        <p:txBody>
          <a:bodyPr wrap="square" lIns="0" tIns="0" rIns="0" bIns="0" rtlCol="0" anchor="ctr"/>
          <a:lstStyle/>
          <a:p>
            <a:pPr algn="l" indent="0" marL="0">
              <a:buNone/>
            </a:pPr>
            <a:r>
              <a:rPr lang="en-US" sz="1000" dirty="0">
                <a:solidFill>
                  <a:srgbClr val="898781"/>
                </a:solidFill>
                <a:latin typeface="Calibri" pitchFamily="34" charset="0"/>
                <a:ea typeface="Calibri" pitchFamily="34" charset="-122"/>
                <a:cs typeface="Calibri" pitchFamily="34" charset="-120"/>
              </a:rPr>
              <a:t>1.1 · Phase 1 — AI &amp; Machine Learning Foundations</a:t>
            </a:r>
            <a:endParaRPr lang="en-US" sz="1000" dirty="0"/>
          </a:p>
        </p:txBody>
      </p:sp>
      <p:sp>
        <p:nvSpPr>
          <p:cNvPr id="21" name="Text 18"/>
          <p:cNvSpPr/>
          <p:nvPr/>
        </p:nvSpPr>
        <p:spPr>
          <a:xfrm>
            <a:off x="11274552" y="6510528"/>
            <a:ext cx="457200" cy="274320"/>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18</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0058400" cy="274320"/>
          </a:xfrm>
          <a:prstGeom prst="rect">
            <a:avLst/>
          </a:prstGeom>
          <a:noFill/>
          <a:ln/>
        </p:spPr>
        <p:txBody>
          <a:bodyPr wrap="square" lIns="0" tIns="0" rIns="0" bIns="0" rtlCol="0" anchor="ctr"/>
          <a:lstStyle/>
          <a:p>
            <a:pPr indent="0" marL="0">
              <a:buNone/>
            </a:pPr>
            <a:r>
              <a:rPr lang="en-US" sz="1200" b="1" spc="100" kern="0" dirty="0">
                <a:solidFill>
                  <a:srgbClr val="2A78D6"/>
                </a:solidFill>
                <a:latin typeface="Calibri" pitchFamily="34" charset="0"/>
                <a:ea typeface="Calibri" pitchFamily="34" charset="-122"/>
                <a:cs typeface="Calibri" pitchFamily="34" charset="-120"/>
              </a:rPr>
              <a:t>FURTHER READING</a:t>
            </a:r>
            <a:endParaRPr lang="en-US" sz="1200" dirty="0"/>
          </a:p>
        </p:txBody>
      </p:sp>
      <p:sp>
        <p:nvSpPr>
          <p:cNvPr id="3" name="Text 1"/>
          <p:cNvSpPr/>
          <p:nvPr/>
        </p:nvSpPr>
        <p:spPr>
          <a:xfrm>
            <a:off x="457200" y="566928"/>
            <a:ext cx="11247120" cy="594360"/>
          </a:xfrm>
          <a:prstGeom prst="rect">
            <a:avLst/>
          </a:prstGeom>
          <a:noFill/>
          <a:ln/>
        </p:spPr>
        <p:txBody>
          <a:bodyPr wrap="square" lIns="0" tIns="0" rIns="0" bIns="0" rtlCol="0" anchor="ctr"/>
          <a:lstStyle/>
          <a:p>
            <a:pPr indent="0" marL="0">
              <a:buNone/>
            </a:pPr>
            <a:r>
              <a:rPr lang="en-US" sz="3000" b="1" dirty="0">
                <a:solidFill>
                  <a:srgbClr val="0B0B0B"/>
                </a:solidFill>
                <a:latin typeface="Cambria" pitchFamily="34" charset="0"/>
                <a:ea typeface="Cambria" pitchFamily="34" charset="-122"/>
                <a:cs typeface="Cambria" pitchFamily="34" charset="-120"/>
              </a:rPr>
              <a:t>Sources Cited in This Chapter</a:t>
            </a:r>
            <a:endParaRPr lang="en-US" sz="3000" dirty="0"/>
          </a:p>
        </p:txBody>
      </p:sp>
      <p:sp>
        <p:nvSpPr>
          <p:cNvPr id="4" name="Shape 2"/>
          <p:cNvSpPr/>
          <p:nvPr/>
        </p:nvSpPr>
        <p:spPr>
          <a:xfrm>
            <a:off x="457200" y="1609344"/>
            <a:ext cx="146304" cy="146304"/>
          </a:xfrm>
          <a:prstGeom prst="ellipse">
            <a:avLst/>
          </a:prstGeom>
          <a:solidFill>
            <a:srgbClr val="2A78D6"/>
          </a:solidFill>
          <a:ln/>
        </p:spPr>
      </p:sp>
      <p:sp>
        <p:nvSpPr>
          <p:cNvPr id="5" name="Text 3"/>
          <p:cNvSpPr/>
          <p:nvPr/>
        </p:nvSpPr>
        <p:spPr>
          <a:xfrm>
            <a:off x="749808" y="1554480"/>
            <a:ext cx="5102352" cy="329184"/>
          </a:xfrm>
          <a:prstGeom prst="rect">
            <a:avLst/>
          </a:prstGeom>
          <a:noFill/>
          <a:ln/>
        </p:spPr>
        <p:txBody>
          <a:bodyPr wrap="square" lIns="0" tIns="0" rIns="0" bIns="0" rtlCol="0" anchor="ctr"/>
          <a:lstStyle/>
          <a:p>
            <a:pPr indent="0" marL="0">
              <a:buNone/>
            </a:pPr>
            <a:r>
              <a:rPr lang="en-US" sz="1400" b="1" dirty="0">
                <a:solidFill>
                  <a:srgbClr val="0B0B0B"/>
                </a:solidFill>
                <a:latin typeface="Calibri" pitchFamily="34" charset="0"/>
                <a:ea typeface="Calibri" pitchFamily="34" charset="-122"/>
                <a:cs typeface="Calibri" pitchFamily="34" charset="-120"/>
              </a:rPr>
              <a:t>Lighthill Report (1973)</a:t>
            </a:r>
            <a:endParaRPr lang="en-US" sz="1400" dirty="0"/>
          </a:p>
        </p:txBody>
      </p:sp>
      <p:sp>
        <p:nvSpPr>
          <p:cNvPr id="6" name="Text 4"/>
          <p:cNvSpPr/>
          <p:nvPr/>
        </p:nvSpPr>
        <p:spPr>
          <a:xfrm>
            <a:off x="749808" y="1856232"/>
            <a:ext cx="5102352" cy="292608"/>
          </a:xfrm>
          <a:prstGeom prst="rect">
            <a:avLst/>
          </a:prstGeom>
          <a:noFill/>
          <a:ln/>
        </p:spPr>
        <p:txBody>
          <a:bodyPr wrap="square" lIns="0" tIns="0" rIns="0" bIns="0" rtlCol="0" anchor="ctr"/>
          <a:lstStyle/>
          <a:p>
            <a:pPr indent="0" marL="0">
              <a:buNone/>
            </a:pPr>
            <a:r>
              <a:rPr lang="en-US" sz="1150" dirty="0">
                <a:solidFill>
                  <a:srgbClr val="898781"/>
                </a:solidFill>
                <a:latin typeface="Calibri" pitchFamily="34" charset="0"/>
                <a:ea typeface="Calibri" pitchFamily="34" charset="-122"/>
                <a:cs typeface="Calibri" pitchFamily="34" charset="-120"/>
              </a:rPr>
              <a:t>en.wikipedia.org/wiki/Lighthill_report</a:t>
            </a:r>
            <a:endParaRPr lang="en-US" sz="1150" dirty="0"/>
          </a:p>
        </p:txBody>
      </p:sp>
      <p:sp>
        <p:nvSpPr>
          <p:cNvPr id="7" name="Shape 5"/>
          <p:cNvSpPr/>
          <p:nvPr/>
        </p:nvSpPr>
        <p:spPr>
          <a:xfrm>
            <a:off x="6309360" y="1609344"/>
            <a:ext cx="146304" cy="146304"/>
          </a:xfrm>
          <a:prstGeom prst="ellipse">
            <a:avLst/>
          </a:prstGeom>
          <a:solidFill>
            <a:srgbClr val="2A78D6"/>
          </a:solidFill>
          <a:ln/>
        </p:spPr>
      </p:sp>
      <p:sp>
        <p:nvSpPr>
          <p:cNvPr id="8" name="Text 6"/>
          <p:cNvSpPr/>
          <p:nvPr/>
        </p:nvSpPr>
        <p:spPr>
          <a:xfrm>
            <a:off x="6601968" y="1554480"/>
            <a:ext cx="5102352" cy="329184"/>
          </a:xfrm>
          <a:prstGeom prst="rect">
            <a:avLst/>
          </a:prstGeom>
          <a:noFill/>
          <a:ln/>
        </p:spPr>
        <p:txBody>
          <a:bodyPr wrap="square" lIns="0" tIns="0" rIns="0" bIns="0" rtlCol="0" anchor="ctr"/>
          <a:lstStyle/>
          <a:p>
            <a:pPr indent="0" marL="0">
              <a:buNone/>
            </a:pPr>
            <a:r>
              <a:rPr lang="en-US" sz="1400" b="1" dirty="0">
                <a:solidFill>
                  <a:srgbClr val="0B0B0B"/>
                </a:solidFill>
                <a:latin typeface="Calibri" pitchFamily="34" charset="0"/>
                <a:ea typeface="Calibri" pitchFamily="34" charset="-122"/>
                <a:cs typeface="Calibri" pitchFamily="34" charset="-120"/>
              </a:rPr>
              <a:t>ALPAC Report (1966)</a:t>
            </a:r>
            <a:endParaRPr lang="en-US" sz="1400" dirty="0"/>
          </a:p>
        </p:txBody>
      </p:sp>
      <p:sp>
        <p:nvSpPr>
          <p:cNvPr id="9" name="Text 7"/>
          <p:cNvSpPr/>
          <p:nvPr/>
        </p:nvSpPr>
        <p:spPr>
          <a:xfrm>
            <a:off x="6601968" y="1856232"/>
            <a:ext cx="5102352" cy="292608"/>
          </a:xfrm>
          <a:prstGeom prst="rect">
            <a:avLst/>
          </a:prstGeom>
          <a:noFill/>
          <a:ln/>
        </p:spPr>
        <p:txBody>
          <a:bodyPr wrap="square" lIns="0" tIns="0" rIns="0" bIns="0" rtlCol="0" anchor="ctr"/>
          <a:lstStyle/>
          <a:p>
            <a:pPr indent="0" marL="0">
              <a:buNone/>
            </a:pPr>
            <a:r>
              <a:rPr lang="en-US" sz="1150" dirty="0">
                <a:solidFill>
                  <a:srgbClr val="898781"/>
                </a:solidFill>
                <a:latin typeface="Calibri" pitchFamily="34" charset="0"/>
                <a:ea typeface="Calibri" pitchFamily="34" charset="-122"/>
                <a:cs typeface="Calibri" pitchFamily="34" charset="-120"/>
              </a:rPr>
              <a:t>nap.edu — Language and Machines</a:t>
            </a:r>
            <a:endParaRPr lang="en-US" sz="1150" dirty="0"/>
          </a:p>
        </p:txBody>
      </p:sp>
      <p:sp>
        <p:nvSpPr>
          <p:cNvPr id="10" name="Shape 8"/>
          <p:cNvSpPr/>
          <p:nvPr/>
        </p:nvSpPr>
        <p:spPr>
          <a:xfrm>
            <a:off x="457200" y="2322576"/>
            <a:ext cx="146304" cy="146304"/>
          </a:xfrm>
          <a:prstGeom prst="ellipse">
            <a:avLst/>
          </a:prstGeom>
          <a:solidFill>
            <a:srgbClr val="2A78D6"/>
          </a:solidFill>
          <a:ln/>
        </p:spPr>
      </p:sp>
      <p:sp>
        <p:nvSpPr>
          <p:cNvPr id="11" name="Text 9"/>
          <p:cNvSpPr/>
          <p:nvPr/>
        </p:nvSpPr>
        <p:spPr>
          <a:xfrm>
            <a:off x="749808" y="2267712"/>
            <a:ext cx="5102352" cy="329184"/>
          </a:xfrm>
          <a:prstGeom prst="rect">
            <a:avLst/>
          </a:prstGeom>
          <a:noFill/>
          <a:ln/>
        </p:spPr>
        <p:txBody>
          <a:bodyPr wrap="square" lIns="0" tIns="0" rIns="0" bIns="0" rtlCol="0" anchor="ctr"/>
          <a:lstStyle/>
          <a:p>
            <a:pPr indent="0" marL="0">
              <a:buNone/>
            </a:pPr>
            <a:r>
              <a:rPr lang="en-US" sz="1400" b="1" dirty="0">
                <a:solidFill>
                  <a:srgbClr val="0B0B0B"/>
                </a:solidFill>
                <a:latin typeface="Calibri" pitchFamily="34" charset="0"/>
                <a:ea typeface="Calibri" pitchFamily="34" charset="-122"/>
                <a:cs typeface="Calibri" pitchFamily="34" charset="-120"/>
              </a:rPr>
              <a:t>Mansfield Amendment (1969)</a:t>
            </a:r>
            <a:endParaRPr lang="en-US" sz="1400" dirty="0"/>
          </a:p>
        </p:txBody>
      </p:sp>
      <p:sp>
        <p:nvSpPr>
          <p:cNvPr id="12" name="Text 10"/>
          <p:cNvSpPr/>
          <p:nvPr/>
        </p:nvSpPr>
        <p:spPr>
          <a:xfrm>
            <a:off x="749808" y="2569464"/>
            <a:ext cx="5102352" cy="292608"/>
          </a:xfrm>
          <a:prstGeom prst="rect">
            <a:avLst/>
          </a:prstGeom>
          <a:noFill/>
          <a:ln/>
        </p:spPr>
        <p:txBody>
          <a:bodyPr wrap="square" lIns="0" tIns="0" rIns="0" bIns="0" rtlCol="0" anchor="ctr"/>
          <a:lstStyle/>
          <a:p>
            <a:pPr indent="0" marL="0">
              <a:buNone/>
            </a:pPr>
            <a:r>
              <a:rPr lang="en-US" sz="1150" dirty="0">
                <a:solidFill>
                  <a:srgbClr val="898781"/>
                </a:solidFill>
                <a:latin typeface="Calibri" pitchFamily="34" charset="0"/>
                <a:ea typeface="Calibri" pitchFamily="34" charset="-122"/>
                <a:cs typeface="Calibri" pitchFamily="34" charset="-120"/>
              </a:rPr>
              <a:t>en.wikipedia.org/wiki/Mansfield_Amendment</a:t>
            </a:r>
            <a:endParaRPr lang="en-US" sz="1150" dirty="0"/>
          </a:p>
        </p:txBody>
      </p:sp>
      <p:sp>
        <p:nvSpPr>
          <p:cNvPr id="13" name="Shape 11"/>
          <p:cNvSpPr/>
          <p:nvPr/>
        </p:nvSpPr>
        <p:spPr>
          <a:xfrm>
            <a:off x="6309360" y="2322576"/>
            <a:ext cx="146304" cy="146304"/>
          </a:xfrm>
          <a:prstGeom prst="ellipse">
            <a:avLst/>
          </a:prstGeom>
          <a:solidFill>
            <a:srgbClr val="2A78D6"/>
          </a:solidFill>
          <a:ln/>
        </p:spPr>
      </p:sp>
      <p:sp>
        <p:nvSpPr>
          <p:cNvPr id="14" name="Text 12"/>
          <p:cNvSpPr/>
          <p:nvPr/>
        </p:nvSpPr>
        <p:spPr>
          <a:xfrm>
            <a:off x="6601968" y="2267712"/>
            <a:ext cx="5102352" cy="329184"/>
          </a:xfrm>
          <a:prstGeom prst="rect">
            <a:avLst/>
          </a:prstGeom>
          <a:noFill/>
          <a:ln/>
        </p:spPr>
        <p:txBody>
          <a:bodyPr wrap="square" lIns="0" tIns="0" rIns="0" bIns="0" rtlCol="0" anchor="ctr"/>
          <a:lstStyle/>
          <a:p>
            <a:pPr indent="0" marL="0">
              <a:buNone/>
            </a:pPr>
            <a:r>
              <a:rPr lang="en-US" sz="1400" b="1" dirty="0">
                <a:solidFill>
                  <a:srgbClr val="0B0B0B"/>
                </a:solidFill>
                <a:latin typeface="Calibri" pitchFamily="34" charset="0"/>
                <a:ea typeface="Calibri" pitchFamily="34" charset="-122"/>
                <a:cs typeface="Calibri" pitchFamily="34" charset="-120"/>
              </a:rPr>
              <a:t>MYCIN</a:t>
            </a:r>
            <a:endParaRPr lang="en-US" sz="1400" dirty="0"/>
          </a:p>
        </p:txBody>
      </p:sp>
      <p:sp>
        <p:nvSpPr>
          <p:cNvPr id="15" name="Text 13"/>
          <p:cNvSpPr/>
          <p:nvPr/>
        </p:nvSpPr>
        <p:spPr>
          <a:xfrm>
            <a:off x="6601968" y="2569464"/>
            <a:ext cx="5102352" cy="292608"/>
          </a:xfrm>
          <a:prstGeom prst="rect">
            <a:avLst/>
          </a:prstGeom>
          <a:noFill/>
          <a:ln/>
        </p:spPr>
        <p:txBody>
          <a:bodyPr wrap="square" lIns="0" tIns="0" rIns="0" bIns="0" rtlCol="0" anchor="ctr"/>
          <a:lstStyle/>
          <a:p>
            <a:pPr indent="0" marL="0">
              <a:buNone/>
            </a:pPr>
            <a:r>
              <a:rPr lang="en-US" sz="1150" dirty="0">
                <a:solidFill>
                  <a:srgbClr val="898781"/>
                </a:solidFill>
                <a:latin typeface="Calibri" pitchFamily="34" charset="0"/>
                <a:ea typeface="Calibri" pitchFamily="34" charset="-122"/>
                <a:cs typeface="Calibri" pitchFamily="34" charset="-120"/>
              </a:rPr>
              <a:t>en.wikipedia.org/wiki/Mycin</a:t>
            </a:r>
            <a:endParaRPr lang="en-US" sz="1150" dirty="0"/>
          </a:p>
        </p:txBody>
      </p:sp>
      <p:sp>
        <p:nvSpPr>
          <p:cNvPr id="16" name="Shape 14"/>
          <p:cNvSpPr/>
          <p:nvPr/>
        </p:nvSpPr>
        <p:spPr>
          <a:xfrm>
            <a:off x="457200" y="3035808"/>
            <a:ext cx="146304" cy="146304"/>
          </a:xfrm>
          <a:prstGeom prst="ellipse">
            <a:avLst/>
          </a:prstGeom>
          <a:solidFill>
            <a:srgbClr val="2A78D6"/>
          </a:solidFill>
          <a:ln/>
        </p:spPr>
      </p:sp>
      <p:sp>
        <p:nvSpPr>
          <p:cNvPr id="17" name="Text 15"/>
          <p:cNvSpPr/>
          <p:nvPr/>
        </p:nvSpPr>
        <p:spPr>
          <a:xfrm>
            <a:off x="749808" y="2980944"/>
            <a:ext cx="5102352" cy="329184"/>
          </a:xfrm>
          <a:prstGeom prst="rect">
            <a:avLst/>
          </a:prstGeom>
          <a:noFill/>
          <a:ln/>
        </p:spPr>
        <p:txBody>
          <a:bodyPr wrap="square" lIns="0" tIns="0" rIns="0" bIns="0" rtlCol="0" anchor="ctr"/>
          <a:lstStyle/>
          <a:p>
            <a:pPr indent="0" marL="0">
              <a:buNone/>
            </a:pPr>
            <a:r>
              <a:rPr lang="en-US" sz="1400" b="1" dirty="0">
                <a:solidFill>
                  <a:srgbClr val="0B0B0B"/>
                </a:solidFill>
                <a:latin typeface="Calibri" pitchFamily="34" charset="0"/>
                <a:ea typeface="Calibri" pitchFamily="34" charset="-122"/>
                <a:cs typeface="Calibri" pitchFamily="34" charset="-120"/>
              </a:rPr>
              <a:t>XCON</a:t>
            </a:r>
            <a:endParaRPr lang="en-US" sz="1400" dirty="0"/>
          </a:p>
        </p:txBody>
      </p:sp>
      <p:sp>
        <p:nvSpPr>
          <p:cNvPr id="18" name="Text 16"/>
          <p:cNvSpPr/>
          <p:nvPr/>
        </p:nvSpPr>
        <p:spPr>
          <a:xfrm>
            <a:off x="749808" y="3282696"/>
            <a:ext cx="5102352" cy="292608"/>
          </a:xfrm>
          <a:prstGeom prst="rect">
            <a:avLst/>
          </a:prstGeom>
          <a:noFill/>
          <a:ln/>
        </p:spPr>
        <p:txBody>
          <a:bodyPr wrap="square" lIns="0" tIns="0" rIns="0" bIns="0" rtlCol="0" anchor="ctr"/>
          <a:lstStyle/>
          <a:p>
            <a:pPr indent="0" marL="0">
              <a:buNone/>
            </a:pPr>
            <a:r>
              <a:rPr lang="en-US" sz="1150" dirty="0">
                <a:solidFill>
                  <a:srgbClr val="898781"/>
                </a:solidFill>
                <a:latin typeface="Calibri" pitchFamily="34" charset="0"/>
                <a:ea typeface="Calibri" pitchFamily="34" charset="-122"/>
                <a:cs typeface="Calibri" pitchFamily="34" charset="-120"/>
              </a:rPr>
              <a:t>en.wikipedia.org/wiki/Xcon</a:t>
            </a:r>
            <a:endParaRPr lang="en-US" sz="1150" dirty="0"/>
          </a:p>
        </p:txBody>
      </p:sp>
      <p:sp>
        <p:nvSpPr>
          <p:cNvPr id="19" name="Shape 17"/>
          <p:cNvSpPr/>
          <p:nvPr/>
        </p:nvSpPr>
        <p:spPr>
          <a:xfrm>
            <a:off x="6309360" y="3035808"/>
            <a:ext cx="146304" cy="146304"/>
          </a:xfrm>
          <a:prstGeom prst="ellipse">
            <a:avLst/>
          </a:prstGeom>
          <a:solidFill>
            <a:srgbClr val="2A78D6"/>
          </a:solidFill>
          <a:ln/>
        </p:spPr>
      </p:sp>
      <p:sp>
        <p:nvSpPr>
          <p:cNvPr id="20" name="Text 18"/>
          <p:cNvSpPr/>
          <p:nvPr/>
        </p:nvSpPr>
        <p:spPr>
          <a:xfrm>
            <a:off x="6601968" y="2980944"/>
            <a:ext cx="5102352" cy="329184"/>
          </a:xfrm>
          <a:prstGeom prst="rect">
            <a:avLst/>
          </a:prstGeom>
          <a:noFill/>
          <a:ln/>
        </p:spPr>
        <p:txBody>
          <a:bodyPr wrap="square" lIns="0" tIns="0" rIns="0" bIns="0" rtlCol="0" anchor="ctr"/>
          <a:lstStyle/>
          <a:p>
            <a:pPr indent="0" marL="0">
              <a:buNone/>
            </a:pPr>
            <a:r>
              <a:rPr lang="en-US" sz="1400" b="1" dirty="0">
                <a:solidFill>
                  <a:srgbClr val="0B0B0B"/>
                </a:solidFill>
                <a:latin typeface="Calibri" pitchFamily="34" charset="0"/>
                <a:ea typeface="Calibri" pitchFamily="34" charset="-122"/>
                <a:cs typeface="Calibri" pitchFamily="34" charset="-120"/>
              </a:rPr>
              <a:t>Rumelhart, Hinton &amp; Williams (1986)</a:t>
            </a:r>
            <a:endParaRPr lang="en-US" sz="1400" dirty="0"/>
          </a:p>
        </p:txBody>
      </p:sp>
      <p:sp>
        <p:nvSpPr>
          <p:cNvPr id="21" name="Text 19"/>
          <p:cNvSpPr/>
          <p:nvPr/>
        </p:nvSpPr>
        <p:spPr>
          <a:xfrm>
            <a:off x="6601968" y="3282696"/>
            <a:ext cx="5102352" cy="292608"/>
          </a:xfrm>
          <a:prstGeom prst="rect">
            <a:avLst/>
          </a:prstGeom>
          <a:noFill/>
          <a:ln/>
        </p:spPr>
        <p:txBody>
          <a:bodyPr wrap="square" lIns="0" tIns="0" rIns="0" bIns="0" rtlCol="0" anchor="ctr"/>
          <a:lstStyle/>
          <a:p>
            <a:pPr indent="0" marL="0">
              <a:buNone/>
            </a:pPr>
            <a:r>
              <a:rPr lang="en-US" sz="1150" dirty="0">
                <a:solidFill>
                  <a:srgbClr val="898781"/>
                </a:solidFill>
                <a:latin typeface="Calibri" pitchFamily="34" charset="0"/>
                <a:ea typeface="Calibri" pitchFamily="34" charset="-122"/>
                <a:cs typeface="Calibri" pitchFamily="34" charset="-120"/>
              </a:rPr>
              <a:t>nature.com/articles/323533a0</a:t>
            </a:r>
            <a:endParaRPr lang="en-US" sz="1150" dirty="0"/>
          </a:p>
        </p:txBody>
      </p:sp>
      <p:sp>
        <p:nvSpPr>
          <p:cNvPr id="22" name="Shape 20"/>
          <p:cNvSpPr/>
          <p:nvPr/>
        </p:nvSpPr>
        <p:spPr>
          <a:xfrm>
            <a:off x="457200" y="3749040"/>
            <a:ext cx="146304" cy="146304"/>
          </a:xfrm>
          <a:prstGeom prst="ellipse">
            <a:avLst/>
          </a:prstGeom>
          <a:solidFill>
            <a:srgbClr val="2A78D6"/>
          </a:solidFill>
          <a:ln/>
        </p:spPr>
      </p:sp>
      <p:sp>
        <p:nvSpPr>
          <p:cNvPr id="23" name="Text 21"/>
          <p:cNvSpPr/>
          <p:nvPr/>
        </p:nvSpPr>
        <p:spPr>
          <a:xfrm>
            <a:off x="749808" y="3694176"/>
            <a:ext cx="5102352" cy="329184"/>
          </a:xfrm>
          <a:prstGeom prst="rect">
            <a:avLst/>
          </a:prstGeom>
          <a:noFill/>
          <a:ln/>
        </p:spPr>
        <p:txBody>
          <a:bodyPr wrap="square" lIns="0" tIns="0" rIns="0" bIns="0" rtlCol="0" anchor="ctr"/>
          <a:lstStyle/>
          <a:p>
            <a:pPr indent="0" marL="0">
              <a:buNone/>
            </a:pPr>
            <a:r>
              <a:rPr lang="en-US" sz="1400" b="1" dirty="0">
                <a:solidFill>
                  <a:srgbClr val="0B0B0B"/>
                </a:solidFill>
                <a:latin typeface="Calibri" pitchFamily="34" charset="0"/>
                <a:ea typeface="Calibri" pitchFamily="34" charset="-122"/>
                <a:cs typeface="Calibri" pitchFamily="34" charset="-120"/>
              </a:rPr>
              <a:t>ImageNet</a:t>
            </a:r>
            <a:endParaRPr lang="en-US" sz="1400" dirty="0"/>
          </a:p>
        </p:txBody>
      </p:sp>
      <p:sp>
        <p:nvSpPr>
          <p:cNvPr id="24" name="Text 22"/>
          <p:cNvSpPr/>
          <p:nvPr/>
        </p:nvSpPr>
        <p:spPr>
          <a:xfrm>
            <a:off x="749808" y="3995928"/>
            <a:ext cx="5102352" cy="292608"/>
          </a:xfrm>
          <a:prstGeom prst="rect">
            <a:avLst/>
          </a:prstGeom>
          <a:noFill/>
          <a:ln/>
        </p:spPr>
        <p:txBody>
          <a:bodyPr wrap="square" lIns="0" tIns="0" rIns="0" bIns="0" rtlCol="0" anchor="ctr"/>
          <a:lstStyle/>
          <a:p>
            <a:pPr indent="0" marL="0">
              <a:buNone/>
            </a:pPr>
            <a:r>
              <a:rPr lang="en-US" sz="1150" dirty="0">
                <a:solidFill>
                  <a:srgbClr val="898781"/>
                </a:solidFill>
                <a:latin typeface="Calibri" pitchFamily="34" charset="0"/>
                <a:ea typeface="Calibri" pitchFamily="34" charset="-122"/>
                <a:cs typeface="Calibri" pitchFamily="34" charset="-120"/>
              </a:rPr>
              <a:t>image-net.org</a:t>
            </a:r>
            <a:endParaRPr lang="en-US" sz="1150" dirty="0"/>
          </a:p>
        </p:txBody>
      </p:sp>
      <p:sp>
        <p:nvSpPr>
          <p:cNvPr id="25" name="Shape 23"/>
          <p:cNvSpPr/>
          <p:nvPr/>
        </p:nvSpPr>
        <p:spPr>
          <a:xfrm>
            <a:off x="6309360" y="3749040"/>
            <a:ext cx="146304" cy="146304"/>
          </a:xfrm>
          <a:prstGeom prst="ellipse">
            <a:avLst/>
          </a:prstGeom>
          <a:solidFill>
            <a:srgbClr val="2A78D6"/>
          </a:solidFill>
          <a:ln/>
        </p:spPr>
      </p:sp>
      <p:sp>
        <p:nvSpPr>
          <p:cNvPr id="26" name="Text 24"/>
          <p:cNvSpPr/>
          <p:nvPr/>
        </p:nvSpPr>
        <p:spPr>
          <a:xfrm>
            <a:off x="6601968" y="3694176"/>
            <a:ext cx="5102352" cy="329184"/>
          </a:xfrm>
          <a:prstGeom prst="rect">
            <a:avLst/>
          </a:prstGeom>
          <a:noFill/>
          <a:ln/>
        </p:spPr>
        <p:txBody>
          <a:bodyPr wrap="square" lIns="0" tIns="0" rIns="0" bIns="0" rtlCol="0" anchor="ctr"/>
          <a:lstStyle/>
          <a:p>
            <a:pPr indent="0" marL="0">
              <a:buNone/>
            </a:pPr>
            <a:r>
              <a:rPr lang="en-US" sz="1400" b="1" dirty="0">
                <a:solidFill>
                  <a:srgbClr val="0B0B0B"/>
                </a:solidFill>
                <a:latin typeface="Calibri" pitchFamily="34" charset="0"/>
                <a:ea typeface="Calibri" pitchFamily="34" charset="-122"/>
                <a:cs typeface="Calibri" pitchFamily="34" charset="-120"/>
              </a:rPr>
              <a:t>AlexNet (Krizhevsky et al., 2012)</a:t>
            </a:r>
            <a:endParaRPr lang="en-US" sz="1400" dirty="0"/>
          </a:p>
        </p:txBody>
      </p:sp>
      <p:sp>
        <p:nvSpPr>
          <p:cNvPr id="27" name="Text 25"/>
          <p:cNvSpPr/>
          <p:nvPr/>
        </p:nvSpPr>
        <p:spPr>
          <a:xfrm>
            <a:off x="6601968" y="3995928"/>
            <a:ext cx="5102352" cy="292608"/>
          </a:xfrm>
          <a:prstGeom prst="rect">
            <a:avLst/>
          </a:prstGeom>
          <a:noFill/>
          <a:ln/>
        </p:spPr>
        <p:txBody>
          <a:bodyPr wrap="square" lIns="0" tIns="0" rIns="0" bIns="0" rtlCol="0" anchor="ctr"/>
          <a:lstStyle/>
          <a:p>
            <a:pPr indent="0" marL="0">
              <a:buNone/>
            </a:pPr>
            <a:r>
              <a:rPr lang="en-US" sz="1150" dirty="0">
                <a:solidFill>
                  <a:srgbClr val="898781"/>
                </a:solidFill>
                <a:latin typeface="Calibri" pitchFamily="34" charset="0"/>
                <a:ea typeface="Calibri" pitchFamily="34" charset="-122"/>
                <a:cs typeface="Calibri" pitchFamily="34" charset="-120"/>
              </a:rPr>
              <a:t>papers.nips.cc, NeurIPS 2012</a:t>
            </a:r>
            <a:endParaRPr lang="en-US" sz="1150" dirty="0"/>
          </a:p>
        </p:txBody>
      </p:sp>
      <p:sp>
        <p:nvSpPr>
          <p:cNvPr id="28" name="Shape 26"/>
          <p:cNvSpPr/>
          <p:nvPr/>
        </p:nvSpPr>
        <p:spPr>
          <a:xfrm>
            <a:off x="457200" y="4462272"/>
            <a:ext cx="146304" cy="146304"/>
          </a:xfrm>
          <a:prstGeom prst="ellipse">
            <a:avLst/>
          </a:prstGeom>
          <a:solidFill>
            <a:srgbClr val="2A78D6"/>
          </a:solidFill>
          <a:ln/>
        </p:spPr>
      </p:sp>
      <p:sp>
        <p:nvSpPr>
          <p:cNvPr id="29" name="Text 27"/>
          <p:cNvSpPr/>
          <p:nvPr/>
        </p:nvSpPr>
        <p:spPr>
          <a:xfrm>
            <a:off x="749808" y="4407408"/>
            <a:ext cx="5102352" cy="329184"/>
          </a:xfrm>
          <a:prstGeom prst="rect">
            <a:avLst/>
          </a:prstGeom>
          <a:noFill/>
          <a:ln/>
        </p:spPr>
        <p:txBody>
          <a:bodyPr wrap="square" lIns="0" tIns="0" rIns="0" bIns="0" rtlCol="0" anchor="ctr"/>
          <a:lstStyle/>
          <a:p>
            <a:pPr indent="0" marL="0">
              <a:buNone/>
            </a:pPr>
            <a:r>
              <a:rPr lang="en-US" sz="1400" b="1" dirty="0">
                <a:solidFill>
                  <a:srgbClr val="0B0B0B"/>
                </a:solidFill>
                <a:latin typeface="Calibri" pitchFamily="34" charset="0"/>
                <a:ea typeface="Calibri" pitchFamily="34" charset="-122"/>
                <a:cs typeface="Calibri" pitchFamily="34" charset="-120"/>
              </a:rPr>
              <a:t>“Attention Is All You Need” (2017)</a:t>
            </a:r>
            <a:endParaRPr lang="en-US" sz="1400" dirty="0"/>
          </a:p>
        </p:txBody>
      </p:sp>
      <p:sp>
        <p:nvSpPr>
          <p:cNvPr id="30" name="Text 28"/>
          <p:cNvSpPr/>
          <p:nvPr/>
        </p:nvSpPr>
        <p:spPr>
          <a:xfrm>
            <a:off x="749808" y="4709160"/>
            <a:ext cx="5102352" cy="292608"/>
          </a:xfrm>
          <a:prstGeom prst="rect">
            <a:avLst/>
          </a:prstGeom>
          <a:noFill/>
          <a:ln/>
        </p:spPr>
        <p:txBody>
          <a:bodyPr wrap="square" lIns="0" tIns="0" rIns="0" bIns="0" rtlCol="0" anchor="ctr"/>
          <a:lstStyle/>
          <a:p>
            <a:pPr indent="0" marL="0">
              <a:buNone/>
            </a:pPr>
            <a:r>
              <a:rPr lang="en-US" sz="1150" dirty="0">
                <a:solidFill>
                  <a:srgbClr val="898781"/>
                </a:solidFill>
                <a:latin typeface="Calibri" pitchFamily="34" charset="0"/>
                <a:ea typeface="Calibri" pitchFamily="34" charset="-122"/>
                <a:cs typeface="Calibri" pitchFamily="34" charset="-120"/>
              </a:rPr>
              <a:t>arxiv.org/abs/1706.03762</a:t>
            </a:r>
            <a:endParaRPr lang="en-US" sz="1150" dirty="0"/>
          </a:p>
        </p:txBody>
      </p:sp>
      <p:sp>
        <p:nvSpPr>
          <p:cNvPr id="31" name="Shape 29"/>
          <p:cNvSpPr/>
          <p:nvPr/>
        </p:nvSpPr>
        <p:spPr>
          <a:xfrm>
            <a:off x="6309360" y="4462272"/>
            <a:ext cx="146304" cy="146304"/>
          </a:xfrm>
          <a:prstGeom prst="ellipse">
            <a:avLst/>
          </a:prstGeom>
          <a:solidFill>
            <a:srgbClr val="2A78D6"/>
          </a:solidFill>
          <a:ln/>
        </p:spPr>
      </p:sp>
      <p:sp>
        <p:nvSpPr>
          <p:cNvPr id="32" name="Text 30"/>
          <p:cNvSpPr/>
          <p:nvPr/>
        </p:nvSpPr>
        <p:spPr>
          <a:xfrm>
            <a:off x="6601968" y="4407408"/>
            <a:ext cx="5102352" cy="329184"/>
          </a:xfrm>
          <a:prstGeom prst="rect">
            <a:avLst/>
          </a:prstGeom>
          <a:noFill/>
          <a:ln/>
        </p:spPr>
        <p:txBody>
          <a:bodyPr wrap="square" lIns="0" tIns="0" rIns="0" bIns="0" rtlCol="0" anchor="ctr"/>
          <a:lstStyle/>
          <a:p>
            <a:pPr indent="0" marL="0">
              <a:buNone/>
            </a:pPr>
            <a:r>
              <a:rPr lang="en-US" sz="1400" b="1" dirty="0">
                <a:solidFill>
                  <a:srgbClr val="0B0B0B"/>
                </a:solidFill>
                <a:latin typeface="Calibri" pitchFamily="34" charset="0"/>
                <a:ea typeface="Calibri" pitchFamily="34" charset="-122"/>
                <a:cs typeface="Calibri" pitchFamily="34" charset="-120"/>
              </a:rPr>
              <a:t>ReAct (Yao et al., 2022)</a:t>
            </a:r>
            <a:endParaRPr lang="en-US" sz="1400" dirty="0"/>
          </a:p>
        </p:txBody>
      </p:sp>
      <p:sp>
        <p:nvSpPr>
          <p:cNvPr id="33" name="Text 31"/>
          <p:cNvSpPr/>
          <p:nvPr/>
        </p:nvSpPr>
        <p:spPr>
          <a:xfrm>
            <a:off x="6601968" y="4709160"/>
            <a:ext cx="5102352" cy="292608"/>
          </a:xfrm>
          <a:prstGeom prst="rect">
            <a:avLst/>
          </a:prstGeom>
          <a:noFill/>
          <a:ln/>
        </p:spPr>
        <p:txBody>
          <a:bodyPr wrap="square" lIns="0" tIns="0" rIns="0" bIns="0" rtlCol="0" anchor="ctr"/>
          <a:lstStyle/>
          <a:p>
            <a:pPr indent="0" marL="0">
              <a:buNone/>
            </a:pPr>
            <a:r>
              <a:rPr lang="en-US" sz="1150" dirty="0">
                <a:solidFill>
                  <a:srgbClr val="898781"/>
                </a:solidFill>
                <a:latin typeface="Calibri" pitchFamily="34" charset="0"/>
                <a:ea typeface="Calibri" pitchFamily="34" charset="-122"/>
                <a:cs typeface="Calibri" pitchFamily="34" charset="-120"/>
              </a:rPr>
              <a:t>arxiv.org/abs/2210.03629</a:t>
            </a:r>
            <a:endParaRPr lang="en-US" sz="1150" dirty="0"/>
          </a:p>
        </p:txBody>
      </p:sp>
      <p:sp>
        <p:nvSpPr>
          <p:cNvPr id="34" name="Shape 32"/>
          <p:cNvSpPr/>
          <p:nvPr/>
        </p:nvSpPr>
        <p:spPr>
          <a:xfrm>
            <a:off x="457200" y="5175504"/>
            <a:ext cx="146304" cy="146304"/>
          </a:xfrm>
          <a:prstGeom prst="ellipse">
            <a:avLst/>
          </a:prstGeom>
          <a:solidFill>
            <a:srgbClr val="2A78D6"/>
          </a:solidFill>
          <a:ln/>
        </p:spPr>
      </p:sp>
      <p:sp>
        <p:nvSpPr>
          <p:cNvPr id="35" name="Text 33"/>
          <p:cNvSpPr/>
          <p:nvPr/>
        </p:nvSpPr>
        <p:spPr>
          <a:xfrm>
            <a:off x="749808" y="5120640"/>
            <a:ext cx="5102352" cy="329184"/>
          </a:xfrm>
          <a:prstGeom prst="rect">
            <a:avLst/>
          </a:prstGeom>
          <a:noFill/>
          <a:ln/>
        </p:spPr>
        <p:txBody>
          <a:bodyPr wrap="square" lIns="0" tIns="0" rIns="0" bIns="0" rtlCol="0" anchor="ctr"/>
          <a:lstStyle/>
          <a:p>
            <a:pPr indent="0" marL="0">
              <a:buNone/>
            </a:pPr>
            <a:r>
              <a:rPr lang="en-US" sz="1400" b="1" dirty="0">
                <a:solidFill>
                  <a:srgbClr val="0B0B0B"/>
                </a:solidFill>
                <a:latin typeface="Calibri" pitchFamily="34" charset="0"/>
                <a:ea typeface="Calibri" pitchFamily="34" charset="-122"/>
                <a:cs typeface="Calibri" pitchFamily="34" charset="-120"/>
              </a:rPr>
              <a:t>ChatGPT launch (Nov 2022)</a:t>
            </a:r>
            <a:endParaRPr lang="en-US" sz="1400" dirty="0"/>
          </a:p>
        </p:txBody>
      </p:sp>
      <p:sp>
        <p:nvSpPr>
          <p:cNvPr id="36" name="Text 34"/>
          <p:cNvSpPr/>
          <p:nvPr/>
        </p:nvSpPr>
        <p:spPr>
          <a:xfrm>
            <a:off x="749808" y="5422392"/>
            <a:ext cx="5102352" cy="292608"/>
          </a:xfrm>
          <a:prstGeom prst="rect">
            <a:avLst/>
          </a:prstGeom>
          <a:noFill/>
          <a:ln/>
        </p:spPr>
        <p:txBody>
          <a:bodyPr wrap="square" lIns="0" tIns="0" rIns="0" bIns="0" rtlCol="0" anchor="ctr"/>
          <a:lstStyle/>
          <a:p>
            <a:pPr indent="0" marL="0">
              <a:buNone/>
            </a:pPr>
            <a:r>
              <a:rPr lang="en-US" sz="1150" dirty="0">
                <a:solidFill>
                  <a:srgbClr val="898781"/>
                </a:solidFill>
                <a:latin typeface="Calibri" pitchFamily="34" charset="0"/>
                <a:ea typeface="Calibri" pitchFamily="34" charset="-122"/>
                <a:cs typeface="Calibri" pitchFamily="34" charset="-120"/>
              </a:rPr>
              <a:t>openai.com/index/chatgpt</a:t>
            </a:r>
            <a:endParaRPr lang="en-US" sz="1150" dirty="0"/>
          </a:p>
        </p:txBody>
      </p:sp>
      <p:sp>
        <p:nvSpPr>
          <p:cNvPr id="37" name="Text 35"/>
          <p:cNvSpPr/>
          <p:nvPr/>
        </p:nvSpPr>
        <p:spPr>
          <a:xfrm>
            <a:off x="457200" y="6035040"/>
            <a:ext cx="11274552" cy="320040"/>
          </a:xfrm>
          <a:prstGeom prst="rect">
            <a:avLst/>
          </a:prstGeom>
          <a:noFill/>
          <a:ln/>
        </p:spPr>
        <p:txBody>
          <a:bodyPr wrap="square" lIns="0" tIns="0" rIns="0" bIns="0" rtlCol="0" anchor="ctr"/>
          <a:lstStyle/>
          <a:p>
            <a:pPr indent="0" marL="0">
              <a:buNone/>
            </a:pPr>
            <a:r>
              <a:rPr lang="en-US" sz="1200" i="1" dirty="0">
                <a:solidFill>
                  <a:srgbClr val="898781"/>
                </a:solidFill>
                <a:latin typeface="Calibri" pitchFamily="34" charset="0"/>
                <a:ea typeface="Calibri" pitchFamily="34" charset="-122"/>
                <a:cs typeface="Calibri" pitchFamily="34" charset="-120"/>
              </a:rPr>
              <a:t>Full chapter with inline links: docs/01-ai-ml-foundations/1-1-what-is-ai.mdx</a:t>
            </a:r>
            <a:endParaRPr lang="en-US" sz="1200" dirty="0"/>
          </a:p>
        </p:txBody>
      </p:sp>
      <p:sp>
        <p:nvSpPr>
          <p:cNvPr id="38" name="Text 36"/>
          <p:cNvSpPr/>
          <p:nvPr/>
        </p:nvSpPr>
        <p:spPr>
          <a:xfrm>
            <a:off x="457200" y="6510528"/>
            <a:ext cx="7315200" cy="274320"/>
          </a:xfrm>
          <a:prstGeom prst="rect">
            <a:avLst/>
          </a:prstGeom>
          <a:noFill/>
          <a:ln/>
        </p:spPr>
        <p:txBody>
          <a:bodyPr wrap="square" lIns="0" tIns="0" rIns="0" bIns="0" rtlCol="0" anchor="ctr"/>
          <a:lstStyle/>
          <a:p>
            <a:pPr algn="l" indent="0" marL="0">
              <a:buNone/>
            </a:pPr>
            <a:r>
              <a:rPr lang="en-US" sz="1000" dirty="0">
                <a:solidFill>
                  <a:srgbClr val="898781"/>
                </a:solidFill>
                <a:latin typeface="Calibri" pitchFamily="34" charset="0"/>
                <a:ea typeface="Calibri" pitchFamily="34" charset="-122"/>
                <a:cs typeface="Calibri" pitchFamily="34" charset="-120"/>
              </a:rPr>
              <a:t>1.1 · Phase 1 — AI &amp; Machine Learning Foundations</a:t>
            </a:r>
            <a:endParaRPr lang="en-US" sz="1000" dirty="0"/>
          </a:p>
        </p:txBody>
      </p:sp>
      <p:sp>
        <p:nvSpPr>
          <p:cNvPr id="39" name="Text 37"/>
          <p:cNvSpPr/>
          <p:nvPr/>
        </p:nvSpPr>
        <p:spPr>
          <a:xfrm>
            <a:off x="11274552" y="6510528"/>
            <a:ext cx="457200" cy="274320"/>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19</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2026-08-19T04:46:09Z</dcterms:created>
  <dcterms:modified xsi:type="dcterms:W3CDTF">2026-08-19T04:46:09Z</dcterms:modified>
</cp:coreProperties>
</file>