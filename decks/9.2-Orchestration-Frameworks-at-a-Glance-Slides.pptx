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2D3D"/>
                </a:solidFill>
              </a:rPr>
              <a:t>Orchestration Frameworks</a:t>
            </a:r>
          </a:p>
          <a:p>
            <a:pPr>
              <a:spcBef>
                <a:spcPts val="1000"/>
              </a:spcBef>
            </a:pPr>
            <a:r>
              <a:rPr sz="3000">
                <a:solidFill>
                  <a:srgbClr val="5B8FC9"/>
                </a:solidFill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B7280"/>
                </a:solidFill>
              </a:rPr>
              <a:t>CHAPTER 9.2  ·  PHASE 9: AGENTIC FRAMEWORKS LANDSCAPE  ·  HL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Four libraries, four different bets on control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The four:</a:t>
            </a:r>
            <a:r>
              <a:rPr sz="1500">
                <a:solidFill>
                  <a:srgbClr val="6B7280"/>
                </a:solidFill>
              </a:rPr>
              <a:t>  LangGraph, CrewAI, Microsoft Agent Framework, and OpenAI's Agents SDK account for most agent-building code today.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All libraries, not services:</a:t>
            </a:r>
            <a:r>
              <a:rPr sz="1500">
                <a:solidFill>
                  <a:srgbClr val="6B7280"/>
                </a:solidFill>
              </a:rPr>
              <a:t>  each is something you import, not something a vendor hosts for you.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Different control-flow bets:</a:t>
            </a:r>
            <a:r>
              <a:rPr sz="1500">
                <a:solidFill>
                  <a:srgbClr val="6B7280"/>
                </a:solidFill>
              </a:rPr>
              <a:t>  an explicit graph, role-based crews, a merged two-lineage framework, or a small set of composable primitives.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1F2D3D"/>
                </a:solidFill>
              </a:rPr>
              <a:t>•  This chapter names them;</a:t>
            </a:r>
            <a:r>
              <a:rPr sz="1500">
                <a:solidFill>
                  <a:srgbClr val="6B7280"/>
                </a:solidFill>
              </a:rPr>
              <a:t>  Phase 12 is where you learn to actually build with any of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HIGH-LEVEL EXPLANATION ·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LangGraph and CrewAI: a graph you draw, or roles you assign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LangGraph (LangChain):</a:t>
            </a:r>
            <a:r>
              <a:rPr sz="1300">
                <a:solidFill>
                  <a:srgbClr val="6B7280"/>
                </a:solidFill>
              </a:rPr>
              <a:t>  "an agent runtime and low-level orchestration framework" - control flow is an explicit graph of nodes and edges wired by hand, for single, multi-agent, or hierarchical systems alike.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LangGraph's commercial layer:</a:t>
            </a:r>
            <a:r>
              <a:rPr sz="1300">
                <a:solidFill>
                  <a:srgbClr val="6B7280"/>
                </a:solidFill>
              </a:rPr>
              <a:t>  MIT-licensed core, plus LangChain's own paid LangSmith (observability/eval) and LangSmith Deployment, renamed from LangGraph Platform in Oct 2025 (managed deployment).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CrewAI:</a:t>
            </a:r>
            <a:r>
              <a:rPr sz="1300">
                <a:solidFill>
                  <a:srgbClr val="6B7280"/>
                </a:solidFill>
              </a:rPr>
              <a:t>  "role-based agents separate and simplify agent orchestration" - you assign roles and goals, and the runtime decides how they hand off work.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CrewAI's commercial layer:</a:t>
            </a:r>
            <a:r>
              <a:rPr sz="1300">
                <a:solidFill>
                  <a:srgbClr val="6B7280"/>
                </a:solidFill>
              </a:rPr>
              <a:t>  MIT-licensed core, plus a paid "CrewAI AMP" control plane adding managed deployment, observability, governance, and enterprise support.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HIGH-LEVEL EXPLANATION ·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Microsoft Agent Framework and OpenAI's Agents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Microsoft Agent Framework:</a:t>
            </a:r>
            <a:r>
              <a:rPr sz="1300">
                <a:solidFill>
                  <a:srgbClr val="6B7280"/>
                </a:solidFill>
              </a:rPr>
              <a:t>  a fresh merger of AutoGen (simple multi-agent abstractions) and Semantic Kernel (enterprise features), built by the same teams behind both, MIT-licensed.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AutoGen's own status:</a:t>
            </a:r>
            <a:r>
              <a:rPr sz="1300">
                <a:solidFill>
                  <a:srgbClr val="6B7280"/>
                </a:solidFill>
              </a:rPr>
              <a:t>  "will still be maintained... a stable API... critical bug fixes and security patches, but we will not be adding significant new features to it" - maintenance mode, not discontinued.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OpenAI's Agents SDK:</a:t>
            </a:r>
            <a:r>
              <a:rPr sz="1300">
                <a:solidFill>
                  <a:srgbClr val="6B7280"/>
                </a:solidFill>
              </a:rPr>
              <a:t>  "build agentic AI apps in a lightweight, easy-to-use package with very few abstractions" - three primitives (agents, handoffs, guardrails) plus a sessions feature.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F2D3D"/>
                </a:solidFill>
              </a:rPr>
              <a:t>•  Its lineage:</a:t>
            </a:r>
            <a:r>
              <a:rPr sz="1300">
                <a:solidFill>
                  <a:srgbClr val="6B7280"/>
                </a:solidFill>
              </a:rPr>
              <a:t>  "a production-ready upgrade of our previous experimentation for agents, Swarm" - MIT-licensed, no separate paid tier.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Four open-source libraries, two different commercial shapes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8534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LangGraph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CrewAI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MS Agent Framework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OpenAI Agents SDK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Backing organization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LangChain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CrewAI Inc.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Microsoft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Orchestration model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Explicit graph, wired by hand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Role-based "crews"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Merged AutoGen + Semantic Kernel lineage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Agents, handoffs, guardrails + sessions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License &amp; commercial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MIT + paid LangSmith /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MIT + paid CrewAI 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MIT, no paid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MIT, no paid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Lineage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New project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New project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Successor to AutoGen + Semantic Kernel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Successor to Swarm</a:t>
                      </a:r>
                    </a:p>
                  </a:txBody>
                  <a:tcPr>
                    <a:solidFill>
                      <a:srgbClr val="EDE4D3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What it optimizes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Maximum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Fast team-of-specialists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Enterprise features +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D3D"/>
                          </a:solidFill>
                        </a:rPr>
                        <a:t>Shortest path to a working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7280"/>
                </a:solidFill>
              </a:rPr>
              <a:t>LangChain and CrewAI each sell a paid layer around their open-source core; Microsoft and OpenAI ship theirs with no such tier.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8FC9"/>
                </a:solidFill>
              </a:rPr>
              <a:t>WHERE TO GO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D3D"/>
                </a:solidFill>
              </a:rPr>
              <a:t>Implementation depth, and how to choose among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Phase 12's framework deep-dives:</a:t>
            </a:r>
            <a:r>
              <a:rPr sz="1400">
                <a:solidFill>
                  <a:srgbClr val="6B7280"/>
                </a:solidFill>
              </a:rPr>
              <a:t>  LangChain/LangGraph in 12.2, CrewAI in 12.3, and OpenAI's Agents SDK in 12.5.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Chapter 12.4's scope has shifted:</a:t>
            </a:r>
            <a:r>
              <a:rPr sz="1400">
                <a:solidFill>
                  <a:srgbClr val="6B7280"/>
                </a:solidFill>
              </a:rPr>
              <a:t>  planned as an AutoGen and Semantic Kernel deep-dive before the merger; expect it to cover Microsoft Agent Framework directly instead.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Choosing among them:</a:t>
            </a:r>
            <a:r>
              <a:rPr sz="1400">
                <a:solidFill>
                  <a:srgbClr val="6B7280"/>
                </a:solidFill>
              </a:rPr>
              <a:t>  9.5 (open-source vs. managed trade-offs) and 9.6 (how to pick a starting framework), later in this phase.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F2D3D"/>
                </a:solidFill>
              </a:rPr>
              <a:t>•  What any of these frameworks wires together:</a:t>
            </a:r>
            <a:r>
              <a:rPr sz="1400">
                <a:solidFill>
                  <a:srgbClr val="6B7280"/>
                </a:solidFill>
              </a:rPr>
              <a:t>  Chapter 8.10's Single-Agent Reference Architecture Blueprint.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