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2D3D"/>
                </a:solidFill>
              </a:rPr>
              <a:t>What Is an "Agent"?</a:t>
            </a:r>
          </a:p>
          <a:p>
            <a:pPr>
              <a:spcBef>
                <a:spcPts val="1000"/>
              </a:spcBef>
            </a:pPr>
            <a:r>
              <a:rPr sz="2400">
                <a:solidFill>
                  <a:srgbClr val="5B8FC9"/>
                </a:solidFill>
              </a:rPr>
              <a:t>From Classical AI Agents to LLM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B7280"/>
                </a:solidFill>
              </a:rPr>
              <a:t>CHAPTER 8.1  ·  PHASE 8: AI AGENTS — FOUNDATIONS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TL;DR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D3D"/>
                </a:solidFill>
              </a:rPr>
              <a:t>One loop, two different deciders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800">
                <a:solidFill>
                  <a:srgbClr val="1F2D3D"/>
                </a:solidFill>
              </a:rPr>
              <a:t>•  An agent perceives, decides, and acts</a:t>
            </a:r>
            <a:r>
              <a:rPr sz="1600">
                <a:solidFill>
                  <a:srgbClr val="6B7280"/>
                </a:solidFill>
              </a:rPr>
              <a:t>  to pursue a goal, whether or not an LLM is involved.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1F2D3D"/>
                </a:solidFill>
              </a:rPr>
              <a:t>•  Classical AI already fully specified this loop:</a:t>
            </a:r>
            <a:r>
              <a:rPr sz="1600">
                <a:solidFill>
                  <a:srgbClr val="6B7280"/>
                </a:solidFill>
              </a:rPr>
              <a:t>  PEAS (Performance measure, Environment, Actuators, Sensors) and Russell &amp; Norvig's rationality standard.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1F2D3D"/>
                </a:solidFill>
              </a:rPr>
              <a:t>•  Wooldridge &amp; Jennings (1995) added a second lens:</a:t>
            </a:r>
            <a:r>
              <a:rPr sz="1600">
                <a:solidFill>
                  <a:srgbClr val="6B7280"/>
                </a:solidFill>
              </a:rPr>
              <a:t>  autonomy, social ability, reactivity, pro-activeness, years before LLM agents existed.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1F2D3D"/>
                </a:solidFill>
              </a:rPr>
              <a:t>•  What an LLM changes is not the loop.</a:t>
            </a:r>
            <a:r>
              <a:rPr sz="1600">
                <a:solidFill>
                  <a:srgbClr val="6B7280"/>
                </a:solidFill>
              </a:rPr>
              <a:t>  It's what sits inside the decide step: natural-language reasoning instead of hand-coded rules or a symbolic planner.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HIGH-LEVEL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D3D"/>
                </a:solidFill>
              </a:rPr>
              <a:t>The same loop, two different deciders</a:t>
            </a:r>
          </a:p>
        </p:txBody>
      </p:sp>
      <p:pic>
        <p:nvPicPr>
          <p:cNvPr id="5" name="Picture 4" descr="8-1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1371600"/>
            <a:ext cx="9601200" cy="43082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1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D3D"/>
                </a:solidFill>
              </a:rPr>
              <a:t>The Classical Definition: PEAS and Rationality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PEAS:</a:t>
            </a:r>
            <a:r>
              <a:rPr sz="1500">
                <a:solidFill>
                  <a:srgbClr val="6B7280"/>
                </a:solidFill>
              </a:rPr>
              <a:t>  Performance measure, Environment, Actuators, Sensors, a four-part spec for any task environment.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Taxi driver example:</a:t>
            </a:r>
            <a:r>
              <a:rPr sz="1500">
                <a:solidFill>
                  <a:srgbClr val="6B7280"/>
                </a:solidFill>
              </a:rPr>
              <a:t>  perf. = safe/fast/legal/comfortable/profitable; environment = roads &amp; traffic; actuators = wheel/pedals/signal; sensors = cameras/GPS/speedometer.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Rationality:</a:t>
            </a:r>
            <a:r>
              <a:rPr sz="1500">
                <a:solidFill>
                  <a:srgbClr val="6B7280"/>
                </a:solidFill>
              </a:rPr>
              <a:t>  "an ideal rational agent should do whatever action is expected to maximize its performance measure, on the basis of the evidence provided by the percept sequence and whatever built-in knowledge the agent has."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Three details that matter:</a:t>
            </a:r>
            <a:r>
              <a:rPr sz="1500">
                <a:solidFill>
                  <a:srgbClr val="6B7280"/>
                </a:solidFill>
              </a:rPr>
              <a:t>  rationality is relative to the chosen performance measure, judged over the whole percept sequence, and only requires the best expected bet, not a guaranteed-correct outcome.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2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D3D"/>
                </a:solidFill>
              </a:rPr>
              <a:t>The Classical Agent-Architecture Taxonomy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Simple reflex:</a:t>
            </a:r>
            <a:r>
              <a:rPr sz="1400">
                <a:solidFill>
                  <a:srgbClr val="6B7280"/>
                </a:solidFill>
              </a:rPr>
              <a:t>  condition-action rules on the current percept only; narrow range of applicability.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Model-based reflex:</a:t>
            </a:r>
            <a:r>
              <a:rPr sz="1400">
                <a:solidFill>
                  <a:srgbClr val="6B7280"/>
                </a:solidFill>
              </a:rPr>
              <a:t>  adds internal state to track what can't currently be seen.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Goal-based:</a:t>
            </a:r>
            <a:r>
              <a:rPr sz="1400">
                <a:solidFill>
                  <a:srgbClr val="6B7280"/>
                </a:solidFill>
              </a:rPr>
              <a:t>  plans against explicit goal information describing desirable situations.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Utility-based:</a:t>
            </a:r>
            <a:r>
              <a:rPr sz="1400">
                <a:solidFill>
                  <a:srgbClr val="6B7280"/>
                </a:solidFill>
              </a:rPr>
              <a:t>  ranks states by a utility function instead of a binary goal, enabling trade-offs.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Learning:</a:t>
            </a:r>
            <a:r>
              <a:rPr sz="1400">
                <a:solidFill>
                  <a:srgbClr val="6B7280"/>
                </a:solidFill>
              </a:rPr>
              <a:t>  performance element + critic + learning element + problem generator, improving any of the above from experience.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3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D3D"/>
                </a:solidFill>
              </a:rPr>
              <a:t>Multi-Agent Systems Before LLMs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Wooldridge &amp; Jennings (1995), "weak notion of agency":</a:t>
            </a:r>
            <a:r>
              <a:rPr sz="1300">
                <a:solidFill>
                  <a:srgbClr val="6B7280"/>
                </a:solidFill>
              </a:rPr>
              <a:t>  a system defined by four properties.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Autonomy:</a:t>
            </a:r>
            <a:r>
              <a:rPr sz="1300">
                <a:solidFill>
                  <a:srgbClr val="6B7280"/>
                </a:solidFill>
              </a:rPr>
              <a:t>  operates without direct human intervention; controls its own actions and state.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Social ability:</a:t>
            </a:r>
            <a:r>
              <a:rPr sz="1300">
                <a:solidFill>
                  <a:srgbClr val="6B7280"/>
                </a:solidFill>
              </a:rPr>
              <a:t>  interacts with other agents via an agent-communication language.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Reactivity:</a:t>
            </a:r>
            <a:r>
              <a:rPr sz="1300">
                <a:solidFill>
                  <a:srgbClr val="6B7280"/>
                </a:solidFill>
              </a:rPr>
              <a:t>  perceives its environment and responds in a timely fashion.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Pro-activeness:</a:t>
            </a:r>
            <a:r>
              <a:rPr sz="1300">
                <a:solidFill>
                  <a:srgbClr val="6B7280"/>
                </a:solidFill>
              </a:rPr>
              <a:t>  takes the initiative toward a goal instead of only reacting.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Why it matters now:</a:t>
            </a:r>
            <a:r>
              <a:rPr sz="1300">
                <a:solidFill>
                  <a:srgbClr val="6B7280"/>
                </a:solidFill>
              </a:rPr>
              <a:t>  today's LLM multi-agent frameworks are these same four properties, applied to language-model-based agents (deep dive in Phase 11).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4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D3D"/>
                </a:solidFill>
              </a:rPr>
              <a:t>What an LLM Actually Adds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The old bottleneck:</a:t>
            </a:r>
            <a:r>
              <a:rPr sz="1500">
                <a:solidFill>
                  <a:srgbClr val="6B7280"/>
                </a:solidFill>
              </a:rPr>
              <a:t>  a classical decide step needed hand-written rules, a symbolic planner, or a hand-tuned utility function.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Wang et al. (2023):</a:t>
            </a:r>
            <a:r>
              <a:rPr sz="1500">
                <a:solidFill>
                  <a:srgbClr val="6B7280"/>
                </a:solidFill>
              </a:rPr>
              <a:t>  "large language models (LLMs) have shown potential in human-level intelligence, leading to a surge in research on LLM-based autonomous agents."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The real change:</a:t>
            </a:r>
            <a:r>
              <a:rPr sz="1500">
                <a:solidFill>
                  <a:srgbClr val="6B7280"/>
                </a:solidFill>
              </a:rPr>
              <a:t>  natural language becomes a universal interface for perception, reasoning, and action, replacing hand-coded logic with an in-context reasoning engine.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Still bounded:</a:t>
            </a:r>
            <a:r>
              <a:rPr sz="1500">
                <a:solidFill>
                  <a:srgbClr val="6B7280"/>
                </a:solidFill>
              </a:rPr>
              <a:t>  by what the model was trained on and by the scaffolding built around it, just a much larger boundary than explicitly-coded logic.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5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D3D"/>
                </a:solidFill>
              </a:rPr>
              <a:t>What Doesn't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Still a perceive-decide-act loop.</a:t>
            </a:r>
            <a:r>
              <a:rPr sz="1500">
                <a:solidFill>
                  <a:srgbClr val="6B7280"/>
                </a:solidFill>
              </a:rPr>
              <a:t>  An LLM agent has to answer the same PEAS questions any other agent does.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Still judged by the same rationality standard:</a:t>
            </a:r>
            <a:r>
              <a:rPr sz="1500">
                <a:solidFill>
                  <a:srgbClr val="6B7280"/>
                </a:solidFill>
              </a:rPr>
              <a:t>  act to maximize the performance measure, given the percept sequence and available knowledge.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Still needs an explicit environment and action space:</a:t>
            </a:r>
            <a:r>
              <a:rPr sz="1500">
                <a:solidFill>
                  <a:srgbClr val="6B7280"/>
                </a:solidFill>
              </a:rPr>
              <a:t>  which actuators ("tools" from Chapter 8.2 on) an LLM agent may invoke is a real design decision, not automatic.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What's genuinely new is covered next:</a:t>
            </a:r>
            <a:r>
              <a:rPr sz="1500">
                <a:solidFill>
                  <a:srgbClr val="6B7280"/>
                </a:solidFill>
              </a:rPr>
              <a:t>  perception/reasoning/memory/action/tools (8.2), the decide-act cycle in practice (8.3), and agent vs. workflow vs. assistant vs. chatbot (8.8).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COMPARISON &amp; RELATED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D3D"/>
                </a:solidFill>
              </a:rPr>
              <a:t>Classical agent vs. LLM agent vs. a single LLM call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841248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Classical agent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LLM agent (with loop)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Single LLM call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D3D"/>
                          </a:solidFill>
                        </a:rPr>
                        <a:t>Decide 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D3D"/>
                          </a:solidFill>
                        </a:rPr>
                        <a:t>Hand-coded rules / planner / utility fn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D3D"/>
                          </a:solidFill>
                        </a:rPr>
                        <a:t>LLM reasoning, across multiple steps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D3D"/>
                          </a:solidFill>
                        </a:rPr>
                        <a:t>LLM reasoning, exactly once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D3D"/>
                          </a:solidFill>
                        </a:rPr>
                        <a:t>Percept sequence?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D3D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D3D"/>
                          </a:solidFill>
                        </a:rPr>
                        <a:t>Yes, loop re-perceives after acting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D3D"/>
                          </a:solidFill>
                        </a:rPr>
                        <a:t>No, one prompt in, one response out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D3D"/>
                          </a:solidFill>
                        </a:rPr>
                        <a:t>An agent under PEAS?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D3D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D3D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D3D"/>
                          </a:solidFill>
                        </a:rPr>
                        <a:t>No: no loop, no actuators acting 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D3D"/>
                          </a:solidFill>
                        </a:rPr>
                        <a:t>Handles the unanticipated?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D3D"/>
                          </a:solidFill>
                        </a:rPr>
                        <a:t>Only as well as the rules/utility fn generalize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D3D"/>
                          </a:solidFill>
                        </a:rPr>
                        <a:t>Often, via language reasoning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F2D3D"/>
                          </a:solidFill>
                        </a:rPr>
                        <a:t>Only within that one response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REFERENCE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D3D"/>
                </a:solidFill>
              </a:rPr>
              <a:t>Where a classical vs. an LLM decide step sits</a:t>
            </a:r>
          </a:p>
        </p:txBody>
      </p:sp>
      <p:pic>
        <p:nvPicPr>
          <p:cNvPr id="5" name="Picture 4" descr="ref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05" y="1234440"/>
            <a:ext cx="3011285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46304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1F2D3D"/>
                </a:solidFill>
              </a:rPr>
              <a:t>Sensors</a:t>
            </a:r>
            <a:r>
              <a:rPr sz="1400">
                <a:solidFill>
                  <a:srgbClr val="6B7280"/>
                </a:solidFill>
              </a:rPr>
              <a:t>: convert raw state into a percept, identically on both paths.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F2D3D"/>
                </a:solidFill>
              </a:rPr>
              <a:t>Percept sequence</a:t>
            </a:r>
            <a:r>
              <a:rPr sz="1400">
                <a:solidFill>
                  <a:srgbClr val="6B7280"/>
                </a:solidFill>
              </a:rPr>
              <a:t>: what rationality is judged against.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F2D3D"/>
                </a:solidFill>
              </a:rPr>
              <a:t>Decide, classical path</a:t>
            </a:r>
            <a:r>
              <a:rPr sz="1400">
                <a:solidFill>
                  <a:srgbClr val="6B7280"/>
                </a:solidFill>
              </a:rPr>
              <a:t>: hand-coded rules, planner, or utility function.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F2D3D"/>
                </a:solidFill>
              </a:rPr>
              <a:t>Decide, LLM path</a:t>
            </a:r>
            <a:r>
              <a:rPr sz="1400">
                <a:solidFill>
                  <a:srgbClr val="6B7280"/>
                </a:solidFill>
              </a:rPr>
              <a:t>: an LLM reasoning over the percept sequence and a goal.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F2D3D"/>
                </a:solidFill>
              </a:rPr>
              <a:t>Actuators</a:t>
            </a:r>
            <a:r>
              <a:rPr sz="1400">
                <a:solidFill>
                  <a:srgbClr val="6B7280"/>
                </a:solidFill>
              </a:rPr>
              <a:t>: turn the chosen action into a real change, identically on both paths.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D3D"/>
                </a:solidFill>
              </a:rPr>
              <a:t>The same reflex agent, two different deciders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Build one environment + harness:</a:t>
            </a:r>
            <a:r>
              <a:rPr sz="1500">
                <a:solidFill>
                  <a:srgbClr val="6B7280"/>
                </a:solidFill>
              </a:rPr>
              <a:t>  a room with a temperature; perceive / decide / act, exactly the PEAS-shaped contract.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Classical decide:</a:t>
            </a:r>
            <a:r>
              <a:rPr sz="1500">
                <a:solidFill>
                  <a:srgbClr val="6B7280"/>
                </a:solidFill>
              </a:rPr>
              <a:t>  a two-branch condition-action rule table (heat / cool / idle).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LLM decide:</a:t>
            </a:r>
            <a:r>
              <a:rPr sz="1500">
                <a:solidFill>
                  <a:srgbClr val="6B7280"/>
                </a:solidFill>
              </a:rPr>
              <a:t>  flan-t5-small reads a one-sentence description of the percept and replies in one word, parsed back onto the same 3-action space.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Run both through the identical harness:</a:t>
            </a:r>
            <a:r>
              <a:rPr sz="1500">
                <a:solidFill>
                  <a:srgbClr val="6B7280"/>
                </a:solidFill>
              </a:rPr>
              <a:t>  only the decide_fn argument changes between the two runs.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The takeaway:</a:t>
            </a:r>
            <a:r>
              <a:rPr sz="1500">
                <a:solidFill>
                  <a:srgbClr val="6B7280"/>
                </a:solidFill>
              </a:rPr>
              <a:t>  an LLM decide step trades a rule table's predictability for the ability to reason in language, a real design trade-off, not a strictly free upgrade.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