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3D"/>
                </a:solidFill>
              </a:rPr>
              <a:t>Open-Source vs. Managed</a:t>
            </a:r>
          </a:p>
          <a:p>
            <a:pPr>
              <a:spcBef>
                <a:spcPts val="1000"/>
              </a:spcBef>
            </a:pPr>
            <a:r>
              <a:rPr sz="2800">
                <a:solidFill>
                  <a:srgbClr val="5B8FC9"/>
                </a:solidFill>
              </a:rPr>
              <a:t>High-Level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9.5  ·  PHASE 9: AGENTIC FRAMEWORKS LANDSCAPE  ·  HL SURVEY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Two separate axes, not one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Two questions, not one:</a:t>
            </a:r>
            <a:r>
              <a:rPr sz="1500">
                <a:solidFill>
                  <a:srgbClr val="6B7280"/>
                </a:solidFill>
              </a:rPr>
              <a:t>  is the code open source, and does someone else operate it for you.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All four combinations exist:</a:t>
            </a:r>
            <a:r>
              <a:rPr sz="1500">
                <a:solidFill>
                  <a:srgbClr val="6B7280"/>
                </a:solidFill>
              </a:rPr>
              <a:t>  9.2 and 9.3's own products span every corner of that grid.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Real trade-offs follow:</a:t>
            </a:r>
            <a:r>
              <a:rPr sz="1500">
                <a:solidFill>
                  <a:srgbClr val="6B7280"/>
                </a:solidFill>
              </a:rPr>
              <a:t>  cost model, customization ceiling, and switching cost, not a single winner.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This chapter names them;</a:t>
            </a:r>
            <a:r>
              <a:rPr sz="1500">
                <a:solidFill>
                  <a:srgbClr val="6B7280"/>
                </a:solidFill>
              </a:rPr>
              <a:t>  9.6 turns them into an actual decision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Four corners, not two, and a cost model for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Open source + self-hosted:</a:t>
            </a:r>
            <a:r>
              <a:rPr sz="1300">
                <a:solidFill>
                  <a:srgbClr val="6B7280"/>
                </a:solidFill>
              </a:rPr>
              <a:t>  LangGraph and CrewAI cores, MIT-licensed, you run them yourself.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Open source + managed:</a:t>
            </a:r>
            <a:r>
              <a:rPr sz="1300">
                <a:solidFill>
                  <a:srgbClr val="6B7280"/>
                </a:solidFill>
              </a:rPr>
              <a:t>  LangSmith Deployment (renamed from LangGraph Platform, Oct 2025), the same open logic wrapped in LangChain's own hosting.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Proprietary + managed:</a:t>
            </a:r>
            <a:r>
              <a:rPr sz="1300">
                <a:solidFill>
                  <a:srgbClr val="6B7280"/>
                </a:solidFill>
              </a:rPr>
              <a:t>  Amazon Bedrock AgentCore, Gemini Enterprise Agent Platform - internals not published, vendor operates it.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 cross-cutting fifth pattern:</a:t>
            </a:r>
            <a:r>
              <a:rPr sz="1300">
                <a:solidFill>
                  <a:srgbClr val="6B7280"/>
                </a:solidFill>
              </a:rPr>
              <a:t>  CrewAI AMP - an "open-core" business, a paid proprietary control plane sold around CrewAI's free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Cost, control, and how fast you need to 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Cost model follows the corner:</a:t>
            </a:r>
            <a:r>
              <a:rPr sz="1300">
                <a:solidFill>
                  <a:srgbClr val="6B7280"/>
                </a:solidFill>
              </a:rPr>
              <a:t>  no license fee but you own infra and engineering time, versus usage-based billing that scales with use.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Control and lock-in cut the other way:</a:t>
            </a:r>
            <a:r>
              <a:rPr sz="1300">
                <a:solidFill>
                  <a:srgbClr val="6B7280"/>
                </a:solidFill>
              </a:rPr>
              <a:t>  full control if self-hosted, versus a managed platform's higher cost of leaving - AWS's own two-path migration off Bedrock Agents Classic shows the same dynamic even within one vendor.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Lock-in isn't only proprietary:</a:t>
            </a:r>
            <a:r>
              <a:rPr sz="1300">
                <a:solidFill>
                  <a:srgbClr val="6B7280"/>
                </a:solidFill>
              </a:rPr>
              <a:t>  code written against one open framework's abstractions has its own switching cost too.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Speed matters on its own terms:</a:t>
            </a:r>
            <a:r>
              <a:rPr sz="1300">
                <a:solidFill>
                  <a:srgbClr val="6B7280"/>
                </a:solidFill>
              </a:rPr>
              <a:t>  AWS frames its AgentCore harness as the default "unless you have a specific reason to own the loop yourself."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The trade-off axis itself, not a specific product pick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143000"/>
          <a:ext cx="10332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8534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Self-Hosted Open Source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Managed / Proprietary Platform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License and code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Open source; inspectable and modifiable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Fully or partly proprietary; internals not published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Who operates it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You, on your own infrastructure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The vendor, on its own infrastructure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Cost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Infrastructure and engineering time; commercial layer 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Usage-based billing that scales with runtime or API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Customization ceiling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Full, limited only by your own engineering effort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Limited to the vendor's configuration surface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Switching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Lower for the code, though framework abstractions add some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Higher; often needs a dedicated migration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6B7280"/>
                </a:solidFill>
              </a:rPr>
              <a:t>Neither column is a verdict; the right trade-off depends on a team's operations capacity, compliance needs, and how fast it must ship.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WHERE TO GO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From trade-offs to an actual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Next in this phase:</a:t>
            </a:r>
            <a:r>
              <a:rPr sz="1400">
                <a:solidFill>
                  <a:srgbClr val="6B7280"/>
                </a:solidFill>
              </a:rPr>
              <a:t>  9.6, which turns these dimensions into a decision framework.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specific products this applies to:</a:t>
            </a:r>
            <a:r>
              <a:rPr sz="1400">
                <a:solidFill>
                  <a:srgbClr val="6B7280"/>
                </a:solidFill>
              </a:rPr>
              <a:t>  9.2 (frameworks) and 9.3 (cloud platforms).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Implementation depth:</a:t>
            </a:r>
            <a:r>
              <a:rPr sz="1400">
                <a:solidFill>
                  <a:srgbClr val="6B7280"/>
                </a:solidFill>
              </a:rPr>
              <a:t>  Phase 12 for frameworks and protocols; Phase 14 then Phase 15 for platforms and platform decisions.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What this trade-off is choosing how to build:</a:t>
            </a:r>
            <a:r>
              <a:rPr sz="1400">
                <a:solidFill>
                  <a:srgbClr val="6B7280"/>
                </a:solidFill>
              </a:rPr>
              <a:t>  Chapter 8.10's Single-Agent Reference Architecture Blueprint.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