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2D3D"/>
                </a:solidFill>
              </a:rPr>
              <a:t>Why an Ecosystem</a:t>
            </a:r>
          </a:p>
          <a:p>
            <a:pPr>
              <a:spcBef>
                <a:spcPts val="1000"/>
              </a:spcBef>
            </a:pPr>
            <a:r>
              <a:rPr sz="3000">
                <a:solidFill>
                  <a:srgbClr val="5B8FC9"/>
                </a:solidFill>
              </a:rPr>
              <a:t>Landscape Chapter?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B7280"/>
                </a:solidFill>
              </a:rPr>
              <a:t>CHAPTER 9.1  ·  PHASE 9: AGENTIC FRAMEWORKS LANDSCAPE  ·  HL SURVEY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8FC9"/>
                </a:solidFill>
              </a:rPr>
              <a:t>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2D3D"/>
                </a:solidFill>
              </a:rPr>
              <a:t>A map of the tools, not a tutorial in any of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700">
                <a:solidFill>
                  <a:srgbClr val="1F2D3D"/>
                </a:solidFill>
              </a:rPr>
              <a:t>•  Phase 8 built one agent;</a:t>
            </a:r>
            <a:r>
              <a:rPr sz="1500">
                <a:solidFill>
                  <a:srgbClr val="6B7280"/>
                </a:solidFill>
              </a:rPr>
              <a:t>  Phase 9 does not build anything, it maps what people reach for to implement that blueprint.</a:t>
            </a:r>
          </a:p>
          <a:p>
            <a:pPr>
              <a:spcAft>
                <a:spcPts val="1400"/>
              </a:spcAft>
            </a:pPr>
            <a:r>
              <a:rPr b="1" sz="1700">
                <a:solidFill>
                  <a:srgbClr val="1F2D3D"/>
                </a:solidFill>
              </a:rPr>
              <a:t>•  Three categories:</a:t>
            </a:r>
            <a:r>
              <a:rPr sz="1500">
                <a:solidFill>
                  <a:srgbClr val="6B7280"/>
                </a:solidFill>
              </a:rPr>
              <a:t>  frameworks, cloud platforms, and interoperability protocols, each covered in its own chapter.</a:t>
            </a:r>
          </a:p>
          <a:p>
            <a:pPr>
              <a:spcAft>
                <a:spcPts val="1400"/>
              </a:spcAft>
            </a:pPr>
            <a:r>
              <a:rPr b="1" sz="1700">
                <a:solidFill>
                  <a:srgbClr val="1F2D3D"/>
                </a:solidFill>
              </a:rPr>
              <a:t>•  Deliberately shallow:</a:t>
            </a:r>
            <a:r>
              <a:rPr sz="1500">
                <a:solidFill>
                  <a:srgbClr val="6B7280"/>
                </a:solidFill>
              </a:rPr>
              <a:t>  every chapter in this phase stops at the same depth on purpose, pointing onward rather than teaching.</a:t>
            </a:r>
          </a:p>
          <a:p>
            <a:pPr>
              <a:spcAft>
                <a:spcPts val="1400"/>
              </a:spcAft>
            </a:pPr>
            <a:r>
              <a:rPr b="1" sz="1700">
                <a:solidFill>
                  <a:srgbClr val="1F2D3D"/>
                </a:solidFill>
              </a:rPr>
              <a:t>•  Where the depth lives:</a:t>
            </a:r>
            <a:r>
              <a:rPr sz="1500">
                <a:solidFill>
                  <a:srgbClr val="6B7280"/>
                </a:solidFill>
              </a:rPr>
              <a:t>  Phase 12 for frameworks and protocols; Phase 14 then Phase 15 for cloud platforms.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8FC9"/>
                </a:solidFill>
              </a:rPr>
              <a:t>HIGH-LEVEL EXPLANATION · 1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2D3D"/>
                </a:solidFill>
              </a:rPr>
              <a:t>A fast-moving ecosystem, three examples from the last nine months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F2D3D"/>
                </a:solidFill>
              </a:rPr>
              <a:t>•  OpenAI's Assistants API</a:t>
            </a:r>
            <a:r>
              <a:rPr sz="1400">
                <a:solidFill>
                  <a:srgbClr val="6B7280"/>
                </a:solidFill>
              </a:rPr>
              <a:t>  reached its full shutdown on August 26, 2026; the Responses and Conversations APIs are the named successor, not a wholesale move to the Agents SDK.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F2D3D"/>
                </a:solidFill>
              </a:rPr>
              <a:t>•  The Agentic AI Foundation (AAIF)</a:t>
            </a:r>
            <a:r>
              <a:rPr sz="1400">
                <a:solidFill>
                  <a:srgbClr val="6B7280"/>
                </a:solidFill>
              </a:rPr>
              <a:t>  was formed by the Linux Foundation in December 2025 to govern Model Context Protocol, Block's goose, and OpenAI's AGENTS.md collaboratively.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F2D3D"/>
                </a:solidFill>
              </a:rPr>
              <a:t>•  Google's Agent2Agent protocol,</a:t>
            </a:r>
            <a:r>
              <a:rPr sz="1400">
                <a:solidFill>
                  <a:srgbClr val="6B7280"/>
                </a:solidFill>
              </a:rPr>
              <a:t>  originally a single-vendor standard announced in 2025, has since joined that same neutral foundation alongside MCP.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F2D3D"/>
                </a:solidFill>
              </a:rPr>
              <a:t>•  The takeaway:</a:t>
            </a:r>
            <a:r>
              <a:rPr sz="1400">
                <a:solidFill>
                  <a:srgbClr val="6B7280"/>
                </a:solidFill>
              </a:rPr>
              <a:t>  a survey written even a year ago would already misname half its subjects, which is why this phase is scoped narrowly and re-verified on the ecosystem's own cadence.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8FC9"/>
                </a:solidFill>
              </a:rPr>
              <a:t>HIGH-LEVEL EXPLANATION · 2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2D3D"/>
                </a:solidFill>
              </a:rPr>
              <a:t>Three categories: framework, platform,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F2D3D"/>
                </a:solidFill>
              </a:rPr>
              <a:t>•  Framework:</a:t>
            </a:r>
            <a:r>
              <a:rPr sz="1400">
                <a:solidFill>
                  <a:srgbClr val="6B7280"/>
                </a:solidFill>
              </a:rPr>
              <a:t>  a library or SDK a developer writes code against (LangGraph, CrewAI, OpenAI's Agents SDK), not a service running anywhere.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F2D3D"/>
                </a:solidFill>
              </a:rPr>
              <a:t>•  Platform:</a:t>
            </a:r>
            <a:r>
              <a:rPr sz="1400">
                <a:solidFill>
                  <a:srgbClr val="6B7280"/>
                </a:solidFill>
              </a:rPr>
              <a:t>  a hosted, managed product a cloud vendor operates for you (Amazon Bedrock AgentCore, Microsoft Foundry Agent Service).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F2D3D"/>
                </a:solidFill>
              </a:rPr>
              <a:t>•  Protocol:</a:t>
            </a:r>
            <a:r>
              <a:rPr sz="1400">
                <a:solidFill>
                  <a:srgbClr val="6B7280"/>
                </a:solidFill>
              </a:rPr>
              <a:t>  a wire-format specification letting independently built systems interoperate (Model Context Protocol, Agent2Agent), the same role HTTP plays for browsers and servers.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F2D3D"/>
                </a:solidFill>
              </a:rPr>
              <a:t>•  None replaces the blueprint:</a:t>
            </a:r>
            <a:r>
              <a:rPr sz="1400">
                <a:solidFill>
                  <a:srgbClr val="6B7280"/>
                </a:solidFill>
              </a:rPr>
              <a:t>  a framework, platform, or protocol is a different way to build, run, or connect Chapter 8.10's six-layer stack, not a different blueprint to learn.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8FC9"/>
                </a:solidFill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2D3D"/>
                </a:solidFill>
              </a:rPr>
              <a:t>Three layers of the same ecosystem, not three competing choices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5344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Framework</a:t>
                      </a:r>
                    </a:p>
                  </a:txBody>
                  <a:tcPr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Protocol</a:t>
                      </a:r>
                    </a:p>
                  </a:txBody>
                  <a:tcPr>
                    <a:solidFill>
                      <a:srgbClr val="1F2D3D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What you interact with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A library or SDK you import and code against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A hosted console, API, and managed 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A wire-format spec other systems implement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Who controls its roadmap</a:t>
                      </a:r>
                    </a:p>
                  </a:txBody>
                  <a:tcPr>
                    <a:solidFill>
                      <a:srgbClr val="EDE4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An open-source maintainer or vendor SDK team</a:t>
                      </a:r>
                    </a:p>
                  </a:txBody>
                  <a:tcPr>
                    <a:solidFill>
                      <a:srgbClr val="EDE4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The cloud vendor operating the service</a:t>
                      </a:r>
                    </a:p>
                  </a:txBody>
                  <a:tcPr>
                    <a:solidFill>
                      <a:srgbClr val="EDE4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A standards body or foundation</a:t>
                      </a:r>
                    </a:p>
                  </a:txBody>
                  <a:tcPr>
                    <a:solidFill>
                      <a:srgbClr val="EDE4D3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Where it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Wherever you deploy your own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The vendor's own infrastructure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Anywhere either side implements the spec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Representative example</a:t>
                      </a:r>
                    </a:p>
                  </a:txBody>
                  <a:tcPr>
                    <a:solidFill>
                      <a:srgbClr val="EDE4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LangGraph, CrewAI, OpenAI Agents SDK</a:t>
                      </a:r>
                    </a:p>
                  </a:txBody>
                  <a:tcPr>
                    <a:solidFill>
                      <a:srgbClr val="EDE4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Amazon Bedrock AgentCore, MS Foundry Agent Service</a:t>
                      </a:r>
                    </a:p>
                  </a:txBody>
                  <a:tcPr>
                    <a:solidFill>
                      <a:srgbClr val="EDE4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Model Context Protocol, Agent2Agent</a:t>
                      </a:r>
                    </a:p>
                  </a:txBody>
                  <a:tcPr>
                    <a:solidFill>
                      <a:srgbClr val="EDE4D3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What switching costs you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A rewrite of your orchestration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A migration off the vendor's infrastructure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D3D"/>
                          </a:solidFill>
                        </a:rPr>
                        <a:t>Nothing, if both sides implement the spec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7280"/>
                </a:solidFill>
              </a:rPr>
              <a:t>A single project often uses a framework running on a platform that speaks a protocol to the outside world.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8FC9"/>
                </a:solidFill>
              </a:rPr>
              <a:t>WHERE TO GO DEEPER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2D3D"/>
                </a:solidFill>
              </a:rPr>
              <a:t>This phase, next, and beyond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700">
                <a:solidFill>
                  <a:srgbClr val="1F2D3D"/>
                </a:solidFill>
              </a:rPr>
              <a:t>•  Next in this phase:</a:t>
            </a:r>
            <a:r>
              <a:rPr sz="1500">
                <a:solidFill>
                  <a:srgbClr val="6B7280"/>
                </a:solidFill>
              </a:rPr>
              <a:t>  9.2 surveys frameworks, 9.3 surveys platforms, 9.4 surveys protocols.</a:t>
            </a:r>
          </a:p>
          <a:p>
            <a:pPr>
              <a:spcAft>
                <a:spcPts val="1400"/>
              </a:spcAft>
            </a:pPr>
            <a:r>
              <a:rPr b="1" sz="1700">
                <a:solidFill>
                  <a:srgbClr val="1F2D3D"/>
                </a:solidFill>
              </a:rPr>
              <a:t>•  Choosing among them:</a:t>
            </a:r>
            <a:r>
              <a:rPr sz="1500">
                <a:solidFill>
                  <a:srgbClr val="6B7280"/>
                </a:solidFill>
              </a:rPr>
              <a:t>  9.5 and 9.6, later in this phase, once all three categories are on the table.</a:t>
            </a:r>
          </a:p>
          <a:p>
            <a:pPr>
              <a:spcAft>
                <a:spcPts val="1400"/>
              </a:spcAft>
            </a:pPr>
            <a:r>
              <a:rPr b="1" sz="1700">
                <a:solidFill>
                  <a:srgbClr val="1F2D3D"/>
                </a:solidFill>
              </a:rPr>
              <a:t>•  Implementation depth:</a:t>
            </a:r>
            <a:r>
              <a:rPr sz="1500">
                <a:solidFill>
                  <a:srgbClr val="6B7280"/>
                </a:solidFill>
              </a:rPr>
              <a:t>  Phase 12 for frameworks and protocols; Phase 14 then Phase 15 for cloud platforms.</a:t>
            </a:r>
          </a:p>
          <a:p>
            <a:pPr>
              <a:spcAft>
                <a:spcPts val="1400"/>
              </a:spcAft>
            </a:pPr>
            <a:r>
              <a:rPr b="1" sz="1700">
                <a:solidFill>
                  <a:srgbClr val="1F2D3D"/>
                </a:solidFill>
              </a:rPr>
              <a:t>•  What any of them is wiring together:</a:t>
            </a:r>
            <a:r>
              <a:rPr sz="1500">
                <a:solidFill>
                  <a:srgbClr val="6B7280"/>
                </a:solidFill>
              </a:rPr>
              <a:t>  Chapter 8.10's Single-Agent Reference Architecture Blueprint.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