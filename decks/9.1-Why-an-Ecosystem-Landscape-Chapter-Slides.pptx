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Why an Ecosystem</a:t>
            </a:r>
          </a:p>
          <a:p>
            <a:pPr>
              <a:spcBef>
                <a:spcPts val="1000"/>
              </a:spcBef>
            </a:pPr>
            <a:r>
              <a:rPr sz="3000">
                <a:solidFill>
                  <a:srgbClr val="5B8FC9"/>
                </a:solidFill>
              </a:rPr>
              <a:t>Landscape Chapter?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9.1  ·  PHASE 9: AGENTIC FRAMEWORKS LANDSCAPE  ·  HL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A map of the tools, not a tutorial in any of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Phase 8 built one agent;</a:t>
            </a:r>
            <a:r>
              <a:rPr sz="1500">
                <a:solidFill>
                  <a:srgbClr val="6B7280"/>
                </a:solidFill>
              </a:rPr>
              <a:t>  Phase 9 does not build anything, it maps what people reach for to implement that blueprint.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Three categories:</a:t>
            </a:r>
            <a:r>
              <a:rPr sz="1500">
                <a:solidFill>
                  <a:srgbClr val="6B7280"/>
                </a:solidFill>
              </a:rPr>
              <a:t>  frameworks, cloud platforms, and interoperability protocols, each covered in its own chapter.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Deliberately shallow:</a:t>
            </a:r>
            <a:r>
              <a:rPr sz="1500">
                <a:solidFill>
                  <a:srgbClr val="6B7280"/>
                </a:solidFill>
              </a:rPr>
              <a:t>  every chapter in this phase stops at the same depth on purpose, pointing onward rather than teaching.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Where the depth lives:</a:t>
            </a:r>
            <a:r>
              <a:rPr sz="1500">
                <a:solidFill>
                  <a:srgbClr val="6B7280"/>
                </a:solidFill>
              </a:rPr>
              <a:t>  Phase 12 for frameworks and protocols; Phase 14 then Phase 15 for cloud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A fast-moving ecosystem, three examples from the last nine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OpenAI's Assistants API</a:t>
            </a:r>
            <a:r>
              <a:rPr sz="1400">
                <a:solidFill>
                  <a:srgbClr val="6B7280"/>
                </a:solidFill>
              </a:rPr>
              <a:t>  reached its full shutdown on August 26, 2026; the Responses and Conversations APIs are the named successor, not a wholesale move to the Agents SDK.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Agentic AI Foundation (AAIF)</a:t>
            </a:r>
            <a:r>
              <a:rPr sz="1400">
                <a:solidFill>
                  <a:srgbClr val="6B7280"/>
                </a:solidFill>
              </a:rPr>
              <a:t>  was formed by the Linux Foundation in December 2025 to govern Model Context Protocol, Block's goose, and OpenAI's AGENTS.md collaboratively.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Google's Agent2Agent protocol,</a:t>
            </a:r>
            <a:r>
              <a:rPr sz="1400">
                <a:solidFill>
                  <a:srgbClr val="6B7280"/>
                </a:solidFill>
              </a:rPr>
              <a:t>  originally a single-vendor standard announced in 2025, has since joined that same neutral foundation alongside MCP.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takeaway:</a:t>
            </a:r>
            <a:r>
              <a:rPr sz="1400">
                <a:solidFill>
                  <a:srgbClr val="6B7280"/>
                </a:solidFill>
              </a:rPr>
              <a:t>  a survey written even a year ago would already misname half its subjects, which is why this phase is scoped narrowly and re-verified on the ecosystem's own cadence.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Three categories: framework, platform,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Framework:</a:t>
            </a:r>
            <a:r>
              <a:rPr sz="1400">
                <a:solidFill>
                  <a:srgbClr val="6B7280"/>
                </a:solidFill>
              </a:rPr>
              <a:t>  a library or SDK a developer writes code against (LangGraph, CrewAI, OpenAI's Agents SDK), not a service running anywhere.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Platform:</a:t>
            </a:r>
            <a:r>
              <a:rPr sz="1400">
                <a:solidFill>
                  <a:srgbClr val="6B7280"/>
                </a:solidFill>
              </a:rPr>
              <a:t>  a hosted, managed product a cloud vendor operates for you (AWS Bedrock Agents, Azure AI Foundry Agent Service).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Protocol:</a:t>
            </a:r>
            <a:r>
              <a:rPr sz="1400">
                <a:solidFill>
                  <a:srgbClr val="6B7280"/>
                </a:solidFill>
              </a:rPr>
              <a:t>  a wire-format specification letting independently built systems interoperate (Model Context Protocol, Agent2Agent), the same role HTTP plays for browsers and servers.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None replaces the blueprint:</a:t>
            </a:r>
            <a:r>
              <a:rPr sz="1400">
                <a:solidFill>
                  <a:srgbClr val="6B7280"/>
                </a:solidFill>
              </a:rPr>
              <a:t>  a framework, platform, or protocol is a different way to build, run, or connect Chapter 8.10's six-layer stack, not a different blueprint to learn.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Three layers of the same ecosystem, not three competing choices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534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Framework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What you interact with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 library or SDK you import and code against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 hosted console, API, and managed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 wire-format spec other systems implement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Who controls its roadmap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An open-source maintainer or vendor SDK team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The cloud vendor operating the service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 standards body or foundation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Where it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Wherever you deploy your own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The vendor's own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Anywhere either side implements the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Representative example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LangGraph, CrewAI, OpenAI Agents SDK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AWS Bedrock Agents, Azure AI Foundry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Model Context Protocol, Agent2Agent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What switching costs you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 rewrite of your orchestration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 migration off the vendor's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Nothing, if both sides implement the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7280"/>
                </a:solidFill>
              </a:rPr>
              <a:t>A single project often uses a framework running on a platform that speaks a protocol to the outside world.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WHERE TO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This phase, next, and beyond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Next in this phase:</a:t>
            </a:r>
            <a:r>
              <a:rPr sz="1500">
                <a:solidFill>
                  <a:srgbClr val="6B7280"/>
                </a:solidFill>
              </a:rPr>
              <a:t>  9.2 surveys frameworks, 9.3 surveys platforms, 9.4 surveys protocols.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Choosing among them:</a:t>
            </a:r>
            <a:r>
              <a:rPr sz="1500">
                <a:solidFill>
                  <a:srgbClr val="6B7280"/>
                </a:solidFill>
              </a:rPr>
              <a:t>  9.5 and 9.6, later in this phase, once all three categories are on the table.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Implementation depth:</a:t>
            </a:r>
            <a:r>
              <a:rPr sz="1500">
                <a:solidFill>
                  <a:srgbClr val="6B7280"/>
                </a:solidFill>
              </a:rPr>
              <a:t>  Phase 12 for frameworks and protocols; Phase 14 then Phase 15 for cloud platforms.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What any of them is wiring together:</a:t>
            </a:r>
            <a:r>
              <a:rPr sz="1500">
                <a:solidFill>
                  <a:srgbClr val="6B7280"/>
                </a:solidFill>
              </a:rPr>
              <a:t>  Chapter 8.10's Single-Agent Reference Architecture Blueprint.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