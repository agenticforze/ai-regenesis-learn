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2D3D"/>
                </a:solidFill>
              </a:rPr>
              <a:t>Anatomy of an LLM Agent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5B8FC9"/>
                </a:solidFill>
              </a:rPr>
              <a:t>Perception, Reasoning, Memory, Action,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8.2  ·  PHASE 8: AI AGENTS —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 /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One decide box, five separable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8.1 decide box is not monolithic.</a:t>
            </a:r>
            <a:r>
              <a:rPr sz="1500">
                <a:solidFill>
                  <a:srgbClr val="6B7280"/>
                </a:solidFill>
              </a:rPr>
              <a:t>  It's five parts: perception, reasoning, memory, action, tools.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Perception and action are not new.</a:t>
            </a:r>
            <a:r>
              <a:rPr sz="1500">
                <a:solidFill>
                  <a:srgbClr val="6B7280"/>
                </a:solidFill>
              </a:rPr>
              <a:t>  They're 8.1's sensors and actuators, wearing new names.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Reasoning, memory, and tools are where an LLM changes things.</a:t>
            </a:r>
            <a:r>
              <a:rPr sz="1500">
                <a:solidFill>
                  <a:srgbClr val="6B7280"/>
                </a:solidFill>
              </a:rPr>
              <a:t>  This is where an LLM agent's internals stop resembling a classical agent's.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This chapter maps all five.</a:t>
            </a:r>
            <a:r>
              <a:rPr sz="1500">
                <a:solidFill>
                  <a:srgbClr val="6B7280"/>
                </a:solidFill>
              </a:rPr>
              <a:t>  Depth on each is deferred: memory (8.5), tools (8.4), reasoning strategies (8.7), the loop (8.3).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Five parts inside one decide box</a:t>
            </a:r>
          </a:p>
        </p:txBody>
      </p:sp>
      <p:pic>
        <p:nvPicPr>
          <p:cNvPr id="5" name="Picture 4" descr="8-2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371600"/>
            <a:ext cx="9601200" cy="38158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Perception: What Goes Into the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only channel:</a:t>
            </a:r>
            <a:r>
              <a:rPr sz="1500">
                <a:solidFill>
                  <a:srgbClr val="6B7280"/>
                </a:solidFill>
              </a:rPr>
              <a:t>  whatever text (or image, for multimodal models) is in the context window right now.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A selection problem:</a:t>
            </a:r>
            <a:r>
              <a:rPr sz="1500">
                <a:solidFill>
                  <a:srgbClr val="6B7280"/>
                </a:solidFill>
              </a:rPr>
              <a:t>  the window is finite, so deciding what to leave out matters as much as what to include.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Usually a pipeline:</a:t>
            </a:r>
            <a:r>
              <a:rPr sz="1500">
                <a:solidFill>
                  <a:srgbClr val="6B7280"/>
                </a:solidFill>
              </a:rPr>
              <a:t>  system prompt + retrieved docs + conversation history + prior tool results, assembled before reasoning ever runs.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Position matters:</a:t>
            </a:r>
            <a:r>
              <a:rPr sz="1500">
                <a:solidFill>
                  <a:srgbClr val="6B7280"/>
                </a:solidFill>
              </a:rPr>
              <a:t>  where something sits in a long context is not free of consequence for how much weight it 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Reasoning: The LLM as Decide's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Replaces hand-coded logic:</a:t>
            </a:r>
            <a:r>
              <a:rPr sz="1500">
                <a:solidFill>
                  <a:srgbClr val="6B7280"/>
                </a:solidFill>
              </a:rPr>
              <a:t>  the LLM reasons in natural language instead of executing a rule table or planner.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Wei et al.:</a:t>
            </a:r>
            <a:r>
              <a:rPr sz="1500">
                <a:solidFill>
                  <a:srgbClr val="6B7280"/>
                </a:solidFill>
              </a:rPr>
              <a:t>  "a series of intermediate reasoning steps" can significantly improve complex reasoning, one technique among several.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Output shape varies:</a:t>
            </a:r>
            <a:r>
              <a:rPr sz="1500">
                <a:solidFill>
                  <a:srgbClr val="6B7280"/>
                </a:solidFill>
              </a:rPr>
              <a:t>  a final answer, or just a stated intent that action still has to translate into something executable.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Not always one pass:</a:t>
            </a:r>
            <a:r>
              <a:rPr sz="1500">
                <a:solidFill>
                  <a:srgbClr val="6B7280"/>
                </a:solidFill>
              </a:rPr>
              <a:t>  multiple LLM calls chained together, with perception/action/tools interleaved, is Chapter 8.3's agent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Memory: Short-Term vs. Long-Term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Short-term:</a:t>
            </a:r>
            <a:r>
              <a:rPr sz="1400">
                <a:solidFill>
                  <a:srgbClr val="6B7280"/>
                </a:solidFill>
              </a:rPr>
              <a:t>  the context window itself, fast but bounded in size and lifetime.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Long-term:</a:t>
            </a:r>
            <a:r>
              <a:rPr sz="1400">
                <a:solidFill>
                  <a:srgbClr val="6B7280"/>
                </a:solidFill>
              </a:rPr>
              <a:t>  external storage, unbounded but needs a retrieval step to reach reasoning at all.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MemGPT (Packer et al.):</a:t>
            </a:r>
            <a:r>
              <a:rPr sz="1400">
                <a:solidFill>
                  <a:srgbClr val="6B7280"/>
                </a:solidFill>
              </a:rPr>
              <a:t>  borrows OS virtual-memory paging, treating the context window like scarce main memory.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Generative Agents (Park et al.):</a:t>
            </a:r>
            <a:r>
              <a:rPr sz="1400">
                <a:solidFill>
                  <a:srgbClr val="6B7280"/>
                </a:solidFill>
              </a:rPr>
              <a:t>  "the memory stream maintains a comprehensive record," retrieved and synthesized into reflections.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Naive full-history memory degrades:</a:t>
            </a:r>
            <a:r>
              <a:rPr sz="1400">
                <a:solidFill>
                  <a:srgbClr val="6B7280"/>
                </a:solidFill>
              </a:rPr>
              <a:t>  it eventually exceeds the window, and buries what matters well before that.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Action: From a Decision to an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gap:</a:t>
            </a:r>
            <a:r>
              <a:rPr sz="1500">
                <a:solidFill>
                  <a:srgbClr val="6B7280"/>
                </a:solidFill>
              </a:rPr>
              <a:t>  reasoning's raw output is just more text, not a valid function call or database write.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Action translates:</a:t>
            </a:r>
            <a:r>
              <a:rPr sz="1500">
                <a:solidFill>
                  <a:srgbClr val="6B7280"/>
                </a:solidFill>
              </a:rPr>
              <a:t>  a stated intent into a specific, structured, executable call.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Same actuator-scoping risk as 8.1:</a:t>
            </a:r>
            <a:r>
              <a:rPr sz="1500">
                <a:solidFill>
                  <a:srgbClr val="6B7280"/>
                </a:solidFill>
              </a:rPr>
              <a:t>  action is where a designer decides which stated intentions are actually permitted to become real effects.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A natural checkpoint:</a:t>
            </a:r>
            <a:r>
              <a:rPr sz="1500">
                <a:solidFill>
                  <a:srgbClr val="6B7280"/>
                </a:solidFill>
              </a:rPr>
              <a:t>  validation, confirmation, or a human-in-the-loop gate (Chapter 10.6) belongs here, the last reversible moment.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Tools: Actuators an LLM Doesn't Have By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By itself, an LLM only generates text.</a:t>
            </a:r>
            <a:r>
              <a:rPr sz="1500">
                <a:solidFill>
                  <a:srgbClr val="6B7280"/>
                </a:solidFill>
              </a:rPr>
              <a:t>  Tools are callable functions action can invoke to get a real effect.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Toolformer (Schick et al.):</a:t>
            </a:r>
            <a:r>
              <a:rPr sz="1500">
                <a:solidFill>
                  <a:srgbClr val="6B7280"/>
                </a:solidFill>
              </a:rPr>
              <a:t>  "decide which APIs to call, when to call them, what arguments to pass," combining reasoning with precision.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Needs three things:</a:t>
            </a:r>
            <a:r>
              <a:rPr sz="1500">
                <a:solidFill>
                  <a:srgbClr val="6B7280"/>
                </a:solidFill>
              </a:rPr>
              <a:t>  a name, a description reasoning uses to decide when to reach for it, and an argument schema.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A loop within the loop:</a:t>
            </a:r>
            <a:r>
              <a:rPr sz="1500">
                <a:solidFill>
                  <a:srgbClr val="6B7280"/>
                </a:solidFill>
              </a:rPr>
              <a:t>  a tool's return value usually becomes next turn's perception, not just an effect and nothing else.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Classical implementation vs. LLM-based implementation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686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Classical (8.1)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LLM-based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What's genuinely different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Perception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Hand-coded sensors, fixed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Context assembly: text (+ images)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One unified channel, no new sensor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Reasoning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Rule engine / planner / utility fn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The LLM, optionally multi-step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Generalizes, but no formal guarantees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Explicit tracked internal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Context window + external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Far larger, but needs retrieval to reach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Executes the planner's choice directly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Translates natural language into a call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Needs a validation layer reasoning's output lacks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Actuators wired into fixed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Callable functions, selected at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Extensible by adding a definition, not rewriting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The five components, wired into one turn</a:t>
            </a:r>
          </a:p>
        </p:txBody>
      </p:sp>
      <p:pic>
        <p:nvPicPr>
          <p:cNvPr id="5" name="Picture 4" descr="refarch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120640" cy="51948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Perception</a:t>
            </a:r>
            <a:r>
              <a:rPr sz="1400">
                <a:solidFill>
                  <a:srgbClr val="6B7280"/>
                </a:solidFill>
              </a:rPr>
              <a:t>: selects and formats environment state into context.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Memory</a:t>
            </a:r>
            <a:r>
              <a:rPr sz="1400">
                <a:solidFill>
                  <a:srgbClr val="6B7280"/>
                </a:solidFill>
              </a:rPr>
              <a:t>: read/write side channel to reasoning, not a pass-through stage.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Reasoning</a:t>
            </a:r>
            <a:r>
              <a:rPr sz="1400">
                <a:solidFill>
                  <a:srgbClr val="6B7280"/>
                </a:solidFill>
              </a:rPr>
              <a:t>: the LLM, working over context plus retrieved memory.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Action</a:t>
            </a:r>
            <a:r>
              <a:rPr sz="1400">
                <a:solidFill>
                  <a:srgbClr val="6B7280"/>
                </a:solidFill>
              </a:rPr>
              <a:t>: translates reasoning's decision into a validated, executable call.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Tools</a:t>
            </a:r>
            <a:r>
              <a:rPr sz="1400">
                <a:solidFill>
                  <a:srgbClr val="6B7280"/>
                </a:solidFill>
              </a:rPr>
              <a:t>: what action actually invokes to produce a real effect.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minimal agent with all five parts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Memory + tools:</a:t>
            </a:r>
            <a:r>
              <a:rPr sz="1400">
                <a:solidFill>
                  <a:srgbClr val="6B7280"/>
                </a:solidFill>
              </a:rPr>
              <a:t>  a plain list (notes), plus save_note and recall_notes as the only ways to touch it.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Perception:</a:t>
            </a:r>
            <a:r>
              <a:rPr sz="1400">
                <a:solidFill>
                  <a:srgbClr val="6B7280"/>
                </a:solidFill>
              </a:rPr>
              <a:t>  wraps the raw user text into a percept dict.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Reasoning:</a:t>
            </a:r>
            <a:r>
              <a:rPr sz="1400">
                <a:solidFill>
                  <a:srgbClr val="6B7280"/>
                </a:solidFill>
              </a:rPr>
              <a:t>  flan-t5-small classifies the request as SAVE or RECALL, same pattern as 8.1's thermostat.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Action:</a:t>
            </a:r>
            <a:r>
              <a:rPr sz="1400">
                <a:solidFill>
                  <a:srgbClr val="6B7280"/>
                </a:solidFill>
              </a:rPr>
              <a:t>  turns that one-word decision into the actual save_note/recall_notes call, stripping a leading phrase like "remember that" first.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Verified:</a:t>
            </a:r>
            <a:r>
              <a:rPr sz="1400">
                <a:solidFill>
                  <a:srgbClr val="6B7280"/>
                </a:solidFill>
              </a:rPr>
              <a:t>  the deterministic parts (memory, tools, perceive, act) were run end-to-end; two saves followed by two recalls return exactly the right notes, and an unmatched query correctly returns nothing rather than dumping everything.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