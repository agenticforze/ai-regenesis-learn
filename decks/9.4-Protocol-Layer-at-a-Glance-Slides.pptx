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D3D"/>
                </a:solidFill>
              </a:rPr>
              <a:t>Protocol Layer at a Glance</a:t>
            </a:r>
          </a:p>
          <a:p>
            <a:pPr>
              <a:spcBef>
                <a:spcPts val="1000"/>
              </a:spcBef>
            </a:pPr>
            <a:r>
              <a:rPr sz="2800">
                <a:solidFill>
                  <a:srgbClr val="5B8FC9"/>
                </a:solidFill>
              </a:rPr>
              <a:t>MCP and A2A in One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7280"/>
                </a:solidFill>
              </a:rPr>
              <a:t>CHAPTER 9.4  ·  PHASE 9: AGENTIC FRAMEWORKS LANDSCAPE  ·  HL SURVEY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TL;DR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Two protocols, two different jobs, one shared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MCP:</a:t>
            </a:r>
            <a:r>
              <a:rPr sz="1500">
                <a:solidFill>
                  <a:srgbClr val="6B7280"/>
                </a:solidFill>
              </a:rPr>
              <a:t>  connects one agent to the tools and data it needs (agent-to-tool).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A2A:</a:t>
            </a:r>
            <a:r>
              <a:rPr sz="1500">
                <a:solidFill>
                  <a:srgbClr val="6B7280"/>
                </a:solidFill>
              </a:rPr>
              <a:t>  connects independently built agents to each other (agent-to-agent).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Both started under one vendor:</a:t>
            </a:r>
            <a:r>
              <a:rPr sz="1500">
                <a:solidFill>
                  <a:srgbClr val="6B7280"/>
                </a:solidFill>
              </a:rPr>
              <a:t>  Anthropic for MCP, Google for A2A; both now sit under the same neutral foundation.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This chapter names them;</a:t>
            </a:r>
            <a:r>
              <a:rPr sz="1500">
                <a:solidFill>
                  <a:srgbClr val="6B7280"/>
                </a:solidFill>
              </a:rPr>
              <a:t>  Phase 12 is where you implement either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HIGH-LEVEL EXPLANATION ·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MCP: a standard port for tools and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Model Context Protocol:</a:t>
            </a:r>
            <a:r>
              <a:rPr sz="1300">
                <a:solidFill>
                  <a:srgbClr val="6B7280"/>
                </a:solidFill>
              </a:rPr>
              <a:t>  released by Anthropic, November 2024. Its docs now describe it as "an open-source standard for connecting AI applications to external systems."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analogy:</a:t>
            </a:r>
            <a:r>
              <a:rPr sz="1300">
                <a:solidFill>
                  <a:srgbClr val="6B7280"/>
                </a:solidFill>
              </a:rPr>
              <a:t>  "think of MCP like a USB-C port for AI applications."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Architecture:</a:t>
            </a:r>
            <a:r>
              <a:rPr sz="1300">
                <a:solidFill>
                  <a:srgbClr val="6B7280"/>
                </a:solidFill>
              </a:rPr>
              <a:t>  client-server; an MCP host runs one client per server, exchanging tools, resources, and prompts over JSON-RPC.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Governance:</a:t>
            </a:r>
            <a:r>
              <a:rPr sz="1300">
                <a:solidFill>
                  <a:srgbClr val="6B7280"/>
                </a:solidFill>
              </a:rPr>
              <a:t>  donated to the Linux Foundation's Agentic AI Foundation on December 9, 2025, joining goose and AGENTS.md as founding projects; governance model stated as unchanged.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HIGH-LEVEL EXPLANATION ·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A2A: letting independently built agents work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Agent2Agent:</a:t>
            </a:r>
            <a:r>
              <a:rPr sz="1300">
                <a:solidFill>
                  <a:srgbClr val="6B7280"/>
                </a:solidFill>
              </a:rPr>
              <a:t>  announced by Google, April 2025 - "an open standard for seamless communication and collaboration between AI agents."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Donated to the Linux Foundation:</a:t>
            </a:r>
            <a:r>
              <a:rPr sz="1300">
                <a:solidFill>
                  <a:srgbClr val="6B7280"/>
                </a:solidFill>
              </a:rPr>
              <a:t>  June 23, 2025, as its own standalone project, then later joined the Agentic AI Foundation alongside MCP.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Current governance:</a:t>
            </a:r>
            <a:r>
              <a:rPr sz="1300">
                <a:solidFill>
                  <a:srgbClr val="6B7280"/>
                </a:solidFill>
              </a:rPr>
              <a:t>  a Technical Steering Committee spanning AWS, Cisco, Google, IBM Research, Microsoft, Salesforce, SAP, and ServiceNow.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Complementary, not competing:</a:t>
            </a:r>
            <a:r>
              <a:rPr sz="1300">
                <a:solidFill>
                  <a:srgbClr val="6B7280"/>
                </a:solidFill>
              </a:rPr>
              <a:t>  MCP is the vertical link to tools underneath an agent; A2A is the horizontal link to a peer agent beside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Two protocols, two different jobs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1143000"/>
          <a:ext cx="100584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8534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Model Context Protocol (MCP)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Agent2Agent (A2A)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Originating organization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Anthropic, released November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Google, announced April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What it connects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One agent to its tools, data, and prompts (agent-to-tool)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Independent agents to each other across stacks (agent-to-agent)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Current 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Linux Foundation AAIF, donated Dec 9,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Linux Foundation (Jun 2025), now also AAIF; TSC of 8 companies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Core architecture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Client-server; JSON-RPC; host runs one client per server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Peer-to-peer messaging; SDKs in Python, JS, Java, C#, Go, Rust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What it optimizes for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One standard way to reach many tools and data 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Cross-vendor agent collaboration without sharing internals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B7280"/>
                </a:solidFill>
              </a:rPr>
              <a:t>MCP and A2A are complementary layers of the same stack, not rivals, and both now sit under the same neutral foundation.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WHERE TO GO DEEPER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Implementation depth, and the governance pattern to 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Phase 12's protocol deep-dives:</a:t>
            </a:r>
            <a:r>
              <a:rPr sz="1400">
                <a:solidFill>
                  <a:srgbClr val="6B7280"/>
                </a:solidFill>
              </a:rPr>
              <a:t>  MCP's architecture in Chapter 12.6, A2A and the wider interoperability landscape in 12.7.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The governance pattern:</a:t>
            </a:r>
            <a:r>
              <a:rPr sz="1400">
                <a:solidFill>
                  <a:srgbClr val="6B7280"/>
                </a:solidFill>
              </a:rPr>
              <a:t>  9.1's Agentic AI Foundation entry, for how one protocol's foundation came to govern a second, unrelated one.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Next in this phase:</a:t>
            </a:r>
            <a:r>
              <a:rPr sz="1400">
                <a:solidFill>
                  <a:srgbClr val="6B7280"/>
                </a:solidFill>
              </a:rPr>
              <a:t>  9.5 (open-source vs. managed trade-offs).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What any of these protocols is connecting:</a:t>
            </a:r>
            <a:r>
              <a:rPr sz="1400">
                <a:solidFill>
                  <a:srgbClr val="6B7280"/>
                </a:solidFill>
              </a:rPr>
              <a:t>  Chapter 8.10's Single-Agent Reference Architecture Blueprint.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