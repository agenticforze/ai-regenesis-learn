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2D3D"/>
                </a:solidFill>
              </a:rPr>
              <a:t>The Agent Loop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5B8FC9"/>
                </a:solidFill>
              </a:rPr>
              <a:t>Plan, Act, Observe, Reflect (ReAct and Beyond)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8.3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One task, run through the loop more than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single reasoning pass commits before anything has happened.</a:t>
            </a:r>
            <a:r>
              <a:rPr sz="1400">
                <a:solidFill>
                  <a:srgbClr val="6B7280"/>
                </a:solidFill>
              </a:rPr>
              <a:t>  Step two's right move usually depends on step one's actual result.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loop: plan, act, observe, repeat.</a:t>
            </a:r>
            <a:r>
              <a:rPr sz="1400">
                <a:solidFill>
                  <a:srgbClr val="6B7280"/>
                </a:solidFill>
              </a:rPr>
              <a:t>  Reasoning runs again after every observation, not once per task.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Reflect is a separate, outer layer.</a:t>
            </a:r>
            <a:r>
              <a:rPr sz="1400">
                <a:solidFill>
                  <a:srgbClr val="6B7280"/>
                </a:solidFill>
              </a:rPr>
              <a:t>  It judges a whole finished attempt and only engages after one falls short.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results ground this in evidence.</a:t>
            </a:r>
            <a:r>
              <a:rPr sz="1400">
                <a:solidFill>
                  <a:srgbClr val="6B7280"/>
                </a:solidFill>
              </a:rPr>
              <a:t>  ReAct: interleaving beats separating. Reflexion: revising beats retrying blindly.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loop never stops on its own.</a:t>
            </a:r>
            <a:r>
              <a:rPr sz="1400">
                <a:solidFill>
                  <a:srgbClr val="6B7280"/>
                </a:solidFill>
              </a:rPr>
              <a:t>  Termination has to be built in deliberately, or it isn't there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Plan, act, observe, and reflect when it fails</a:t>
            </a:r>
          </a:p>
        </p:txBody>
      </p:sp>
      <p:pic>
        <p:nvPicPr>
          <p:cNvPr id="5" name="Picture 4" descr="8-3-the-agent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42" y="1051560"/>
            <a:ext cx="887901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Why a Single Pass Doesn't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core limit:</a:t>
            </a:r>
            <a:r>
              <a:rPr sz="1500">
                <a:solidFill>
                  <a:srgbClr val="6B7280"/>
                </a:solidFill>
              </a:rPr>
              <a:t>  a single pass commits to a full course of action before anything it decides has happened.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Plan-and-Solve (Wang et al.):</a:t>
            </a:r>
            <a:r>
              <a:rPr sz="1500">
                <a:solidFill>
                  <a:srgbClr val="6B7280"/>
                </a:solidFill>
              </a:rPr>
              <a:t>  "devising a plan to divide the entire task into smaller subtasks, and then carrying out the subtasks according to the plan."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Its inherited limit:</a:t>
            </a:r>
            <a:r>
              <a:rPr sz="1500">
                <a:solidFill>
                  <a:srgbClr val="6B7280"/>
                </a:solidFill>
              </a:rPr>
              <a:t>  the plan is fixed before any subtask runs, so a surprising result can't revise it.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loop's answer:</a:t>
            </a:r>
            <a:r>
              <a:rPr sz="1500">
                <a:solidFill>
                  <a:srgbClr val="6B7280"/>
                </a:solidFill>
              </a:rPr>
              <a:t>  commit only to the next action, execute it, then decide what comes after.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ReAct: Interleaving Reasoning and 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Yao et al.:</a:t>
            </a:r>
            <a:r>
              <a:rPr sz="1400">
                <a:solidFill>
                  <a:srgbClr val="6B7280"/>
                </a:solidFill>
              </a:rPr>
              <a:t>  "generate both reasoning traces and task-specific actions in an interleaved manner... greater synergy between the two."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On HotpotQA/FEVER:</a:t>
            </a:r>
            <a:r>
              <a:rPr sz="1400">
                <a:solidFill>
                  <a:srgbClr val="6B7280"/>
                </a:solidFill>
              </a:rPr>
              <a:t>  overcomes "issues of hallucination and error propagation prevalent in chain-of-thought reasoning."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On ALFWorld/WebShop:</a:t>
            </a:r>
            <a:r>
              <a:rPr sz="1400">
                <a:solidFill>
                  <a:srgbClr val="6B7280"/>
                </a:solidFill>
              </a:rPr>
              <a:t>  outperforms imitation and RL methods by 34% and 10% absolute success rate, with only 1-2 in-context examples.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concrete action space:</a:t>
            </a:r>
            <a:r>
              <a:rPr sz="1400">
                <a:solidFill>
                  <a:srgbClr val="6B7280"/>
                </a:solidFill>
              </a:rPr>
              <a:t>  "finish[answer], which would finish the current task with answer"; termination is just another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Observation: How the Environment Talks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mechanism, made formal:</a:t>
            </a:r>
            <a:r>
              <a:rPr sz="1400">
                <a:solidFill>
                  <a:srgbClr val="6B7280"/>
                </a:solidFill>
              </a:rPr>
              <a:t>  a tool's return value becomes the next Plan step's context (Chapter 8.2's own point, now central).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An observation isn't guaranteed to confirm the plan.</a:t>
            </a:r>
            <a:r>
              <a:rPr sz="1400">
                <a:solidFill>
                  <a:srgbClr val="6B7280"/>
                </a:solidFill>
              </a:rPr>
              <a:t>  A failed search is exactly as much an observation as a successful one.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accumulates is the whole trajectory.</a:t>
            </a:r>
            <a:r>
              <a:rPr sz="1400">
                <a:solidFill>
                  <a:srgbClr val="6B7280"/>
                </a:solidFill>
              </a:rPr>
              <a:t>  Every thought/action/observation triple so far, not just the latest one.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cost:</a:t>
            </a:r>
            <a:r>
              <a:rPr sz="1400">
                <a:solidFill>
                  <a:srgbClr val="6B7280"/>
                </a:solidFill>
              </a:rPr>
              <a:t>  an unbounded trajectory eventually exceeds the context window, and buries what matters well before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Reflection: Learning From a Failed Attempt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Shinn et al. (Reflexion):</a:t>
            </a:r>
            <a:r>
              <a:rPr sz="1400">
                <a:solidFill>
                  <a:srgbClr val="6B7280"/>
                </a:solidFill>
              </a:rPr>
              <a:t>  "verbally reflect on task feedback signals... maintain their own reflective text... to induce better decision-making in subsequent trials."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Three components:</a:t>
            </a:r>
            <a:r>
              <a:rPr sz="1400">
                <a:solidFill>
                  <a:srgbClr val="6B7280"/>
                </a:solidFill>
              </a:rPr>
              <a:t>  an Actor (the loop itself), an Evaluator that scores attempts, a Self-Reflection model that writes the lesson.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different loop, nested outside the first:</a:t>
            </a:r>
            <a:r>
              <a:rPr sz="1400">
                <a:solidFill>
                  <a:srgbClr val="6B7280"/>
                </a:solidFill>
              </a:rPr>
              <a:t>  ReAct revises within one attempt; Reflexion revises across whole attempts.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result:</a:t>
            </a:r>
            <a:r>
              <a:rPr sz="1400">
                <a:solidFill>
                  <a:srgbClr val="6B7280"/>
                </a:solidFill>
              </a:rPr>
              <a:t>  91% pass@1 on HumanEval, surpassing GPT-4's 80% baseline: same model, improved by hindsight, not new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Termination: Knowing When to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1. The model's own finish decision:</a:t>
            </a:r>
            <a:r>
              <a:rPr sz="1300">
                <a:solidFill>
                  <a:srgbClr val="6B7280"/>
                </a:solidFill>
              </a:rPr>
              <a:t>  cheapest, but only as reliable as the model's own judgment of "done."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2. A hard step limit:</a:t>
            </a:r>
            <a:r>
              <a:rPr sz="1300">
                <a:solidFill>
                  <a:srgbClr val="6B7280"/>
                </a:solidFill>
              </a:rPr>
              <a:t>  ReAct: "We set 7 and 5 steps for HotpotQA and FEVER... more steps will not improve ReAct performance."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   With a defined fallback:</a:t>
            </a:r>
            <a:r>
              <a:rPr sz="1300">
                <a:solidFill>
                  <a:srgbClr val="6B7280"/>
                </a:solidFill>
              </a:rPr>
              <a:t>  "when ReAct fails to return an answer within given steps, back off to CoT-SC"; not just stopping, but stopping usefully.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3. An external evaluator:</a:t>
            </a:r>
            <a:r>
              <a:rPr sz="1300">
                <a:solidFill>
                  <a:srgbClr val="6B7280"/>
                </a:solidFill>
              </a:rPr>
              <a:t>  most expensive, but the only one that can catch a confidently wrong finish.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 real system layers more than one.</a:t>
            </a:r>
            <a:r>
              <a:rPr sz="1300">
                <a:solidFill>
                  <a:srgbClr val="6B7280"/>
                </a:solidFill>
              </a:rPr>
              <a:t>  A step limit as backstop, finish as the common case, an evaluator where being wrong is costly.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How much is decided upfront vs. revised as you go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4241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Plan-and-Solve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ReAct-style loop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Reflexion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When the next action is decided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All subtasks planned once, upfront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Freshly, after every 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Only between whole attempts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Uses a mid-task result?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No: the plan is fixed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Yes: that's the entire mechanism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Only at the start of the next attempt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What stops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Finishing the last planned subtask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Model's finish decision, a step limit, or 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An evaluator's pass, or a trial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Right amount of machinery for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Tasks decomposable from the question alone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Tasks needing a real result before deciding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Tasks worth retrying with hindsight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The inner loop (ReAct) and the outer loop (Reflexion)</a:t>
            </a:r>
          </a:p>
        </p:txBody>
      </p:sp>
      <p:pic>
        <p:nvPicPr>
          <p:cNvPr id="5" name="Picture 4" descr="refarch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3146334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Plan</a:t>
            </a:r>
            <a:r>
              <a:rPr sz="1400">
                <a:solidFill>
                  <a:srgbClr val="6B7280"/>
                </a:solidFill>
              </a:rPr>
              <a:t>: reasoning over the full trajectory, deciding one next action.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Act</a:t>
            </a:r>
            <a:r>
              <a:rPr sz="1400">
                <a:solidFill>
                  <a:srgbClr val="6B7280"/>
                </a:solidFill>
              </a:rPr>
              <a:t>: translates the decision into a specific, executable tool call.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Observe</a:t>
            </a:r>
            <a:r>
              <a:rPr sz="1400">
                <a:solidFill>
                  <a:srgbClr val="6B7280"/>
                </a:solidFill>
              </a:rPr>
              <a:t>: folds the actual result back into the trajectory.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Check</a:t>
            </a:r>
            <a:r>
              <a:rPr sz="1400">
                <a:solidFill>
                  <a:srgbClr val="6B7280"/>
                </a:solidFill>
              </a:rPr>
              <a:t>: the termination logic: done, failed, or keep going.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Reflect</a:t>
            </a:r>
            <a:r>
              <a:rPr sz="1400">
                <a:solidFill>
                  <a:srgbClr val="6B7280"/>
                </a:solidFill>
              </a:rPr>
              <a:t>: outer-loop only: engages after a whole attempt is judged to have failed.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small loop that plans, acts, observes, reflects,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Task:</a:t>
            </a:r>
            <a:r>
              <a:rPr sz="1300">
                <a:solidFill>
                  <a:srgbClr val="6B7280"/>
                </a:solidFill>
              </a:rPr>
              <a:t>  a two-hop question: find the country a landmark is in, then that country's capital.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Deterministic Plan step:</a:t>
            </a:r>
            <a:r>
              <a:rPr sz="1300">
                <a:solidFill>
                  <a:srgbClr val="6B7280"/>
                </a:solidFill>
              </a:rPr>
              <a:t>  rule-based, not an LLM, so every decision in the trace can be verified by hand.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Run 1 (3 steps):</a:t>
            </a:r>
            <a:r>
              <a:rPr sz="1300">
                <a:solidFill>
                  <a:srgbClr val="6B7280"/>
                </a:solidFill>
              </a:rPr>
              <a:t>  clean two-hop success: search landmark, search country, finish.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Run 2 (4 steps):</a:t>
            </a:r>
            <a:r>
              <a:rPr sz="1300">
                <a:solidFill>
                  <a:srgbClr val="6B7280"/>
                </a:solidFill>
              </a:rPr>
              <a:t>  first search misses, Reflect simplifies the query, then succeeds, right at the step budget's edge.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Run 3 (4 steps, fallback):</a:t>
            </a:r>
            <a:r>
              <a:rPr sz="1300">
                <a:solidFill>
                  <a:srgbClr val="6B7280"/>
                </a:solidFill>
              </a:rPr>
              <a:t>  genuinely unanswerable question exhausts the step limit and returns an honest "not found", never a fabricated answer.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All three traces were executed and checked line by line against the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