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03120"/>
            <a:ext cx="105156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1F2D3D"/>
                </a:solidFill>
              </a:rPr>
              <a:t>Memory Systems for Agents</a:t>
            </a:r>
          </a:p>
          <a:p>
            <a:pPr>
              <a:spcBef>
                <a:spcPts val="1000"/>
              </a:spcBef>
            </a:pPr>
            <a:r>
              <a:rPr sz="2200">
                <a:solidFill>
                  <a:srgbClr val="5B8FC9"/>
                </a:solidFill>
              </a:rPr>
              <a:t>A Comparative Deep Dive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6B7280"/>
                </a:solidFill>
              </a:rPr>
              <a:t>CHAPTER 8.5  ·  PHASE 8: AI AGENTS — FOUNDATIONS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5B8FC9"/>
                </a:solidFill>
              </a:rPr>
              <a:t>TL;DR / INTUITION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2D3D"/>
                </a:solidFill>
              </a:rPr>
              <a:t>Two policies: what gets written out, what gets pulled back 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b="1" sz="1600">
                <a:solidFill>
                  <a:srgbClr val="1F2D3D"/>
                </a:solidFill>
              </a:rPr>
              <a:t>•  Every memory system answers two questions.</a:t>
            </a:r>
            <a:r>
              <a:rPr sz="1400">
                <a:solidFill>
                  <a:srgbClr val="6B7280"/>
                </a:solidFill>
              </a:rPr>
              <a:t>  What's worth writing outside the context window, and what's worth retrieving right now.</a:t>
            </a:r>
          </a:p>
          <a:p>
            <a:pPr>
              <a:spcAft>
                <a:spcPts val="1400"/>
              </a:spcAft>
            </a:pPr>
            <a:r>
              <a:rPr b="1" sz="1600">
                <a:solidFill>
                  <a:srgbClr val="1F2D3D"/>
                </a:solidFill>
              </a:rPr>
              <a:t>•  MemGPT: the model decides, via function calls.</a:t>
            </a:r>
            <a:r>
              <a:rPr sz="1400">
                <a:solidFill>
                  <a:srgbClr val="6B7280"/>
                </a:solidFill>
              </a:rPr>
              <a:t>  Virtual context management, borrowed directly from OS-style paging.</a:t>
            </a:r>
          </a:p>
          <a:p>
            <a:pPr>
              <a:spcAft>
                <a:spcPts val="1400"/>
              </a:spcAft>
            </a:pPr>
            <a:r>
              <a:rPr b="1" sz="1600">
                <a:solidFill>
                  <a:srgbClr val="1F2D3D"/>
                </a:solidFill>
              </a:rPr>
              <a:t>•  Generative Agents: a fixed pipeline decides.</a:t>
            </a:r>
            <a:r>
              <a:rPr sz="1400">
                <a:solidFill>
                  <a:srgbClr val="6B7280"/>
                </a:solidFill>
              </a:rPr>
              <a:t>  Every event is logged; a scored retrieval function does all the real work.</a:t>
            </a:r>
          </a:p>
          <a:p>
            <a:pPr>
              <a:spcAft>
                <a:spcPts val="1400"/>
              </a:spcAft>
            </a:pPr>
            <a:r>
              <a:rPr b="1" sz="1600">
                <a:solidFill>
                  <a:srgbClr val="1F2D3D"/>
                </a:solidFill>
              </a:rPr>
              <a:t>•  Neither is memory in a deeper sense.</a:t>
            </a:r>
            <a:r>
              <a:rPr sz="1400">
                <a:solidFill>
                  <a:srgbClr val="6B7280"/>
                </a:solidFill>
              </a:rPr>
              <a:t>  Both are concrete, inspectable write/retrieve policies with their own failure modes.</a:t>
            </a:r>
          </a:p>
          <a:p>
            <a:pPr>
              <a:spcAft>
                <a:spcPts val="1400"/>
              </a:spcAft>
            </a:pPr>
            <a:r>
              <a:rPr b="1" sz="1600">
                <a:solidFill>
                  <a:srgbClr val="1F2D3D"/>
                </a:solidFill>
              </a:rPr>
              <a:t>•  The differences are exactly where memory succeeds or fails.</a:t>
            </a:r>
            <a:r>
              <a:rPr sz="1400">
                <a:solidFill>
                  <a:srgbClr val="6B7280"/>
                </a:solidFill>
              </a:rPr>
              <a:t>  In practice, not in theory.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5B8FC9"/>
                </a:solidFill>
              </a:rPr>
              <a:t>HIGH-LEVEL EXPLANATION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2D3D"/>
                </a:solidFill>
              </a:rPr>
              <a:t>Two gated paths, not one memory mechanism</a:t>
            </a:r>
          </a:p>
        </p:txBody>
      </p:sp>
      <p:pic>
        <p:nvPicPr>
          <p:cNvPr id="5" name="Picture 4" descr="8-5-working-context-and-external-mem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127" y="1097280"/>
            <a:ext cx="11521440" cy="516987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5B8FC9"/>
                </a:solidFill>
              </a:rPr>
              <a:t>DEEP-DIVE · 1 OF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2D3D"/>
                </a:solidFill>
              </a:rPr>
              <a:t>Why the Context Window Forces a Memory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b="1" sz="1500">
                <a:solidFill>
                  <a:srgbClr val="1F2D3D"/>
                </a:solidFill>
              </a:rPr>
              <a:t>•  MemGPT's framing:</a:t>
            </a:r>
            <a:r>
              <a:rPr sz="1300">
                <a:solidFill>
                  <a:srgbClr val="6B7280"/>
                </a:solidFill>
              </a:rPr>
              <a:t>  "limited context windows, hindering their utility in tasks like extended conversations and document analysis."</a:t>
            </a:r>
          </a:p>
          <a:p>
            <a:pPr>
              <a:spcAft>
                <a:spcPts val="1400"/>
              </a:spcAft>
            </a:pPr>
            <a:r>
              <a:rPr b="1" sz="1500">
                <a:solidFill>
                  <a:srgbClr val="1F2D3D"/>
                </a:solidFill>
              </a:rPr>
              <a:t>•  Attention cost is quadratic.</a:t>
            </a:r>
            <a:r>
              <a:rPr sz="1300">
                <a:solidFill>
                  <a:srgbClr val="6B7280"/>
                </a:solidFill>
              </a:rPr>
              <a:t>  Widening the window makes every turn more expensive, not just the turns that need more history.</a:t>
            </a:r>
          </a:p>
          <a:p>
            <a:pPr>
              <a:spcAft>
                <a:spcPts val="1400"/>
              </a:spcAft>
            </a:pPr>
            <a:r>
              <a:rPr b="1" sz="1500">
                <a:solidFill>
                  <a:srgbClr val="1F2D3D"/>
                </a:solidFill>
              </a:rPr>
              <a:t>•  Resending full history compounds.</a:t>
            </a:r>
            <a:r>
              <a:rPr sz="1300">
                <a:solidFill>
                  <a:srgbClr val="6B7280"/>
                </a:solidFill>
              </a:rPr>
              <a:t>  A 50-turn conversation resent in full each turn processes roughly 50x its own token count in aggregate.</a:t>
            </a:r>
          </a:p>
          <a:p>
            <a:pPr>
              <a:spcAft>
                <a:spcPts val="1400"/>
              </a:spcAft>
            </a:pPr>
            <a:r>
              <a:rPr b="1" sz="1500">
                <a:solidFill>
                  <a:srgbClr val="1F2D3D"/>
                </a:solidFill>
              </a:rPr>
              <a:t>•  Prompt caching helps cost, not the ceiling.</a:t>
            </a:r>
            <a:r>
              <a:rPr sz="1300">
                <a:solidFill>
                  <a:srgbClr val="6B7280"/>
                </a:solidFill>
              </a:rPr>
              <a:t>  A cached prefix is still counted against the hard context limit.</a:t>
            </a:r>
          </a:p>
          <a:p>
            <a:pPr>
              <a:spcAft>
                <a:spcPts val="1400"/>
              </a:spcAft>
            </a:pPr>
            <a:r>
              <a:rPr b="1" sz="1500">
                <a:solidFill>
                  <a:srgbClr val="1F2D3D"/>
                </a:solidFill>
              </a:rPr>
              <a:t>•  This is why Ch. 8.3's termination limits exist.</a:t>
            </a:r>
            <a:r>
              <a:rPr sz="1300">
                <a:solidFill>
                  <a:srgbClr val="6B7280"/>
                </a:solidFill>
              </a:rPr>
              <a:t>  A loop needs either a stopping reason or a memory system deciding what to stop carrying.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5B8FC9"/>
                </a:solidFill>
              </a:rPr>
              <a:t>DEEP-DIVE · 2 OF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2D3D"/>
                </a:solidFill>
              </a:rPr>
              <a:t>MemGPT: Virtual Context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b="1" sz="1500">
                <a:solidFill>
                  <a:srgbClr val="1F2D3D"/>
                </a:solidFill>
              </a:rPr>
              <a:t>•  The OS analogy, in the paper's words:</a:t>
            </a:r>
            <a:r>
              <a:rPr sz="1300">
                <a:solidFill>
                  <a:srgbClr val="6B7280"/>
                </a:solidFill>
              </a:rPr>
              <a:t>  "hierarchical memory systems in traditional operating systems... data movement between fast and slow memory."</a:t>
            </a:r>
          </a:p>
          <a:p>
            <a:pPr>
              <a:spcAft>
                <a:spcPts val="1400"/>
              </a:spcAft>
            </a:pPr>
            <a:r>
              <a:rPr b="1" sz="1500">
                <a:solidFill>
                  <a:srgbClr val="1F2D3D"/>
                </a:solidFill>
              </a:rPr>
              <a:t>•  Main context vs. external context:</a:t>
            </a:r>
            <a:r>
              <a:rPr sz="1300">
                <a:solidFill>
                  <a:srgbClr val="6B7280"/>
                </a:solidFill>
              </a:rPr>
              <a:t>  working context (editable, in-prompt) vs. recall storage and archival storage (outside it).</a:t>
            </a:r>
          </a:p>
          <a:p>
            <a:pPr>
              <a:spcAft>
                <a:spcPts val="1400"/>
              </a:spcAft>
            </a:pPr>
            <a:r>
              <a:rPr b="1" sz="1500">
                <a:solidFill>
                  <a:srgbClr val="1F2D3D"/>
                </a:solidFill>
              </a:rPr>
              <a:t>•  The model moves its own memory:</a:t>
            </a:r>
            <a:r>
              <a:rPr sz="1300">
                <a:solidFill>
                  <a:srgbClr val="6B7280"/>
                </a:solidFill>
              </a:rPr>
              <a:t>  "MemGPT orchestrates data movement... via function calls that are generated by the LLM processor."</a:t>
            </a:r>
          </a:p>
          <a:p>
            <a:pPr>
              <a:spcAft>
                <a:spcPts val="1400"/>
              </a:spcAft>
            </a:pPr>
            <a:r>
              <a:rPr b="1" sz="1500">
                <a:solidFill>
                  <a:srgbClr val="1F2D3D"/>
                </a:solidFill>
              </a:rPr>
              <a:t>•  Eviction is a capacity trigger, not judgment:</a:t>
            </a:r>
            <a:r>
              <a:rPr sz="1300">
                <a:solidFill>
                  <a:srgbClr val="6B7280"/>
                </a:solidFill>
              </a:rPr>
              <a:t>  at 100% of the flush token count, the queue manager evicts roughly half the context.</a:t>
            </a:r>
          </a:p>
          <a:p>
            <a:pPr>
              <a:spcAft>
                <a:spcPts val="1400"/>
              </a:spcAft>
            </a:pPr>
            <a:r>
              <a:rPr b="1" sz="1500">
                <a:solidFill>
                  <a:srgbClr val="1F2D3D"/>
                </a:solidFill>
              </a:rPr>
              <a:t>•  Interrupts decouple paging from the user's wait.</a:t>
            </a:r>
            <a:r>
              <a:rPr sz="1300">
                <a:solidFill>
                  <a:srgbClr val="6B7280"/>
                </a:solidFill>
              </a:rPr>
              <a:t>  Evaluated on document analysis and multi-session chat, the two failure modes it targets.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5B8FC9"/>
                </a:solidFill>
              </a:rPr>
              <a:t>DEEP-DIVE · 3 OF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2D3D"/>
                </a:solidFill>
              </a:rPr>
              <a:t>Generative Agents: Stream, Retrieval, Reflection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b="1" sz="1500">
                <a:solidFill>
                  <a:srgbClr val="1F2D3D"/>
                </a:solidFill>
              </a:rPr>
              <a:t>•  The memory stream:</a:t>
            </a:r>
            <a:r>
              <a:rPr sz="1300">
                <a:solidFill>
                  <a:srgbClr val="6B7280"/>
                </a:solidFill>
              </a:rPr>
              <a:t>  a list of memory objects, each with a description and access timestamps; nothing filtered at write time.</a:t>
            </a:r>
          </a:p>
          <a:p>
            <a:pPr>
              <a:spcAft>
                <a:spcPts val="1400"/>
              </a:spcAft>
            </a:pPr>
            <a:r>
              <a:rPr b="1" sz="1500">
                <a:solidFill>
                  <a:srgbClr val="1F2D3D"/>
                </a:solidFill>
              </a:rPr>
              <a:t>•  Retrieval score, weighted sum:</a:t>
            </a:r>
            <a:r>
              <a:rPr sz="1300">
                <a:solidFill>
                  <a:srgbClr val="6B7280"/>
                </a:solidFill>
              </a:rPr>
              <a:t>  recency (0.995 decay per hour) + importance (LLM-rated 1-10 poignancy) + relevance (similarity).</a:t>
            </a:r>
          </a:p>
          <a:p>
            <a:pPr>
              <a:spcAft>
                <a:spcPts val="1400"/>
              </a:spcAft>
            </a:pPr>
            <a:r>
              <a:rPr b="1" sz="1500">
                <a:solidFill>
                  <a:srgbClr val="1F2D3D"/>
                </a:solidFill>
              </a:rPr>
              <a:t>•  Reflection triggers on cumulative importance:</a:t>
            </a:r>
            <a:r>
              <a:rPr sz="1300">
                <a:solidFill>
                  <a:srgbClr val="6B7280"/>
                </a:solidFill>
              </a:rPr>
              <a:t>  threshold of 150; prompts for "3 most salient high-level questions" over the last 100 records.</a:t>
            </a:r>
          </a:p>
          <a:p>
            <a:pPr>
              <a:spcAft>
                <a:spcPts val="1400"/>
              </a:spcAft>
            </a:pPr>
            <a:r>
              <a:rPr b="1" sz="1500">
                <a:solidFill>
                  <a:srgbClr val="1F2D3D"/>
                </a:solidFill>
              </a:rPr>
              <a:t>•  The ablation's own finding:</a:t>
            </a:r>
            <a:r>
              <a:rPr sz="1300">
                <a:solidFill>
                  <a:srgbClr val="6B7280"/>
                </a:solidFill>
              </a:rPr>
              <a:t>  observation, planning, and reflection each contribute critically to believability.</a:t>
            </a:r>
          </a:p>
          <a:p>
            <a:pPr>
              <a:spcAft>
                <a:spcPts val="1400"/>
              </a:spcAft>
            </a:pPr>
            <a:r>
              <a:rPr b="1" sz="1500">
                <a:solidFill>
                  <a:srgbClr val="1F2D3D"/>
                </a:solidFill>
              </a:rPr>
              <a:t>•  Reflection is the only synthesis step.</a:t>
            </a:r>
            <a:r>
              <a:rPr sz="1300">
                <a:solidFill>
                  <a:srgbClr val="6B7280"/>
                </a:solidFill>
              </a:rPr>
              <a:t>  Storage and retrieval only ever surface what already existed verbatim.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5B8FC9"/>
                </a:solidFill>
              </a:rPr>
              <a:t>DEEP-DIVE · 4 OF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2D3D"/>
                </a:solidFill>
              </a:rPr>
              <a:t>A Taxonomy: Working, Episodic, Semantic, Procedural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b="1" sz="1500">
                <a:solidFill>
                  <a:srgbClr val="1F2D3D"/>
                </a:solidFill>
              </a:rPr>
              <a:t>•  Working memory:</a:t>
            </a:r>
            <a:r>
              <a:rPr sz="1300">
                <a:solidFill>
                  <a:srgbClr val="6B7280"/>
                </a:solidFill>
              </a:rPr>
              <a:t>  the context window itself; Ch. 8.2's short-term memory under a formal name.</a:t>
            </a:r>
          </a:p>
          <a:p>
            <a:pPr>
              <a:spcAft>
                <a:spcPts val="1400"/>
              </a:spcAft>
            </a:pPr>
            <a:r>
              <a:rPr b="1" sz="1500">
                <a:solidFill>
                  <a:srgbClr val="1F2D3D"/>
                </a:solidFill>
              </a:rPr>
              <a:t>•  Semantic memory:</a:t>
            </a:r>
            <a:r>
              <a:rPr sz="1300">
                <a:solidFill>
                  <a:srgbClr val="6B7280"/>
                </a:solidFill>
              </a:rPr>
              <a:t>  durable facts about the world; a RAG vector store is a semantic memory in this sense.</a:t>
            </a:r>
          </a:p>
          <a:p>
            <a:pPr>
              <a:spcAft>
                <a:spcPts val="1400"/>
              </a:spcAft>
            </a:pPr>
            <a:r>
              <a:rPr b="1" sz="1500">
                <a:solidFill>
                  <a:srgbClr val="1F2D3D"/>
                </a:solidFill>
              </a:rPr>
              <a:t>•  Episodic memory:</a:t>
            </a:r>
            <a:r>
              <a:rPr sz="1300">
                <a:solidFill>
                  <a:srgbClr val="6B7280"/>
                </a:solidFill>
              </a:rPr>
              <a:t>  specific past events at specific times; a Generative Agents-style memory stream is episodic by construction.</a:t>
            </a:r>
          </a:p>
          <a:p>
            <a:pPr>
              <a:spcAft>
                <a:spcPts val="1400"/>
              </a:spcAft>
            </a:pPr>
            <a:r>
              <a:rPr b="1" sz="1500">
                <a:solidFill>
                  <a:srgbClr val="1F2D3D"/>
                </a:solidFill>
              </a:rPr>
              <a:t>•  Procedural memory:</a:t>
            </a:r>
            <a:r>
              <a:rPr sz="1300">
                <a:solidFill>
                  <a:srgbClr val="6B7280"/>
                </a:solidFill>
              </a:rPr>
              <a:t>  the rules that determine behavior; the model's weights, system prompt, and code, not either store discussed here.</a:t>
            </a:r>
          </a:p>
          <a:p>
            <a:pPr>
              <a:spcAft>
                <a:spcPts val="1400"/>
              </a:spcAft>
            </a:pPr>
            <a:r>
              <a:rPr b="1" sz="1500">
                <a:solidFill>
                  <a:srgbClr val="1F2D3D"/>
                </a:solidFill>
              </a:rPr>
              <a:t>•  Placement has a cost:</a:t>
            </a:r>
            <a:r>
              <a:rPr sz="1300">
                <a:solidFill>
                  <a:srgbClr val="6B7280"/>
                </a:solidFill>
              </a:rPr>
              <a:t>  a durable preference stored as an episodic event loses priority to recency it doesn't deserve.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5B8FC9"/>
                </a:solidFill>
              </a:rPr>
              <a:t>DEEP-DIVE · 5 OF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2D3D"/>
                </a:solidFill>
              </a:rPr>
              <a:t>What Goes Wrong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b="1" sz="1500">
                <a:solidFill>
                  <a:srgbClr val="1F2D3D"/>
                </a:solidFill>
              </a:rPr>
              <a:t>•  Staleness:</a:t>
            </a:r>
            <a:r>
              <a:rPr sz="1300">
                <a:solidFill>
                  <a:srgbClr val="6B7280"/>
                </a:solidFill>
              </a:rPr>
              <a:t>  nothing forces a stored fact to expire or self-correct when it stops being true.</a:t>
            </a:r>
          </a:p>
          <a:p>
            <a:pPr>
              <a:spcAft>
                <a:spcPts val="1400"/>
              </a:spcAft>
            </a:pPr>
            <a:r>
              <a:rPr b="1" sz="1500">
                <a:solidFill>
                  <a:srgbClr val="1F2D3D"/>
                </a:solidFill>
              </a:rPr>
              <a:t>•  Interference:</a:t>
            </a:r>
            <a:r>
              <a:rPr sz="1300">
                <a:solidFill>
                  <a:srgbClr val="6B7280"/>
                </a:solidFill>
              </a:rPr>
              <a:t>  a weighted-sum score can rank a recent, unimportant memory above an old, highly relevant one.</a:t>
            </a:r>
          </a:p>
          <a:p>
            <a:pPr>
              <a:spcAft>
                <a:spcPts val="1400"/>
              </a:spcAft>
            </a:pPr>
            <a:r>
              <a:rPr b="1" sz="1500">
                <a:solidFill>
                  <a:srgbClr val="1F2D3D"/>
                </a:solidFill>
              </a:rPr>
              <a:t>•  Unbounded growth:</a:t>
            </a:r>
            <a:r>
              <a:rPr sz="1300">
                <a:solidFill>
                  <a:srgbClr val="6B7280"/>
                </a:solidFill>
              </a:rPr>
              <a:t>  every retrieval over an ever-growing store costs more compute and storage over time.</a:t>
            </a:r>
          </a:p>
          <a:p>
            <a:pPr>
              <a:spcAft>
                <a:spcPts val="1400"/>
              </a:spcAft>
            </a:pPr>
            <a:r>
              <a:rPr b="1" sz="1500">
                <a:solidFill>
                  <a:srgbClr val="1F2D3D"/>
                </a:solidFill>
              </a:rPr>
              <a:t>•  Partial mitigations exist:</a:t>
            </a:r>
            <a:r>
              <a:rPr sz="1300">
                <a:solidFill>
                  <a:srgbClr val="6B7280"/>
                </a:solidFill>
              </a:rPr>
              <a:t>  timestamping, widening the retrieval query, and mandatory (not optional) maintenance.</a:t>
            </a:r>
          </a:p>
          <a:p>
            <a:pPr>
              <a:spcAft>
                <a:spcPts val="1400"/>
              </a:spcAft>
            </a:pPr>
            <a:r>
              <a:rPr b="1" sz="1500">
                <a:solidFill>
                  <a:srgbClr val="1F2D3D"/>
                </a:solidFill>
              </a:rPr>
              <a:t>•  None of these are solved, only managed.</a:t>
            </a:r>
            <a:r>
              <a:rPr sz="1300">
                <a:solidFill>
                  <a:srgbClr val="6B7280"/>
                </a:solidFill>
              </a:rPr>
              <a:t>  Choosing a memory system means choosing which failure mode you can tolerate.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5B8FC9"/>
                </a:solidFill>
              </a:rPr>
              <a:t>COMPARISON &amp; RELATED CONCEPTS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2D3D"/>
                </a:solidFill>
              </a:rPr>
              <a:t>Model-issued judgment vs. a fixed, always-on pipeline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2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987552"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</a:rPr>
                        <a:t>Aspect</a:t>
                      </a:r>
                    </a:p>
                  </a:txBody>
                  <a:tcPr>
                    <a:solidFill>
                      <a:srgbClr val="1F2D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</a:rPr>
                        <a:t>MemGPT</a:t>
                      </a:r>
                    </a:p>
                  </a:txBody>
                  <a:tcPr>
                    <a:solidFill>
                      <a:srgbClr val="1F2D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</a:rPr>
                        <a:t>Generative Agents</a:t>
                      </a:r>
                    </a:p>
                  </a:txBody>
                  <a:tcPr>
                    <a:solidFill>
                      <a:srgbClr val="1F2D3D"/>
                    </a:solidFill>
                  </a:tcPr>
                </a:tc>
              </a:tr>
              <a:tr h="987552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D3D"/>
                          </a:solidFill>
                        </a:rPr>
                        <a:t>What triggers a write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D3D"/>
                          </a:solidFill>
                        </a:rPr>
                        <a:t>A function call the model itself decides to issue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D3D"/>
                          </a:solidFill>
                        </a:rPr>
                        <a:t>Every perceived event, unconditionally, at write time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87552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D3D"/>
                          </a:solidFill>
                        </a:rPr>
                        <a:t>What triggers a retrieval</a:t>
                      </a:r>
                    </a:p>
                  </a:txBody>
                  <a:tcPr>
                    <a:solidFill>
                      <a:srgbClr val="EDE4D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D3D"/>
                          </a:solidFill>
                        </a:rPr>
                        <a:t>A function call the model itself decides to issue</a:t>
                      </a:r>
                    </a:p>
                  </a:txBody>
                  <a:tcPr>
                    <a:solidFill>
                      <a:srgbClr val="EDE4D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D3D"/>
                          </a:solidFill>
                        </a:rPr>
                        <a:t>Every turn, scored automatically</a:t>
                      </a:r>
                    </a:p>
                  </a:txBody>
                  <a:tcPr>
                    <a:solidFill>
                      <a:srgbClr val="EDE4D3"/>
                    </a:solidFill>
                  </a:tcPr>
                </a:tc>
              </a:tr>
              <a:tr h="987552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D3D"/>
                          </a:solidFill>
                        </a:rPr>
                        <a:t>Eviction from short-term memory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D3D"/>
                          </a:solidFill>
                        </a:rPr>
                        <a:t>A fixed capacity trigger, no relevance judgment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D3D"/>
                          </a:solidFill>
                        </a:rPr>
                        <a:t>Not applicable the same way; the stream is the long-term store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87552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D3D"/>
                          </a:solidFill>
                        </a:rPr>
                        <a:t>Compressing repetition</a:t>
                      </a:r>
                    </a:p>
                  </a:txBody>
                  <a:tcPr>
                    <a:solidFill>
                      <a:srgbClr val="EDE4D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D3D"/>
                          </a:solidFill>
                        </a:rPr>
                        <a:t>Not a first-class mechanism</a:t>
                      </a:r>
                    </a:p>
                  </a:txBody>
                  <a:tcPr>
                    <a:solidFill>
                      <a:srgbClr val="EDE4D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D3D"/>
                          </a:solidFill>
                        </a:rPr>
                        <a:t>A dedicated reflection step, triggered on cumulative importance</a:t>
                      </a:r>
                    </a:p>
                  </a:txBody>
                  <a:tcPr>
                    <a:solidFill>
                      <a:srgbClr val="EDE4D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5B8FC9"/>
                </a:solidFill>
              </a:rPr>
              <a:t>REFERENCE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2D3D"/>
                </a:solidFill>
              </a:rPr>
              <a:t>A write path and a retrieve path sharing one external store</a:t>
            </a:r>
          </a:p>
        </p:txBody>
      </p:sp>
      <p:pic>
        <p:nvPicPr>
          <p:cNvPr id="5" name="Picture 4" descr="refarch8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51560"/>
            <a:ext cx="2885645" cy="5577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675120" y="1463040"/>
            <a:ext cx="49377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b="1" sz="1500">
                <a:solidFill>
                  <a:srgbClr val="1F2D3D"/>
                </a:solidFill>
              </a:rPr>
              <a:t>Perceive</a:t>
            </a:r>
            <a:r>
              <a:rPr sz="1400">
                <a:solidFill>
                  <a:srgbClr val="6B7280"/>
                </a:solidFill>
              </a:rPr>
              <a:t>: a new event enters working context before anything is decided about it.</a:t>
            </a:r>
          </a:p>
          <a:p>
            <a:pPr>
              <a:spcAft>
                <a:spcPts val="1200"/>
              </a:spcAft>
            </a:pPr>
            <a:r>
              <a:rPr b="1" sz="1500">
                <a:solidFill>
                  <a:srgbClr val="1F2D3D"/>
                </a:solidFill>
              </a:rPr>
              <a:t>Write gate</a:t>
            </a:r>
            <a:r>
              <a:rPr sz="1400">
                <a:solidFill>
                  <a:srgbClr val="6B7280"/>
                </a:solidFill>
              </a:rPr>
              <a:t>: decides whether an item is worth appending to the external store.</a:t>
            </a:r>
          </a:p>
          <a:p>
            <a:pPr>
              <a:spcAft>
                <a:spcPts val="1200"/>
              </a:spcAft>
            </a:pPr>
            <a:r>
              <a:rPr b="1" sz="1500">
                <a:solidFill>
                  <a:srgbClr val="1F2D3D"/>
                </a:solidFill>
              </a:rPr>
              <a:t>External store</a:t>
            </a:r>
            <a:r>
              <a:rPr sz="1400">
                <a:solidFill>
                  <a:srgbClr val="6B7280"/>
                </a:solidFill>
              </a:rPr>
              <a:t>: holds episodic and semantic content, invisible until retrieved.</a:t>
            </a:r>
          </a:p>
          <a:p>
            <a:pPr>
              <a:spcAft>
                <a:spcPts val="1200"/>
              </a:spcAft>
            </a:pPr>
            <a:r>
              <a:rPr b="1" sz="1500">
                <a:solidFill>
                  <a:srgbClr val="1F2D3D"/>
                </a:solidFill>
              </a:rPr>
              <a:t>Retrieve gate</a:t>
            </a:r>
            <a:r>
              <a:rPr sz="1400">
                <a:solidFill>
                  <a:srgbClr val="6B7280"/>
                </a:solidFill>
              </a:rPr>
              <a:t>: scores stored items against the current situation, admits the top-k.</a:t>
            </a:r>
          </a:p>
          <a:p>
            <a:pPr>
              <a:spcAft>
                <a:spcPts val="1200"/>
              </a:spcAft>
            </a:pPr>
            <a:r>
              <a:rPr b="1" sz="1500">
                <a:solidFill>
                  <a:srgbClr val="1F2D3D"/>
                </a:solidFill>
              </a:rPr>
              <a:t>Working context</a:t>
            </a:r>
            <a:r>
              <a:rPr sz="1400">
                <a:solidFill>
                  <a:srgbClr val="6B7280"/>
                </a:solidFill>
              </a:rPr>
              <a:t>: the only thing reasoning ever directly sees.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5B8FC9"/>
                </a:solidFill>
              </a:rPr>
              <a:t>HANDS-ON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2D3D"/>
                </a:solidFill>
              </a:rPr>
              <a:t>A small, testable memory stream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b="1" sz="1500">
                <a:solidFill>
                  <a:srgbClr val="1F2D3D"/>
                </a:solidFill>
              </a:rPr>
              <a:t>•  MemoryStream:</a:t>
            </a:r>
            <a:r>
              <a:rPr sz="1300">
                <a:solidFill>
                  <a:srgbClr val="6B7280"/>
                </a:solidFill>
              </a:rPr>
              <a:t>  recency (exponential decay) + importance + keyword-overlap relevance, normalized and weighted.</a:t>
            </a:r>
          </a:p>
          <a:p>
            <a:pPr>
              <a:spcAft>
                <a:spcPts val="1400"/>
              </a:spcAft>
            </a:pPr>
            <a:r>
              <a:rPr b="1" sz="1500">
                <a:solidFill>
                  <a:srgbClr val="1F2D3D"/>
                </a:solidFill>
              </a:rPr>
              <a:t>•  Reflection trigger:</a:t>
            </a:r>
            <a:r>
              <a:rPr sz="1300">
                <a:solidFill>
                  <a:srgbClr val="6B7280"/>
                </a:solidFill>
              </a:rPr>
              <a:t>  cumulative importance crossing a threshold generates a deterministic theme summary.</a:t>
            </a:r>
          </a:p>
          <a:p>
            <a:pPr>
              <a:spcAft>
                <a:spcPts val="1400"/>
              </a:spcAft>
            </a:pPr>
            <a:r>
              <a:rPr b="1" sz="1500">
                <a:solidFill>
                  <a:srgbClr val="1F2D3D"/>
                </a:solidFill>
              </a:rPr>
              <a:t>•  Simulated day:</a:t>
            </a:r>
            <a:r>
              <a:rPr sz="1300">
                <a:solidFill>
                  <a:srgbClr val="6B7280"/>
                </a:solidFill>
              </a:rPr>
              <a:t>  7 events across 6 hours, mixing routine (teeth, bed) with a promotion/party thread.</a:t>
            </a:r>
          </a:p>
          <a:p>
            <a:pPr>
              <a:spcAft>
                <a:spcPts val="1400"/>
              </a:spcAft>
            </a:pPr>
            <a:r>
              <a:rPr b="1" sz="1500">
                <a:solidFill>
                  <a:srgbClr val="1F2D3D"/>
                </a:solidFill>
              </a:rPr>
              <a:t>•  Result:</a:t>
            </a:r>
            <a:r>
              <a:rPr sz="1300">
                <a:solidFill>
                  <a:srgbClr val="6B7280"/>
                </a:solidFill>
              </a:rPr>
              <a:t>  exactly 2 reflections fire; a query for "promotion party" retrieves the 3 on-topic memories, none of the routine ones.</a:t>
            </a:r>
          </a:p>
          <a:p>
            <a:pPr>
              <a:spcAft>
                <a:spcPts val="1400"/>
              </a:spcAft>
            </a:pPr>
            <a:r>
              <a:rPr b="1" sz="1500">
                <a:solidFill>
                  <a:srgbClr val="1F2D3D"/>
                </a:solidFill>
              </a:rPr>
              <a:t>•  The point of reflection:</a:t>
            </a:r>
            <a:r>
              <a:rPr sz="1300">
                <a:solidFill>
                  <a:srgbClr val="6B7280"/>
                </a:solidFill>
              </a:rPr>
              <a:t>  not remembering more, but remembering the same amount in a form that's cheaper to use later.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