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D3D"/>
                </a:solidFill>
              </a:rPr>
              <a:t>Context Engineering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5B8FC9"/>
                </a:solidFill>
              </a:rPr>
              <a:t>for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8.6  ·  PHASE 8: AI AGENTS —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 /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Curating a finite budget, not filling a free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Prompt engineering vs. context engineering:</a:t>
            </a:r>
            <a:r>
              <a:rPr sz="1400">
                <a:solidFill>
                  <a:srgbClr val="6B7280"/>
                </a:solidFill>
              </a:rPr>
              <a:t>  "the set of strategies for curating and maintaining the optimal set of tokens... during LLM inference."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 window that could hold everything isn't one that should.</a:t>
            </a:r>
            <a:r>
              <a:rPr sz="1400">
                <a:solidFill>
                  <a:srgbClr val="6B7280"/>
                </a:solidFill>
              </a:rPr>
              <a:t>  Every token in it competes for the same fixed, finite budget.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Four places the curation decision gets made:</a:t>
            </a:r>
            <a:r>
              <a:rPr sz="1400">
                <a:solidFill>
                  <a:srgbClr val="6B7280"/>
                </a:solidFill>
              </a:rPr>
              <a:t>  system prompt altitude, tool set size, retrieval timing, and history management.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This chapter is the synthesis chapter.</a:t>
            </a:r>
            <a:r>
              <a:rPr sz="1400">
                <a:solidFill>
                  <a:srgbClr val="6B7280"/>
                </a:solidFill>
              </a:rPr>
              <a:t>  It reframes Ch. 8.2's window, 8.4's tools, and 8.5's memory gates as one budget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fixed budget, and why filling it carelessly has a cost</a:t>
            </a:r>
          </a:p>
        </p:txBody>
      </p:sp>
      <p:pic>
        <p:nvPicPr>
          <p:cNvPr id="5" name="Picture 4" descr="8-6-context-window-as-a-finite-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097280"/>
            <a:ext cx="11521440" cy="51698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Context as a Finite, Attention-Limited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Self-attention:</a:t>
            </a:r>
            <a:r>
              <a:rPr sz="1300">
                <a:solidFill>
                  <a:srgbClr val="6B7280"/>
                </a:solidFill>
              </a:rPr>
              <a:t>  "n² pairwise relationships for n tokens" - longer context means more competition, not just more cost.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Context rot:</a:t>
            </a:r>
            <a:r>
              <a:rPr sz="1300">
                <a:solidFill>
                  <a:srgbClr val="6B7280"/>
                </a:solidFill>
              </a:rPr>
              <a:t>  "as the number of tokens... increases, the model's ability to accurately recall information... decreases."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Needle-in-a-haystack benchmarks:</a:t>
            </a:r>
            <a:r>
              <a:rPr sz="1300">
                <a:solidFill>
                  <a:srgbClr val="6B7280"/>
                </a:solidFill>
              </a:rPr>
              <a:t>  isolate this cleanly - inert filler still degrades recall of an unrelated target fact.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counter-intuitive implication:</a:t>
            </a:r>
            <a:r>
              <a:rPr sz="1300">
                <a:solidFill>
                  <a:srgbClr val="6B7280"/>
                </a:solidFill>
              </a:rPr>
              <a:t>  Ch. 8.5's retrieval gate returning a generous top-k isn't a free hedge; extra memories are extra competition.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System Prompts at the Right Altitude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Failure mode 1, too brittle:</a:t>
            </a:r>
            <a:r>
              <a:rPr sz="1300">
                <a:solidFill>
                  <a:srgbClr val="6B7280"/>
                </a:solidFill>
              </a:rPr>
              <a:t>  "hardcoding complex, brittle logic... creates fragility and increases maintenance complexity."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Failure mode 2, too vague:</a:t>
            </a:r>
            <a:r>
              <a:rPr sz="1300">
                <a:solidFill>
                  <a:srgbClr val="6B7280"/>
                </a:solidFill>
              </a:rPr>
              <a:t>  "vague, high-level guidance that fails to give... concrete signals... or falsely assumes shared context."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Goldilocks zone:</a:t>
            </a:r>
            <a:r>
              <a:rPr sz="1300">
                <a:solidFill>
                  <a:srgbClr val="6B7280"/>
                </a:solidFill>
              </a:rPr>
              <a:t>  "specific enough to guide behavior effectively, yet flexible enough" to generalize.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tell:</a:t>
            </a:r>
            <a:r>
              <a:rPr sz="1300">
                <a:solidFill>
                  <a:srgbClr val="6B7280"/>
                </a:solidFill>
              </a:rPr>
              <a:t>  a brittle prompt reads as an ever-growing patch list; a vague one leaves basics like tone or approval limits unstated.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Tool Design as Context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Same Ch. 8.4 failure modes, new angle:</a:t>
            </a:r>
            <a:r>
              <a:rPr sz="1300">
                <a:solidFill>
                  <a:srgbClr val="6B7280"/>
                </a:solidFill>
              </a:rPr>
              <a:t>  every tool definition sits in context on every turn, whether or not it's called.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Anthropic's diagnostic:</a:t>
            </a:r>
            <a:r>
              <a:rPr sz="1300">
                <a:solidFill>
                  <a:srgbClr val="6B7280"/>
                </a:solidFill>
              </a:rPr>
              <a:t>  "if a human engineer can't definitively say which tool should be used... an AI agent can't be expected to do better."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Of the 3 tool failure modes, this hits one hardest:</a:t>
            </a:r>
            <a:r>
              <a:rPr sz="1300">
                <a:solidFill>
                  <a:srgbClr val="6B7280"/>
                </a:solidFill>
              </a:rPr>
              <a:t>  overlapping tool sets - specifically a volume problem, not a quality problem.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Mitigation:</a:t>
            </a:r>
            <a:r>
              <a:rPr sz="1300">
                <a:solidFill>
                  <a:srgbClr val="6B7280"/>
                </a:solidFill>
              </a:rPr>
              <a:t>  load only a task-relevant subset of tools dynamically, rather than all of them in every context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Just-in-Time Retrieval vs. Upfront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default:</a:t>
            </a:r>
            <a:r>
              <a:rPr sz="1300">
                <a:solidFill>
                  <a:srgbClr val="6B7280"/>
                </a:solidFill>
              </a:rPr>
              <a:t>  "maintain lightweight identifiers (file paths, stored queries, web links...) and... dynamically load data... at runtime."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Worked contrast:</a:t>
            </a:r>
            <a:r>
              <a:rPr sz="1300">
                <a:solidFill>
                  <a:srgbClr val="6B7280"/>
                </a:solidFill>
              </a:rPr>
              <a:t>  load the whole codebase upfront vs. load one file and follow references only if reasoning actually needs them.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Neither wins unconditionally:</a:t>
            </a:r>
            <a:r>
              <a:rPr sz="1300">
                <a:solidFill>
                  <a:srgbClr val="6B7280"/>
                </a:solidFill>
              </a:rPr>
              <a:t>  "a hybrid strategy, retrieving some data up front for speed, and pursuing further... exploration at its discretion."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Generalizes Ch. 8.5:</a:t>
            </a:r>
            <a:r>
              <a:rPr sz="1300">
                <a:solidFill>
                  <a:srgbClr val="6B7280"/>
                </a:solidFill>
              </a:rPr>
              <a:t>  MemGPT's model-issued memory calls were already this same just-in-time decision, applied to any resource.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Managing Long-Horizon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Compaction:</a:t>
            </a:r>
            <a:r>
              <a:rPr sz="1300">
                <a:solidFill>
                  <a:srgbClr val="6B7280"/>
                </a:solidFill>
              </a:rPr>
              <a:t>  "summarizing... and reinitiating a new context window with the summary." Risk: loss compounds across repeated passes.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Structured note-taking:</a:t>
            </a:r>
            <a:r>
              <a:rPr sz="1300">
                <a:solidFill>
                  <a:srgbClr val="6B7280"/>
                </a:solidFill>
              </a:rPr>
              <a:t>  "the agent regularly writes notes persisted to memory outside of the context window," pulled back later.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Sub-agent isolation:</a:t>
            </a:r>
            <a:r>
              <a:rPr sz="1300">
                <a:solidFill>
                  <a:srgbClr val="6B7280"/>
                </a:solidFill>
              </a:rPr>
              <a:t>  "specialized sub-agents... handle focused tasks with clean context windows"; only a summary crosses back.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Not competing solutions:</a:t>
            </a:r>
            <a:r>
              <a:rPr sz="1300">
                <a:solidFill>
                  <a:srgbClr val="6B7280"/>
                </a:solidFill>
              </a:rPr>
              <a:t>  three different places to spend the same cost - lost detail, agent judgment, or coordination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Three long-horizon techniques, three different costs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234440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</a:rPr>
                        <a:t>Compaction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</a:rPr>
                        <a:t>Structured notes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</a:rPr>
                        <a:t>Sub-agent isolation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Where detail ends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Summarized, kept in a reinitialized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Written outside context, pulled back when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Never enters main context; only a summary does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What's at risk of being lost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Whatever summarization judges unimportant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Whatever the agent fails to write down in time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A sub-agent's detail its own summary omits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What it composes with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Whatever's still in context right 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Survives compaction untouched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D3D"/>
                          </a:solidFill>
                        </a:rPr>
                        <a:t>Can use compaction or notes internally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main agent's context stays small; sub-agents absorb detail</a:t>
            </a:r>
          </a:p>
        </p:txBody>
      </p:sp>
      <p:pic>
        <p:nvPicPr>
          <p:cNvPr id="5" name="Picture 4" descr="refarch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852160" cy="44413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Main agent</a:t>
            </a:r>
            <a:r>
              <a:rPr sz="1400">
                <a:solidFill>
                  <a:srgbClr val="6B7280"/>
                </a:solidFill>
              </a:rPr>
              <a:t>: holds the high-level plan; never accumulates a sub-agent's full history.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Sub-agent</a:t>
            </a:r>
            <a:r>
              <a:rPr sz="1400">
                <a:solidFill>
                  <a:srgbClr val="6B7280"/>
                </a:solidFill>
              </a:rPr>
              <a:t>: gets a clean context window scoped to one focused task.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Summary</a:t>
            </a:r>
            <a:r>
              <a:rPr sz="1400">
                <a:solidFill>
                  <a:srgbClr val="6B7280"/>
                </a:solidFill>
              </a:rPr>
              <a:t>: the only thing crossing back, deliberately smaller than the sub-agent's own context.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Compaction</a:t>
            </a:r>
            <a:r>
              <a:rPr sz="1400">
                <a:solidFill>
                  <a:srgbClr val="6B7280"/>
                </a:solidFill>
              </a:rPr>
              <a:t>: fires when the main agent's own context nears its limit.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Persisted notes</a:t>
            </a:r>
            <a:r>
              <a:rPr sz="1400">
                <a:solidFill>
                  <a:srgbClr val="6B7280"/>
                </a:solidFill>
              </a:rPr>
              <a:t>: Ch. 8.5's write gate for notes; survives compaction untouched.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Compaction and structured notes, 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ContextManager:</a:t>
            </a:r>
            <a:r>
              <a:rPr sz="1300">
                <a:solidFill>
                  <a:srgbClr val="6B7280"/>
                </a:solidFill>
              </a:rPr>
              <a:t>  tracks turns + a token budget; compacts (summarizes oldest turns) once the budget is exceeded.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 separate scratchpad:</a:t>
            </a:r>
            <a:r>
              <a:rPr sz="1300">
                <a:solidFill>
                  <a:srgbClr val="6B7280"/>
                </a:solidFill>
              </a:rPr>
              <a:t>  write_note() persists a fact outside the turns list entirely; _compact() never touches it.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6-turn debugging task:</a:t>
            </a:r>
            <a:r>
              <a:rPr sz="1300">
                <a:solidFill>
                  <a:srgbClr val="6B7280"/>
                </a:solidFill>
              </a:rPr>
              <a:t>  one compaction fires, collapsing 4 turns into 1 summary; 2 recent turns kept verbatim.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Result:</a:t>
            </a:r>
            <a:r>
              <a:rPr sz="1300">
                <a:solidFill>
                  <a:srgbClr val="6B7280"/>
                </a:solidFill>
              </a:rPr>
              <a:t>  the ticket number survives in the summary (a judgment call) AND in the scratchpad (a structural guarantee).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point:</a:t>
            </a:r>
            <a:r>
              <a:rPr sz="1300">
                <a:solidFill>
                  <a:srgbClr val="6B7280"/>
                </a:solidFill>
              </a:rPr>
              <a:t>  a note survives because it was never inside what got compressed, not because a summarizer chose well.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