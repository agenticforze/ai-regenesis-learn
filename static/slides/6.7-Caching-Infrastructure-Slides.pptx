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6.7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Infrastructure for GenAI &amp; Agents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surprising fraction of what a RAG or agent pipeline does is repeated work. Three caching layers avoid paying for it twice, each with a different match requirement and a different risk.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caching: exact-match prefix reuse at the token level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caching: embedding-similarity matching for a much higher hit rate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correctness risk semantic caching introduces, and how to manage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Tool-call caching: protecting systems and correctness, not just saving tokens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idempotency is necessary but not sufficient for safe tool-call caching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three layers compose inside a single request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caching layers, three different tradeoffs</a:t>
            </a:r>
            <a:endParaRPr lang="en-US" sz="2600" dirty="0"/>
          </a:p>
        </p:txBody>
      </p:sp>
      <p:pic>
        <p:nvPicPr>
          <p:cNvPr id="4" name="Image 0" descr="/home/claude/phase3/svgs/png/6-7-three-cache-layers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1" y="1417320"/>
            <a:ext cx="919613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caching layers, three different points in the pipeline, three different match requirements and risk profiles.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reuses the exact tokens a model already processed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system checks if a prompt prefix...is already cached from a recent query"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"Marking a block with cache_control writes exactly one cache entry: a hash of the prefix"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"Cache hits require 100% identical prompt segments" up to the breakpoint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changed character anywhere in the prefix is a full miss, not a partial credit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"Cache read tokens are 0.1 times the base input tokens price," a 90% discount on reused tokens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5-minute lifetime, refreshed free on every use, with a longer option available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caching: an exact-match prefix, reused at a fraction of the price</a:t>
            </a:r>
            <a:endParaRPr lang="en-US" sz="2600" dirty="0"/>
          </a:p>
        </p:txBody>
      </p:sp>
      <p:pic>
        <p:nvPicPr>
          <p:cNvPr id="4" name="Image 0" descr="/home/claude/phase3/svgs/png/6-7-prompt-caching-mechan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91" y="1417320"/>
            <a:ext cx="1050131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changed token anywhere before the breakpoint turns a cheap cache read back into a full-price write.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caching trades exact match for a much higher hit rate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"Employs embedding algorithms to convert queries into embeddings and uses a vector store for similarity search"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an exact match approach for LLM caches is less effective...resulting in a low cache hit rate"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"Semantic caching identifies and stores similar or related queries, thereby increasing cache hit probability"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built around the idea claim order-of-magnitude cost and latency gains on a true hit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lives in exactly what makes semantic caching powerful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left arm hurts" and "my right arm hurts" can score 0.91 similarity, opposite conditions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current interest rate?" is semantically identical yesterday and today, and factually different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is a real risk-benefit tradeoff, not a knob with one correct setting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threshold matches what a false hit actually costs in a given domain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 new threshold in shadow mode against real traffic before it serves a live response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similarity score cannot tell a paraphrase from a different question</a:t>
            </a:r>
            <a:endParaRPr lang="en-US" sz="2600" dirty="0"/>
          </a:p>
        </p:txBody>
      </p:sp>
      <p:pic>
        <p:nvPicPr>
          <p:cNvPr id="4" name="Image 0" descr="/home/claude/phase3/svgs/png/6-7-semantic-cache-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053" y="1417320"/>
            <a:ext cx="988358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close to the threshold cannot distinguish a true paraphrase from two questions that merely use similar words.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Tool-call caching is about protecting systems, not primarily saving tokens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"Tool calls often dominate token usage indirectly by expanding context windows with raw data"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"Idempotent tool calls are necessary but not sufficient" for caching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read-only database query might be idempotent, but if the underlying data changes, your cached answer becomes a lie"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cache key needs to capture intent, not just literal arguments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too aggressively serves stale data; caching too conservatively wastes real savings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does not mean safe to cache</a:t>
            </a:r>
            <a:endParaRPr lang="en-US" sz="2600" dirty="0"/>
          </a:p>
        </p:txBody>
      </p:sp>
      <p:pic>
        <p:nvPicPr>
          <p:cNvPr id="4" name="Image 0" descr="/home/claude/phase3/svgs/png/6-7-tool-call-cache-fresh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46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00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answers whether a call is safe to repeat; it says nothing about whether its cached answer is still true.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layers compose, because each caches a different kind of repetition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static system prompt and stable documents: prompt caching's exact-match reuse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user-facing question in front of that context: semantic caching, if the domain tolerates its risk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tool call an agent makes: its own, separate freshness decision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request can pass through all three at once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caching strategy means matching each piece of a request to the right kind of cache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avoid repeating work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Tool-call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counts as a hit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Byte-identical prefix up to breakpoint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similarity above 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Arguments + context match, freshness 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None: a miss just costs full 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false hit returns a wrong or stale answer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cached answer silently goes stale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wrong answers, but no savings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savings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~90% off every reused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Order-of-magnitude cost + latency on a hit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Avoids a repeated call and its context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trades a different kind of risk for a different kind of saving.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caching decisions along one request</a:t>
            </a:r>
            <a:endParaRPr lang="en-US" sz="2600" dirty="0"/>
          </a:p>
        </p:txBody>
      </p:sp>
      <p:pic>
        <p:nvPicPr>
          <p:cNvPr id="4" name="Image 0" descr="/home/claude/phase3/svgs/png/6-7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048" y="1417320"/>
            <a:ext cx="74676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decides how often the pipeline from Chapter 6.4 actually has to run, not how it works once it does.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prompt caching decide whether a request gets a cache hit, and what happens if even one character changes before the cache breakpoint?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does semantic caching achieve a higher hit rate than prompt caching, and what specific risk does that introduce?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is idempotency "necessary but not sufficient" for safely caching a tool call?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determines whether a given tool call is safe to cache indefinitely, cache with a short time-to-live, or not cache at all?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 prompt caching, semantic caching, and tool-call caching compose rather than compete inside a single request?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2026-08-25T04:23:58Z</dcterms:created>
  <dcterms:modified xsi:type="dcterms:W3CDTF">2026-08-25T04:23:58Z</dcterms:modified>
</cp:coreProperties>
</file>