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notesMasterIdLst>
    <p:notesMasterId r:id="rId1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notesMaster" Target="notesMasters/notesMaster1.xml"/><Relationship Id="rId18" Type="http://schemas.openxmlformats.org/officeDocument/2006/relationships/presProps" Target="presProps.xml"/><Relationship Id="rId19" Type="http://schemas.openxmlformats.org/officeDocument/2006/relationships/viewProps" Target="viewProps.xml"/><Relationship Id="rId20" Type="http://schemas.openxmlformats.org/officeDocument/2006/relationships/theme" Target="theme/theme1.xml"/><Relationship Id="rId21"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Q1: Why is fitting an imputer's statistics on the full dataset before splitting into train and test a form of data leakage?
A1: Fitting on the full dataset lets information from the validation and test rows influence the imputation values used during training, the same boundary violation covered in chapter 1.4. The imputer must be fit on the training split only and then applied unchanged to validation and test.
Q2: What is the difference between MCAR, MAR, and MNAR missingness, and why does it matter for choosing a strategy?
A2: MCAR means missingness is unrelated to any variable, so dropping rows loses data but adds no bias. MAR means missingness depends on other observed variables, which model-based imputation can account for. MNAR means missingness depends on the missing value itself, which no imputation method can fully correct, because the information needed to correct it is exactly what was not recorded.
Q3: Why can target encoding a categorical variable leak label information, and how is that risk mitigated?
A3: Target encoding replaces a category with a statistic of the target variable for that category; if a row's own label contributes to its own encoded value, the encoding has effectively seen the answer. The standard mitigation is to compute the encoding out-of-fold, so no row contributes to its own encoded value, and to smooth rare categories toward the global mean.
Q4: What is training-serving skew, and why might a model that performed well offline still fail in production because of it?
A4: Training-serving skew happens when a feature is computed differently by the training pipeline than by the live serving system, so the model receives inputs at serving time that do not match what it learned from. Offline evaluation metrics cannot detect this, because they run entirely inside the training-side code path and never exercise the serving path.
Q5: Why does real-world deduplication usually require more than exact-match comparison?
A5: The same real-world entity, a customer or a patient, is frequently recorded with small variations, typos, formatting differences, or partial fields, across different source systems. Exact-match comparison misses these near-duplicates, so record linkage techniques that compare multiple partially-identifying fields are needed instead.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5"/>
        </a:solidFill>
      </p:bgPr>
    </p:bg>
    <p:spTree>
      <p:nvGrpSpPr>
        <p:cNvPr id="1" name=""/>
        <p:cNvGrpSpPr/>
        <p:nvPr/>
      </p:nvGrpSpPr>
      <p:grpSpPr>
        <a:xfrm>
          <a:off x="0" y="0"/>
          <a:ext cx="0" cy="0"/>
          <a:chOff x="0" y="0"/>
          <a:chExt cx="0" cy="0"/>
        </a:xfrm>
      </p:grpSpPr>
      <p:pic>
        <p:nvPicPr>
          <p:cNvPr id="2" name="Image 0" descr="/tmp/deck7/png/d0-title-motif.png">    </p:cNvPr>
          <p:cNvPicPr>
            <a:picLocks noChangeAspect="1"/>
          </p:cNvPicPr>
          <p:nvPr/>
        </p:nvPicPr>
        <p:blipFill>
          <a:blip r:embed="rId1">
            <a:alphaModFix amt="95000"/>
          </a:blip>
          <a:stretch>
            <a:fillRect/>
          </a:stretch>
        </p:blipFill>
        <p:spPr>
          <a:xfrm>
            <a:off x="6949440" y="548640"/>
            <a:ext cx="5760720" cy="5760720"/>
          </a:xfrm>
          <a:prstGeom prst="rect">
            <a:avLst/>
          </a:prstGeom>
        </p:spPr>
      </p:pic>
      <p:sp>
        <p:nvSpPr>
          <p:cNvPr id="3" name="Text 0"/>
          <p:cNvSpPr/>
          <p:nvPr/>
        </p:nvSpPr>
        <p:spPr>
          <a:xfrm>
            <a:off x="640080" y="640080"/>
            <a:ext cx="8229600" cy="320040"/>
          </a:xfrm>
          <a:prstGeom prst="rect">
            <a:avLst/>
          </a:prstGeom>
          <a:noFill/>
          <a:ln/>
        </p:spPr>
        <p:txBody>
          <a:bodyPr wrap="square" lIns="0" tIns="0" rIns="0" bIns="0" rtlCol="0" anchor="ctr"/>
          <a:lstStyle/>
          <a:p>
            <a:pPr indent="0" marL="0">
              <a:buNone/>
            </a:pPr>
            <a:r>
              <a:rPr lang="en-US" sz="1200" b="1" spc="120" kern="0" dirty="0">
                <a:solidFill>
                  <a:srgbClr val="86B6EF"/>
                </a:solidFill>
                <a:latin typeface="Calibri" pitchFamily="34" charset="0"/>
                <a:ea typeface="Calibri" pitchFamily="34" charset="-122"/>
                <a:cs typeface="Calibri" pitchFamily="34" charset="-120"/>
              </a:rPr>
              <a:t>REGAITRAINING  ·  PHASE 1 -- AI &amp; MACHINE LEARNING FOUNDATIONS</a:t>
            </a:r>
            <a:endParaRPr lang="en-US" sz="1200" dirty="0"/>
          </a:p>
        </p:txBody>
      </p:sp>
      <p:sp>
        <p:nvSpPr>
          <p:cNvPr id="4" name="Shape 1"/>
          <p:cNvSpPr/>
          <p:nvPr/>
        </p:nvSpPr>
        <p:spPr>
          <a:xfrm>
            <a:off x="640080" y="1234440"/>
            <a:ext cx="1417320" cy="384048"/>
          </a:xfrm>
          <a:prstGeom prst="roundRect">
            <a:avLst>
              <a:gd name="adj" fmla="val 19048"/>
            </a:avLst>
          </a:prstGeom>
          <a:solidFill>
            <a:srgbClr val="104281"/>
          </a:solidFill>
          <a:ln/>
        </p:spPr>
      </p:sp>
      <p:sp>
        <p:nvSpPr>
          <p:cNvPr id="5" name="Text 2"/>
          <p:cNvSpPr/>
          <p:nvPr/>
        </p:nvSpPr>
        <p:spPr>
          <a:xfrm>
            <a:off x="640080" y="1234440"/>
            <a:ext cx="1417320" cy="384048"/>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CHAPTER 1.7</a:t>
            </a:r>
            <a:endParaRPr lang="en-US" sz="1200" dirty="0"/>
          </a:p>
        </p:txBody>
      </p:sp>
      <p:sp>
        <p:nvSpPr>
          <p:cNvPr id="6" name="Text 3"/>
          <p:cNvSpPr/>
          <p:nvPr/>
        </p:nvSpPr>
        <p:spPr>
          <a:xfrm>
            <a:off x="594360" y="1920240"/>
            <a:ext cx="9601200" cy="914400"/>
          </a:xfrm>
          <a:prstGeom prst="rect">
            <a:avLst/>
          </a:prstGeom>
          <a:noFill/>
          <a:ln/>
        </p:spPr>
        <p:txBody>
          <a:bodyPr wrap="square" lIns="0" tIns="0" rIns="0" bIns="0" rtlCol="0" anchor="ctr"/>
          <a:lstStyle/>
          <a:p>
            <a:pPr indent="0" marL="0">
              <a:buNone/>
            </a:pPr>
            <a:r>
              <a:rPr lang="en-US" sz="4400" b="1" dirty="0">
                <a:solidFill>
                  <a:srgbClr val="FFFFFF"/>
                </a:solidFill>
                <a:latin typeface="Cambria" pitchFamily="34" charset="0"/>
                <a:ea typeface="Cambria" pitchFamily="34" charset="-122"/>
                <a:cs typeface="Cambria" pitchFamily="34" charset="-120"/>
              </a:rPr>
              <a:t>Data Foundations</a:t>
            </a:r>
            <a:endParaRPr lang="en-US" sz="4400" dirty="0"/>
          </a:p>
        </p:txBody>
      </p:sp>
      <p:sp>
        <p:nvSpPr>
          <p:cNvPr id="7" name="Text 4"/>
          <p:cNvSpPr/>
          <p:nvPr/>
        </p:nvSpPr>
        <p:spPr>
          <a:xfrm>
            <a:off x="640080" y="2880360"/>
            <a:ext cx="8138160" cy="822960"/>
          </a:xfrm>
          <a:prstGeom prst="rect">
            <a:avLst/>
          </a:prstGeom>
          <a:noFill/>
          <a:ln/>
        </p:spPr>
        <p:txBody>
          <a:bodyPr wrap="square" lIns="0" tIns="0" rIns="0" bIns="0" rtlCol="0" anchor="ctr"/>
          <a:lstStyle/>
          <a:p>
            <a:pPr indent="0" marL="0">
              <a:lnSpc>
                <a:spcPts val="2400"/>
              </a:lnSpc>
              <a:buNone/>
            </a:pPr>
            <a:r>
              <a:rPr lang="en-US" sz="2000" dirty="0">
                <a:solidFill>
                  <a:srgbClr val="CDE2FB"/>
                </a:solidFill>
                <a:latin typeface="Calibri" pitchFamily="34" charset="0"/>
                <a:ea typeface="Calibri" pitchFamily="34" charset="-122"/>
                <a:cs typeface="Calibri" pitchFamily="34" charset="-120"/>
              </a:rPr>
              <a:t>Pipelines, Feature Engineering, and Data Quality</a:t>
            </a:r>
            <a:endParaRPr lang="en-US" sz="2000" dirty="0"/>
          </a:p>
        </p:txBody>
      </p:sp>
      <p:sp>
        <p:nvSpPr>
          <p:cNvPr id="8" name="Text 5"/>
          <p:cNvSpPr/>
          <p:nvPr/>
        </p:nvSpPr>
        <p:spPr>
          <a:xfrm>
            <a:off x="640080" y="3931920"/>
            <a:ext cx="6766560" cy="822960"/>
          </a:xfrm>
          <a:prstGeom prst="rect">
            <a:avLst/>
          </a:prstGeom>
          <a:noFill/>
          <a:ln/>
        </p:spPr>
        <p:txBody>
          <a:bodyPr wrap="square" lIns="0" tIns="0" rIns="0" bIns="0" rtlCol="0" anchor="ctr"/>
          <a:lstStyle/>
          <a:p>
            <a:pPr indent="0" marL="0">
              <a:lnSpc>
                <a:spcPts val="2000"/>
              </a:lnSpc>
              <a:buNone/>
            </a:pPr>
            <a:r>
              <a:rPr lang="en-US" sz="1400" dirty="0">
                <a:solidFill>
                  <a:srgbClr val="C3C2B7"/>
                </a:solidFill>
                <a:latin typeface="Calibri" pitchFamily="34" charset="0"/>
                <a:ea typeface="Calibri" pitchFamily="34" charset="-122"/>
                <a:cs typeface="Calibri" pitchFamily="34" charset="-120"/>
              </a:rPr>
              <a:t>A teaching-slide walkthrough of the chapter: how raw data becomes model-ready features, why the same feature can be computed two different ways, and what that costs in production.</a:t>
            </a:r>
            <a:endParaRPr lang="en-US" sz="1400" dirty="0"/>
          </a:p>
        </p:txBody>
      </p:sp>
      <p:sp>
        <p:nvSpPr>
          <p:cNvPr id="9" name="Text 6"/>
          <p:cNvSpPr/>
          <p:nvPr/>
        </p:nvSpPr>
        <p:spPr>
          <a:xfrm>
            <a:off x="640080" y="6263640"/>
            <a:ext cx="8229600" cy="320040"/>
          </a:xfrm>
          <a:prstGeom prst="rect">
            <a:avLst/>
          </a:prstGeom>
          <a:noFill/>
          <a:ln/>
        </p:spPr>
        <p:txBody>
          <a:bodyPr wrap="square" lIns="0" tIns="0" rIns="0" bIns="0" rtlCol="0" anchor="ctr"/>
          <a:lstStyle/>
          <a:p>
            <a:pPr indent="0" marL="0">
              <a:buNone/>
            </a:pPr>
            <a:r>
              <a:rPr lang="en-US" sz="1100" dirty="0">
                <a:solidFill>
                  <a:srgbClr val="898781"/>
                </a:solidFill>
                <a:latin typeface="Calibri" pitchFamily="34" charset="0"/>
                <a:ea typeface="Calibri" pitchFamily="34" charset="-122"/>
                <a:cs typeface="Calibri" pitchFamily="34" charset="-120"/>
              </a:rPr>
              <a:t>Instructor deck  ·  15 slides  ·  based on docs/01-ai-ml-foundations/1-7-data-foundations.mdx</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ROADMAP</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What We'll Cover</a:t>
            </a:r>
            <a:endParaRPr lang="en-US" sz="3000" dirty="0"/>
          </a:p>
        </p:txBody>
      </p:sp>
      <p:sp>
        <p:nvSpPr>
          <p:cNvPr id="4" name="Shape 2"/>
          <p:cNvSpPr/>
          <p:nvPr/>
        </p:nvSpPr>
        <p:spPr>
          <a:xfrm>
            <a:off x="457200" y="1508760"/>
            <a:ext cx="502920" cy="502920"/>
          </a:xfrm>
          <a:prstGeom prst="ellipse">
            <a:avLst/>
          </a:prstGeom>
          <a:solidFill>
            <a:srgbClr val="104281"/>
          </a:solidFill>
          <a:ln/>
        </p:spPr>
      </p:sp>
      <p:sp>
        <p:nvSpPr>
          <p:cNvPr id="5" name="Text 3"/>
          <p:cNvSpPr/>
          <p:nvPr/>
        </p:nvSpPr>
        <p:spPr>
          <a:xfrm>
            <a:off x="45720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1</a:t>
            </a:r>
            <a:endParaRPr lang="en-US" sz="1800" dirty="0"/>
          </a:p>
        </p:txBody>
      </p:sp>
      <p:sp>
        <p:nvSpPr>
          <p:cNvPr id="6" name="Text 4"/>
          <p:cNvSpPr/>
          <p:nvPr/>
        </p:nvSpPr>
        <p:spPr>
          <a:xfrm>
            <a:off x="1115568" y="1453896"/>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The data pipeline</a:t>
            </a:r>
            <a:endParaRPr lang="en-US" sz="1550" dirty="0"/>
          </a:p>
        </p:txBody>
      </p:sp>
      <p:sp>
        <p:nvSpPr>
          <p:cNvPr id="7" name="Text 5"/>
          <p:cNvSpPr/>
          <p:nvPr/>
        </p:nvSpPr>
        <p:spPr>
          <a:xfrm>
            <a:off x="1115568" y="1801368"/>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Ingestion, cleaning, feature engineering, and where it can silently break</a:t>
            </a:r>
            <a:endParaRPr lang="en-US" sz="1250" dirty="0"/>
          </a:p>
        </p:txBody>
      </p:sp>
      <p:sp>
        <p:nvSpPr>
          <p:cNvPr id="8" name="Shape 6"/>
          <p:cNvSpPr/>
          <p:nvPr/>
        </p:nvSpPr>
        <p:spPr>
          <a:xfrm>
            <a:off x="457200" y="2679192"/>
            <a:ext cx="502920" cy="502920"/>
          </a:xfrm>
          <a:prstGeom prst="ellipse">
            <a:avLst/>
          </a:prstGeom>
          <a:solidFill>
            <a:srgbClr val="104281"/>
          </a:solidFill>
          <a:ln/>
        </p:spPr>
      </p:sp>
      <p:sp>
        <p:nvSpPr>
          <p:cNvPr id="9" name="Text 7"/>
          <p:cNvSpPr/>
          <p:nvPr/>
        </p:nvSpPr>
        <p:spPr>
          <a:xfrm>
            <a:off x="457200" y="26791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2</a:t>
            </a:r>
            <a:endParaRPr lang="en-US" sz="1800" dirty="0"/>
          </a:p>
        </p:txBody>
      </p:sp>
      <p:sp>
        <p:nvSpPr>
          <p:cNvPr id="10" name="Text 8"/>
          <p:cNvSpPr/>
          <p:nvPr/>
        </p:nvSpPr>
        <p:spPr>
          <a:xfrm>
            <a:off x="1115568" y="2624328"/>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Missing data taxonomy</a:t>
            </a:r>
            <a:endParaRPr lang="en-US" sz="1550" dirty="0"/>
          </a:p>
        </p:txBody>
      </p:sp>
      <p:sp>
        <p:nvSpPr>
          <p:cNvPr id="11" name="Text 9"/>
          <p:cNvSpPr/>
          <p:nvPr/>
        </p:nvSpPr>
        <p:spPr>
          <a:xfrm>
            <a:off x="1115568" y="2971800"/>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MCAR, MAR, and MNAR, and why the fix depends on which applies</a:t>
            </a:r>
            <a:endParaRPr lang="en-US" sz="1250" dirty="0"/>
          </a:p>
        </p:txBody>
      </p:sp>
      <p:sp>
        <p:nvSpPr>
          <p:cNvPr id="12" name="Shape 10"/>
          <p:cNvSpPr/>
          <p:nvPr/>
        </p:nvSpPr>
        <p:spPr>
          <a:xfrm>
            <a:off x="457200" y="3849624"/>
            <a:ext cx="502920" cy="502920"/>
          </a:xfrm>
          <a:prstGeom prst="ellipse">
            <a:avLst/>
          </a:prstGeom>
          <a:solidFill>
            <a:srgbClr val="104281"/>
          </a:solidFill>
          <a:ln/>
        </p:spPr>
      </p:sp>
      <p:sp>
        <p:nvSpPr>
          <p:cNvPr id="13" name="Text 11"/>
          <p:cNvSpPr/>
          <p:nvPr/>
        </p:nvSpPr>
        <p:spPr>
          <a:xfrm>
            <a:off x="457200" y="38496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3</a:t>
            </a:r>
            <a:endParaRPr lang="en-US" sz="1800" dirty="0"/>
          </a:p>
        </p:txBody>
      </p:sp>
      <p:sp>
        <p:nvSpPr>
          <p:cNvPr id="14" name="Text 12"/>
          <p:cNvSpPr/>
          <p:nvPr/>
        </p:nvSpPr>
        <p:spPr>
          <a:xfrm>
            <a:off x="1115568" y="3794760"/>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Categorical encoding</a:t>
            </a:r>
            <a:endParaRPr lang="en-US" sz="1550" dirty="0"/>
          </a:p>
        </p:txBody>
      </p:sp>
      <p:sp>
        <p:nvSpPr>
          <p:cNvPr id="15" name="Text 13"/>
          <p:cNvSpPr/>
          <p:nvPr/>
        </p:nvSpPr>
        <p:spPr>
          <a:xfrm>
            <a:off x="1115568" y="4142232"/>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One-hot, ordinal, target encoding, and learned embeddings</a:t>
            </a:r>
            <a:endParaRPr lang="en-US" sz="1250" dirty="0"/>
          </a:p>
        </p:txBody>
      </p:sp>
      <p:sp>
        <p:nvSpPr>
          <p:cNvPr id="16" name="Shape 14"/>
          <p:cNvSpPr/>
          <p:nvPr/>
        </p:nvSpPr>
        <p:spPr>
          <a:xfrm>
            <a:off x="457200" y="5020056"/>
            <a:ext cx="502920" cy="502920"/>
          </a:xfrm>
          <a:prstGeom prst="ellipse">
            <a:avLst/>
          </a:prstGeom>
          <a:solidFill>
            <a:srgbClr val="104281"/>
          </a:solidFill>
          <a:ln/>
        </p:spPr>
      </p:sp>
      <p:sp>
        <p:nvSpPr>
          <p:cNvPr id="17" name="Text 15"/>
          <p:cNvSpPr/>
          <p:nvPr/>
        </p:nvSpPr>
        <p:spPr>
          <a:xfrm>
            <a:off x="457200" y="5020056"/>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4</a:t>
            </a:r>
            <a:endParaRPr lang="en-US" sz="1800" dirty="0"/>
          </a:p>
        </p:txBody>
      </p:sp>
      <p:sp>
        <p:nvSpPr>
          <p:cNvPr id="18" name="Text 16"/>
          <p:cNvSpPr/>
          <p:nvPr/>
        </p:nvSpPr>
        <p:spPr>
          <a:xfrm>
            <a:off x="1115568" y="4965192"/>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Feature scaling</a:t>
            </a:r>
            <a:endParaRPr lang="en-US" sz="1550" dirty="0"/>
          </a:p>
        </p:txBody>
      </p:sp>
      <p:sp>
        <p:nvSpPr>
          <p:cNvPr id="19" name="Text 17"/>
          <p:cNvSpPr/>
          <p:nvPr/>
        </p:nvSpPr>
        <p:spPr>
          <a:xfrm>
            <a:off x="1115568" y="5312664"/>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Standardization and min-max, and who actually needs them</a:t>
            </a:r>
            <a:endParaRPr lang="en-US" sz="1250" dirty="0"/>
          </a:p>
        </p:txBody>
      </p:sp>
      <p:sp>
        <p:nvSpPr>
          <p:cNvPr id="20" name="Shape 18"/>
          <p:cNvSpPr/>
          <p:nvPr/>
        </p:nvSpPr>
        <p:spPr>
          <a:xfrm>
            <a:off x="6355080" y="1508760"/>
            <a:ext cx="502920" cy="502920"/>
          </a:xfrm>
          <a:prstGeom prst="ellipse">
            <a:avLst/>
          </a:prstGeom>
          <a:solidFill>
            <a:srgbClr val="104281"/>
          </a:solidFill>
          <a:ln/>
        </p:spPr>
      </p:sp>
      <p:sp>
        <p:nvSpPr>
          <p:cNvPr id="21" name="Text 19"/>
          <p:cNvSpPr/>
          <p:nvPr/>
        </p:nvSpPr>
        <p:spPr>
          <a:xfrm>
            <a:off x="6355080" y="1508760"/>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5</a:t>
            </a:r>
            <a:endParaRPr lang="en-US" sz="1800" dirty="0"/>
          </a:p>
        </p:txBody>
      </p:sp>
      <p:sp>
        <p:nvSpPr>
          <p:cNvPr id="22" name="Text 20"/>
          <p:cNvSpPr/>
          <p:nvPr/>
        </p:nvSpPr>
        <p:spPr>
          <a:xfrm>
            <a:off x="7013448" y="1453896"/>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A reference architecture</a:t>
            </a:r>
            <a:endParaRPr lang="en-US" sz="1550" dirty="0"/>
          </a:p>
        </p:txBody>
      </p:sp>
      <p:sp>
        <p:nvSpPr>
          <p:cNvPr id="23" name="Text 21"/>
          <p:cNvSpPr/>
          <p:nvPr/>
        </p:nvSpPr>
        <p:spPr>
          <a:xfrm>
            <a:off x="7013448" y="1801368"/>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A feature store that keeps training and serving in sync</a:t>
            </a:r>
            <a:endParaRPr lang="en-US" sz="1250" dirty="0"/>
          </a:p>
        </p:txBody>
      </p:sp>
      <p:sp>
        <p:nvSpPr>
          <p:cNvPr id="24" name="Shape 22"/>
          <p:cNvSpPr/>
          <p:nvPr/>
        </p:nvSpPr>
        <p:spPr>
          <a:xfrm>
            <a:off x="6355080" y="2679192"/>
            <a:ext cx="502920" cy="502920"/>
          </a:xfrm>
          <a:prstGeom prst="ellipse">
            <a:avLst/>
          </a:prstGeom>
          <a:solidFill>
            <a:srgbClr val="104281"/>
          </a:solidFill>
          <a:ln/>
        </p:spPr>
      </p:sp>
      <p:sp>
        <p:nvSpPr>
          <p:cNvPr id="25" name="Text 23"/>
          <p:cNvSpPr/>
          <p:nvPr/>
        </p:nvSpPr>
        <p:spPr>
          <a:xfrm>
            <a:off x="6355080" y="2679192"/>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6</a:t>
            </a:r>
            <a:endParaRPr lang="en-US" sz="1800" dirty="0"/>
          </a:p>
        </p:txBody>
      </p:sp>
      <p:sp>
        <p:nvSpPr>
          <p:cNvPr id="26" name="Text 24"/>
          <p:cNvSpPr/>
          <p:nvPr/>
        </p:nvSpPr>
        <p:spPr>
          <a:xfrm>
            <a:off x="7013448" y="2624328"/>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Comparison table</a:t>
            </a:r>
            <a:endParaRPr lang="en-US" sz="1550" dirty="0"/>
          </a:p>
        </p:txBody>
      </p:sp>
      <p:sp>
        <p:nvSpPr>
          <p:cNvPr id="27" name="Text 25"/>
          <p:cNvSpPr/>
          <p:nvPr/>
        </p:nvSpPr>
        <p:spPr>
          <a:xfrm>
            <a:off x="7013448" y="2971800"/>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The decisive question is leakage risk, not compactness</a:t>
            </a:r>
            <a:endParaRPr lang="en-US" sz="1250" dirty="0"/>
          </a:p>
        </p:txBody>
      </p:sp>
      <p:sp>
        <p:nvSpPr>
          <p:cNvPr id="28" name="Shape 26"/>
          <p:cNvSpPr/>
          <p:nvPr/>
        </p:nvSpPr>
        <p:spPr>
          <a:xfrm>
            <a:off x="6355080" y="3849624"/>
            <a:ext cx="502920" cy="502920"/>
          </a:xfrm>
          <a:prstGeom prst="ellipse">
            <a:avLst/>
          </a:prstGeom>
          <a:solidFill>
            <a:srgbClr val="104281"/>
          </a:solidFill>
          <a:ln/>
        </p:spPr>
      </p:sp>
      <p:sp>
        <p:nvSpPr>
          <p:cNvPr id="29" name="Text 27"/>
          <p:cNvSpPr/>
          <p:nvPr/>
        </p:nvSpPr>
        <p:spPr>
          <a:xfrm>
            <a:off x="6355080" y="3849624"/>
            <a:ext cx="502920" cy="502920"/>
          </a:xfrm>
          <a:prstGeom prst="rect">
            <a:avLst/>
          </a:prstGeom>
          <a:noFill/>
          <a:ln/>
        </p:spPr>
        <p:txBody>
          <a:bodyPr wrap="square" lIns="0" tIns="0" rIns="0" bIns="0" rtlCol="0" anchor="ctr"/>
          <a:lstStyle/>
          <a:p>
            <a:pPr algn="ctr" indent="0" marL="0">
              <a:buNone/>
            </a:pPr>
            <a:r>
              <a:rPr lang="en-US" sz="1800" b="1" dirty="0">
                <a:solidFill>
                  <a:srgbClr val="FFFFFF"/>
                </a:solidFill>
                <a:latin typeface="Cambria" pitchFamily="34" charset="0"/>
                <a:ea typeface="Cambria" pitchFamily="34" charset="-122"/>
                <a:cs typeface="Cambria" pitchFamily="34" charset="-120"/>
              </a:rPr>
              <a:t>7</a:t>
            </a:r>
            <a:endParaRPr lang="en-US" sz="1800" dirty="0"/>
          </a:p>
        </p:txBody>
      </p:sp>
      <p:sp>
        <p:nvSpPr>
          <p:cNvPr id="30" name="Text 28"/>
          <p:cNvSpPr/>
          <p:nvPr/>
        </p:nvSpPr>
        <p:spPr>
          <a:xfrm>
            <a:off x="7013448" y="3794760"/>
            <a:ext cx="4617720" cy="365760"/>
          </a:xfrm>
          <a:prstGeom prst="rect">
            <a:avLst/>
          </a:prstGeom>
          <a:noFill/>
          <a:ln/>
        </p:spPr>
        <p:txBody>
          <a:bodyPr wrap="square" lIns="0" tIns="0" rIns="0" bIns="0" rtlCol="0" anchor="ctr"/>
          <a:lstStyle/>
          <a:p>
            <a:pPr indent="0" marL="0">
              <a:buNone/>
            </a:pPr>
            <a:r>
              <a:rPr lang="en-US" sz="1550" b="1" dirty="0">
                <a:solidFill>
                  <a:srgbClr val="0B0B0B"/>
                </a:solidFill>
                <a:latin typeface="Calibri" pitchFamily="34" charset="0"/>
                <a:ea typeface="Calibri" pitchFamily="34" charset="-122"/>
                <a:cs typeface="Calibri" pitchFamily="34" charset="-120"/>
              </a:rPr>
              <a:t>Industry use cases</a:t>
            </a:r>
            <a:endParaRPr lang="en-US" sz="1550" dirty="0"/>
          </a:p>
        </p:txBody>
      </p:sp>
      <p:sp>
        <p:nvSpPr>
          <p:cNvPr id="31" name="Text 29"/>
          <p:cNvSpPr/>
          <p:nvPr/>
        </p:nvSpPr>
        <p:spPr>
          <a:xfrm>
            <a:off x="7013448" y="4142232"/>
            <a:ext cx="4617720" cy="365760"/>
          </a:xfrm>
          <a:prstGeom prst="rect">
            <a:avLst/>
          </a:prstGeom>
          <a:noFill/>
          <a:ln/>
        </p:spPr>
        <p:txBody>
          <a:bodyPr wrap="square" lIns="0" tIns="0" rIns="0" bIns="0" rtlCol="0" anchor="ctr"/>
          <a:lstStyle/>
          <a:p>
            <a:pPr indent="0" marL="0">
              <a:buNone/>
            </a:pPr>
            <a:r>
              <a:rPr lang="en-US" sz="1250" dirty="0">
                <a:solidFill>
                  <a:srgbClr val="52514E"/>
                </a:solidFill>
                <a:latin typeface="Calibri" pitchFamily="34" charset="0"/>
                <a:ea typeface="Calibri" pitchFamily="34" charset="-122"/>
                <a:cs typeface="Calibri" pitchFamily="34" charset="-120"/>
              </a:rPr>
              <a:t>Finance, Healthcare, and Telecom - 4 each</a:t>
            </a:r>
            <a:endParaRPr lang="en-US" sz="1250" dirty="0"/>
          </a:p>
        </p:txBody>
      </p:sp>
      <p:sp>
        <p:nvSpPr>
          <p:cNvPr id="32" name="Text 30"/>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1.7  |  Phase 1 - AI &amp; Machine Learning Foundations</a:t>
            </a:r>
            <a:endParaRPr lang="en-US" sz="1000" dirty="0"/>
          </a:p>
        </p:txBody>
      </p:sp>
      <p:sp>
        <p:nvSpPr>
          <p:cNvPr id="33" name="Text 31"/>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2</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TL;DR</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Most ML Problems Are Data Problems</a:t>
            </a:r>
            <a:endParaRPr lang="en-US" sz="3000" dirty="0"/>
          </a:p>
        </p:txBody>
      </p:sp>
      <p:sp>
        <p:nvSpPr>
          <p:cNvPr id="4" name="Shape 2"/>
          <p:cNvSpPr/>
          <p:nvPr/>
        </p:nvSpPr>
        <p:spPr>
          <a:xfrm>
            <a:off x="457200" y="1417320"/>
            <a:ext cx="11274552" cy="2103120"/>
          </a:xfrm>
          <a:prstGeom prst="roundRect">
            <a:avLst>
              <a:gd name="adj" fmla="val 5217"/>
            </a:avLst>
          </a:prstGeom>
          <a:solidFill>
            <a:srgbClr val="F9F9F7"/>
          </a:solidFill>
          <a:ln/>
        </p:spPr>
      </p:sp>
      <p:sp>
        <p:nvSpPr>
          <p:cNvPr id="5" name="Text 3"/>
          <p:cNvSpPr/>
          <p:nvPr/>
        </p:nvSpPr>
        <p:spPr>
          <a:xfrm>
            <a:off x="822960" y="1645920"/>
            <a:ext cx="10515600" cy="1005840"/>
          </a:xfrm>
          <a:prstGeom prst="rect">
            <a:avLst/>
          </a:prstGeom>
          <a:noFill/>
          <a:ln/>
        </p:spPr>
        <p:txBody>
          <a:bodyPr wrap="square" lIns="0" tIns="0" rIns="0" bIns="0" rtlCol="0" anchor="ctr"/>
          <a:lstStyle/>
          <a:p>
            <a:pPr indent="0" marL="0">
              <a:lnSpc>
                <a:spcPts val="2600"/>
              </a:lnSpc>
              <a:buNone/>
            </a:pPr>
            <a:r>
              <a:rPr lang="en-US" sz="2000" i="1" dirty="0">
                <a:solidFill>
                  <a:srgbClr val="104281"/>
                </a:solidFill>
                <a:latin typeface="Cambria" pitchFamily="34" charset="0"/>
                <a:ea typeface="Cambria" pitchFamily="34" charset="-122"/>
                <a:cs typeface="Cambria" pitchFamily="34" charset="-120"/>
              </a:rPr>
              <a:t>Before any model in chapter 1.5 can be trained, raw data has to survive a pipeline: cleaning, encoding, scaling, and validation, each stage capable of silently corrupting what the model eventually learns.</a:t>
            </a:r>
            <a:endParaRPr lang="en-US" sz="2000" dirty="0"/>
          </a:p>
        </p:txBody>
      </p:sp>
      <p:sp>
        <p:nvSpPr>
          <p:cNvPr id="6" name="Text 4"/>
          <p:cNvSpPr/>
          <p:nvPr/>
        </p:nvSpPr>
        <p:spPr>
          <a:xfrm>
            <a:off x="822960" y="2743200"/>
            <a:ext cx="10515600" cy="640080"/>
          </a:xfrm>
          <a:prstGeom prst="rect">
            <a:avLst/>
          </a:prstGeom>
          <a:noFill/>
          <a:ln/>
        </p:spPr>
        <p:txBody>
          <a:bodyPr wrap="square" lIns="0" tIns="0" rIns="0" bIns="0" rtlCol="0" anchor="ctr"/>
          <a:lstStyle/>
          <a:p>
            <a:pPr indent="0" marL="0">
              <a:lnSpc>
                <a:spcPts val="2100"/>
              </a:lnSpc>
              <a:buNone/>
            </a:pPr>
            <a:r>
              <a:rPr lang="en-US" sz="1500" dirty="0">
                <a:solidFill>
                  <a:srgbClr val="52514E"/>
                </a:solidFill>
                <a:latin typeface="Calibri" pitchFamily="34" charset="0"/>
                <a:ea typeface="Calibri" pitchFamily="34" charset="-122"/>
                <a:cs typeface="Calibri" pitchFamily="34" charset="-120"/>
              </a:rPr>
              <a:t>Missing values, duplicates, and mismatches between how a feature is computed for training versus serving degrade a model without ever throwing an error, which is exactly what makes them dangerous.</a:t>
            </a:r>
            <a:endParaRPr lang="en-US" sz="1500" dirty="0"/>
          </a:p>
        </p:txBody>
      </p:sp>
      <p:sp>
        <p:nvSpPr>
          <p:cNvPr id="7" name="Text 5"/>
          <p:cNvSpPr/>
          <p:nvPr/>
        </p:nvSpPr>
        <p:spPr>
          <a:xfrm>
            <a:off x="457200" y="3840480"/>
            <a:ext cx="5486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THE PRACTICAL TAKEAWAY</a:t>
            </a:r>
            <a:endParaRPr lang="en-US" sz="1200" dirty="0"/>
          </a:p>
        </p:txBody>
      </p:sp>
      <p:sp>
        <p:nvSpPr>
          <p:cNvPr id="8" name="Text 6"/>
          <p:cNvSpPr/>
          <p:nvPr/>
        </p:nvSpPr>
        <p:spPr>
          <a:xfrm>
            <a:off x="457200" y="4160520"/>
            <a:ext cx="10972800" cy="1188720"/>
          </a:xfrm>
          <a:prstGeom prst="rect">
            <a:avLst/>
          </a:prstGeom>
          <a:noFill/>
          <a:ln/>
        </p:spPr>
        <p:txBody>
          <a:bodyPr wrap="square" lIns="0" tIns="0" rIns="0" bIns="0" rtlCol="0" anchor="ctr"/>
          <a:lstStyle/>
          <a:p>
            <a:pPr indent="0" marL="0">
              <a:lnSpc>
                <a:spcPts val="2100"/>
              </a:lnSpc>
              <a:buNone/>
            </a:pPr>
            <a:r>
              <a:rPr lang="en-US" sz="1500" dirty="0">
                <a:solidFill>
                  <a:srgbClr val="0B0B0B"/>
                </a:solidFill>
                <a:latin typeface="Calibri" pitchFamily="34" charset="0"/>
                <a:ea typeface="Calibri" pitchFamily="34" charset="-122"/>
                <a:cs typeface="Calibri" pitchFamily="34" charset="-120"/>
              </a:rPr>
              <a:t>A pipeline that runs without crashing gives no signal that its output is wrong; data quality has to be checked, not assumed.</a:t>
            </a:r>
            <a:endParaRPr lang="en-US" sz="1500" dirty="0"/>
          </a:p>
        </p:txBody>
      </p:sp>
      <p:sp>
        <p:nvSpPr>
          <p:cNvPr id="9" name="Text 7"/>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1.7  |  Phase 1 - AI &amp; Machine Learning Foundations</a:t>
            </a:r>
            <a:endParaRPr lang="en-US" sz="1000" dirty="0"/>
          </a:p>
        </p:txBody>
      </p:sp>
      <p:sp>
        <p:nvSpPr>
          <p:cNvPr id="10" name="Text 8"/>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HIGH-LEVEL</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Training-Serving Skew: One Pipeline, Two Answers</a:t>
            </a:r>
            <a:endParaRPr lang="en-US" sz="3000" dirty="0"/>
          </a:p>
        </p:txBody>
      </p:sp>
      <p:pic>
        <p:nvPicPr>
          <p:cNvPr id="4" name="Image 0" descr="/tmp/deck7/png/d1-data-pipeline-quality.png">    </p:cNvPr>
          <p:cNvPicPr>
            <a:picLocks noChangeAspect="1"/>
          </p:cNvPicPr>
          <p:nvPr/>
        </p:nvPicPr>
        <p:blipFill>
          <a:blip r:embed="rId1"/>
          <a:stretch>
            <a:fillRect/>
          </a:stretch>
        </p:blipFill>
        <p:spPr>
          <a:xfrm>
            <a:off x="1339596" y="1280160"/>
            <a:ext cx="9509760" cy="4681728"/>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1.7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Three Kinds of Missing Data, Three Different Fixes</a:t>
            </a:r>
            <a:endParaRPr lang="en-US" sz="3000" dirty="0"/>
          </a:p>
        </p:txBody>
      </p:sp>
      <p:pic>
        <p:nvPicPr>
          <p:cNvPr id="4" name="Image 0" descr="/tmp/deck7/png/d2-missing-data-taxonomy.png">    </p:cNvPr>
          <p:cNvPicPr>
            <a:picLocks noChangeAspect="1"/>
          </p:cNvPicPr>
          <p:nvPr/>
        </p:nvPicPr>
        <p:blipFill>
          <a:blip r:embed="rId1"/>
          <a:stretch>
            <a:fillRect/>
          </a:stretch>
        </p:blipFill>
        <p:spPr>
          <a:xfrm>
            <a:off x="1065276" y="1280160"/>
            <a:ext cx="10058400" cy="4334256"/>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1.7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5</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Four Ways to Encode a Category</a:t>
            </a:r>
            <a:endParaRPr lang="en-US" sz="3000" dirty="0"/>
          </a:p>
        </p:txBody>
      </p:sp>
      <p:pic>
        <p:nvPicPr>
          <p:cNvPr id="4" name="Image 0" descr="/tmp/deck7/png/d3-categorical-encoding.png">    </p:cNvPr>
          <p:cNvPicPr>
            <a:picLocks noChangeAspect="1"/>
          </p:cNvPicPr>
          <p:nvPr/>
        </p:nvPicPr>
        <p:blipFill>
          <a:blip r:embed="rId1"/>
          <a:stretch>
            <a:fillRect/>
          </a:stretch>
        </p:blipFill>
        <p:spPr>
          <a:xfrm>
            <a:off x="1065276" y="1280160"/>
            <a:ext cx="10058400" cy="4334256"/>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1.7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6</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DEEP-DIVE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Scaling Changes the Geometry a Distance Sees</a:t>
            </a:r>
            <a:endParaRPr lang="en-US" sz="3000" dirty="0"/>
          </a:p>
        </p:txBody>
      </p:sp>
      <p:pic>
        <p:nvPicPr>
          <p:cNvPr id="4" name="Image 0" descr="/tmp/deck7/png/d4-feature-scaling.png">    </p:cNvPr>
          <p:cNvPicPr>
            <a:picLocks noChangeAspect="1"/>
          </p:cNvPicPr>
          <p:nvPr/>
        </p:nvPicPr>
        <p:blipFill>
          <a:blip r:embed="rId1"/>
          <a:stretch>
            <a:fillRect/>
          </a:stretch>
        </p:blipFill>
        <p:spPr>
          <a:xfrm>
            <a:off x="1065276" y="1280160"/>
            <a:ext cx="10058400" cy="4489704"/>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1.7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7</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REFERENCE ARCHITECTURE</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A Pipeline That Keeps Training and Serving in Sync</a:t>
            </a:r>
            <a:endParaRPr lang="en-US" sz="3000" dirty="0"/>
          </a:p>
        </p:txBody>
      </p:sp>
      <p:pic>
        <p:nvPicPr>
          <p:cNvPr id="4" name="Image 0" descr="/tmp/deck7/png/d5-reference-architecture.png">    </p:cNvPr>
          <p:cNvPicPr>
            <a:picLocks noChangeAspect="1"/>
          </p:cNvPicPr>
          <p:nvPr/>
        </p:nvPicPr>
        <p:blipFill>
          <a:blip r:embed="rId1"/>
          <a:stretch>
            <a:fillRect/>
          </a:stretch>
        </p:blipFill>
        <p:spPr>
          <a:xfrm>
            <a:off x="790956" y="1280160"/>
            <a:ext cx="10607040" cy="4078224"/>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1.7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8</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COMPARISON &amp; RELATED CONCEPTS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Four Ways to Encode a Category</a:t>
            </a:r>
            <a:endParaRPr lang="en-US" sz="30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457200" y="1508760"/>
          <a:ext cx="11274552" cy="3291840"/>
        </p:xfrm>
        <a:graphic>
          <a:graphicData uri="http://schemas.openxmlformats.org/drawingml/2006/table">
            <a:tbl>
              <a:tblPr/>
              <a:tblGrid>
                <a:gridCol w="1947672"/>
                <a:gridCol w="2331720"/>
                <a:gridCol w="2331720"/>
                <a:gridCol w="2331720"/>
                <a:gridCol w="2331720"/>
              </a:tblGrid>
              <a:tr h="658368">
                <a:tc>
                  <a:txBody>
                    <a:bodyPr/>
                    <a:lstStyle/>
                    <a:p>
                      <a:pPr algn="ctr" indent="0" marL="0">
                        <a:buNone/>
                      </a:pP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One-Hot</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Ordinal</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Target / Mean</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c>
                  <a:txBody>
                    <a:bodyPr/>
                    <a:lstStyle/>
                    <a:p>
                      <a:pPr algn="ctr" indent="0" marL="0">
                        <a:buNone/>
                      </a:pPr>
                      <a:r>
                        <a:rPr lang="en-US" sz="1150" b="1" dirty="0">
                          <a:solidFill>
                            <a:srgbClr val="FFFFFF"/>
                          </a:solidFill>
                          <a:latin typeface="Calibri" pitchFamily="34" charset="0"/>
                          <a:ea typeface="Calibri" pitchFamily="34" charset="-122"/>
                          <a:cs typeface="Calibri" pitchFamily="34" charset="-120"/>
                        </a:rPr>
                        <a:t>Learned Embeddings</a:t>
                      </a:r>
                      <a:endParaRPr lang="en-US" sz="11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104281"/>
                    </a:solidFill>
                  </a:tcPr>
                </a:tc>
              </a:tr>
              <a:tr h="658368">
                <a:tc>
                  <a:txBody>
                    <a:bodyPr/>
                    <a:lstStyle/>
                    <a:p>
                      <a:pPr algn="l" indent="0" marL="0">
                        <a:buNone/>
                      </a:pPr>
                      <a:r>
                        <a:rPr lang="en-US" sz="1050" b="1" dirty="0">
                          <a:solidFill>
                            <a:srgbClr val="0B0B0B"/>
                          </a:solidFill>
                          <a:latin typeface="Calibri" pitchFamily="34" charset="0"/>
                          <a:ea typeface="Calibri" pitchFamily="34" charset="-122"/>
                          <a:cs typeface="Calibri" pitchFamily="34" charset="-120"/>
                        </a:rPr>
                        <a:t>Leakage risk</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None</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High if not out-of-fold</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Low, but needs enough data per category</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r>
              <a:tr h="658368">
                <a:tc>
                  <a:txBody>
                    <a:bodyPr/>
                    <a:lstStyle/>
                    <a:p>
                      <a:pPr algn="l" indent="0" marL="0">
                        <a:buNone/>
                      </a:pPr>
                      <a:r>
                        <a:rPr lang="en-US" sz="1050" b="1" dirty="0">
                          <a:solidFill>
                            <a:srgbClr val="0B0B0B"/>
                          </a:solidFill>
                          <a:latin typeface="Calibri" pitchFamily="34" charset="0"/>
                          <a:ea typeface="Calibri" pitchFamily="34" charset="-122"/>
                          <a:cs typeface="Calibri" pitchFamily="34" charset="-120"/>
                        </a:rPr>
                        <a:t>Dimensionality impact</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Grows with category count</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None: one column</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None: one column</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Small fixed-size vector per category</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r h="658368">
                <a:tc>
                  <a:txBody>
                    <a:bodyPr/>
                    <a:lstStyle/>
                    <a:p>
                      <a:pPr algn="l" indent="0" marL="0">
                        <a:buNone/>
                      </a:pPr>
                      <a:r>
                        <a:rPr lang="en-US" sz="1050" b="1" dirty="0">
                          <a:solidFill>
                            <a:srgbClr val="0B0B0B"/>
                          </a:solidFill>
                          <a:latin typeface="Calibri" pitchFamily="34" charset="0"/>
                          <a:ea typeface="Calibri" pitchFamily="34" charset="-122"/>
                          <a:cs typeface="Calibri" pitchFamily="34" charset="-120"/>
                        </a:rPr>
                        <a:t>Assumes an order</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Yes, often incorrectly</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No</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9F9F7"/>
                    </a:solidFill>
                  </a:tcPr>
                </a:tc>
              </a:tr>
              <a:tr h="658368">
                <a:tc>
                  <a:txBody>
                    <a:bodyPr/>
                    <a:lstStyle/>
                    <a:p>
                      <a:pPr algn="l" indent="0" marL="0">
                        <a:buNone/>
                      </a:pPr>
                      <a:r>
                        <a:rPr lang="en-US" sz="1050" b="1" dirty="0">
                          <a:solidFill>
                            <a:srgbClr val="0B0B0B"/>
                          </a:solidFill>
                          <a:latin typeface="Calibri" pitchFamily="34" charset="0"/>
                          <a:ea typeface="Calibri" pitchFamily="34" charset="-122"/>
                          <a:cs typeface="Calibri" pitchFamily="34" charset="-120"/>
                        </a:rPr>
                        <a:t>Best suited to</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Low-cardinality categories</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Genuinely ordinal categories</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Medium/high cardinality, careful CV</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c>
                  <a:txBody>
                    <a:bodyPr/>
                    <a:lstStyle/>
                    <a:p>
                      <a:pPr algn="ctr" indent="0" marL="0">
                        <a:buNone/>
                      </a:pPr>
                      <a:r>
                        <a:rPr lang="en-US" sz="1050" dirty="0">
                          <a:solidFill>
                            <a:srgbClr val="52514E"/>
                          </a:solidFill>
                          <a:latin typeface="Calibri" pitchFamily="34" charset="0"/>
                          <a:ea typeface="Calibri" pitchFamily="34" charset="-122"/>
                          <a:cs typeface="Calibri" pitchFamily="34" charset="-120"/>
                        </a:rPr>
                        <a:t>Very high cardinality, enough data</a:t>
                      </a:r>
                      <a:endParaRPr lang="en-US" sz="1050" dirty="0">
                        <a:latin typeface="Calibri" charset="0"/>
                        <a:ea typeface="Calibri" charset="0"/>
                        <a:cs typeface="Calibri" charset="0"/>
                      </a:endParaRPr>
                    </a:p>
                  </a:txBody>
                  <a:tcPr marL="91440" marR="91440" marT="45720" marB="45720" anchor="ctr">
                    <a:lnL w="6350" cap="flat" cmpd="sng" algn="ctr">
                      <a:solidFill>
                        <a:srgbClr val="E1E0D9"/>
                      </a:solidFill>
                      <a:prstDash val="solid"/>
                      <a:round/>
                      <a:headEnd type="none" w="med" len="med"/>
                      <a:tailEnd type="none" w="med" len="med"/>
                    </a:lnL>
                    <a:lnR w="6350" cap="flat" cmpd="sng" algn="ctr">
                      <a:solidFill>
                        <a:srgbClr val="E1E0D9"/>
                      </a:solidFill>
                      <a:prstDash val="solid"/>
                      <a:round/>
                      <a:headEnd type="none" w="med" len="med"/>
                      <a:tailEnd type="none" w="med" len="med"/>
                    </a:lnR>
                    <a:lnT w="6350" cap="flat" cmpd="sng" algn="ctr">
                      <a:solidFill>
                        <a:srgbClr val="E1E0D9"/>
                      </a:solidFill>
                      <a:prstDash val="solid"/>
                      <a:round/>
                      <a:headEnd type="none" w="med" len="med"/>
                      <a:tailEnd type="none" w="med" len="med"/>
                    </a:lnT>
                    <a:lnB w="6350" cap="flat" cmpd="sng" algn="ctr">
                      <a:solidFill>
                        <a:srgbClr val="E1E0D9"/>
                      </a:solidFill>
                      <a:prstDash val="solid"/>
                      <a:round/>
                      <a:headEnd type="none" w="med" len="med"/>
                      <a:tailEnd type="none" w="med" len="med"/>
                    </a:lnB>
                    <a:solidFill>
                      <a:srgbClr val="FFFFFF"/>
                    </a:solidFill>
                  </a:tcPr>
                </a:tc>
              </a:tr>
            </a:tbl>
          </a:graphicData>
        </a:graphic>
      </p:graphicFrame>
      <p:sp>
        <p:nvSpPr>
          <p:cNvPr id="5" name="Text 2"/>
          <p:cNvSpPr/>
          <p:nvPr/>
        </p:nvSpPr>
        <p:spPr>
          <a:xfrm>
            <a:off x="457200" y="5074920"/>
            <a:ext cx="11274552" cy="640080"/>
          </a:xfrm>
          <a:prstGeom prst="rect">
            <a:avLst/>
          </a:prstGeom>
          <a:noFill/>
          <a:ln/>
        </p:spPr>
        <p:txBody>
          <a:bodyPr wrap="square" lIns="0" tIns="0" rIns="0" bIns="0" rtlCol="0" anchor="ctr"/>
          <a:lstStyle/>
          <a:p>
            <a:pPr indent="0" marL="0">
              <a:lnSpc>
                <a:spcPts val="1800"/>
              </a:lnSpc>
              <a:buNone/>
            </a:pPr>
            <a:r>
              <a:rPr lang="en-US" sz="1300" i="1" dirty="0">
                <a:solidFill>
                  <a:srgbClr val="898781"/>
                </a:solidFill>
                <a:latin typeface="Calibri" pitchFamily="34" charset="0"/>
                <a:ea typeface="Calibri" pitchFamily="34" charset="-122"/>
                <a:cs typeface="Calibri" pitchFamily="34" charset="-120"/>
              </a:rPr>
              <a:t>The decisive question is leakage risk, not compactness: an encoding that looks efficient but leaks the label fails exactly when it reaches production.</a:t>
            </a:r>
            <a:endParaRPr lang="en-US" sz="1300" dirty="0"/>
          </a:p>
        </p:txBody>
      </p:sp>
      <p:sp>
        <p:nvSpPr>
          <p:cNvPr id="6" name="Text 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1.7  |  Phase 1 - AI &amp; Machine Learning Foundations</a:t>
            </a:r>
            <a:endParaRPr lang="en-US" sz="1000" dirty="0"/>
          </a:p>
        </p:txBody>
      </p:sp>
      <p:sp>
        <p:nvSpPr>
          <p:cNvPr id="7" name="Text 4"/>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9</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1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Finance</a:t>
            </a:r>
            <a:endParaRPr lang="en-US" sz="3000" dirty="0"/>
          </a:p>
        </p:txBody>
      </p:sp>
      <p:pic>
        <p:nvPicPr>
          <p:cNvPr id="4" name="Image 0" descr="/tmp/deck7/png/d6-usecases-finance.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1.7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10</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2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Healthcare</a:t>
            </a:r>
            <a:endParaRPr lang="en-US" sz="3000" dirty="0"/>
          </a:p>
        </p:txBody>
      </p:sp>
      <p:pic>
        <p:nvPicPr>
          <p:cNvPr id="4" name="Image 0" descr="/tmp/deck7/png/d7-usecases-healthcare.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1.7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11</a:t>
            </a:r>
            <a:endParaRPr lang="en-US" sz="10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INDUSTRY USE CASES · 3 OF 3</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Telecom</a:t>
            </a:r>
            <a:endParaRPr lang="en-US" sz="3000" dirty="0"/>
          </a:p>
        </p:txBody>
      </p:sp>
      <p:pic>
        <p:nvPicPr>
          <p:cNvPr id="4" name="Image 0" descr="/tmp/deck7/png/d8-usecases-telecom.png">    </p:cNvPr>
          <p:cNvPicPr>
            <a:picLocks noChangeAspect="1"/>
          </p:cNvPicPr>
          <p:nvPr/>
        </p:nvPicPr>
        <p:blipFill>
          <a:blip r:embed="rId1"/>
          <a:stretch>
            <a:fillRect/>
          </a:stretch>
        </p:blipFill>
        <p:spPr>
          <a:xfrm>
            <a:off x="457200" y="1280160"/>
            <a:ext cx="11274552" cy="4509821"/>
          </a:xfrm>
          <a:prstGeom prst="rect">
            <a:avLst/>
          </a:prstGeom>
        </p:spPr>
      </p:pic>
      <p:sp>
        <p:nvSpPr>
          <p:cNvPr id="5" name="Text 2"/>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1.7  |  Phase 1 - AI &amp; Machine Learning Foundations</a:t>
            </a:r>
            <a:endParaRPr lang="en-US" sz="1000" dirty="0"/>
          </a:p>
        </p:txBody>
      </p:sp>
      <p:sp>
        <p:nvSpPr>
          <p:cNvPr id="6" name="Text 3"/>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12</a:t>
            </a:r>
            <a:endParaRPr lang="en-US" sz="10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DISCUSS AS A CLASS</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Check Your Understanding</a:t>
            </a:r>
            <a:endParaRPr lang="en-US" sz="3000" dirty="0"/>
          </a:p>
        </p:txBody>
      </p:sp>
      <p:sp>
        <p:nvSpPr>
          <p:cNvPr id="4" name="Shape 2"/>
          <p:cNvSpPr/>
          <p:nvPr/>
        </p:nvSpPr>
        <p:spPr>
          <a:xfrm>
            <a:off x="457200" y="1508760"/>
            <a:ext cx="5486400" cy="1325880"/>
          </a:xfrm>
          <a:prstGeom prst="roundRect">
            <a:avLst>
              <a:gd name="adj" fmla="val 6897"/>
            </a:avLst>
          </a:prstGeom>
          <a:solidFill>
            <a:srgbClr val="F9F9F7"/>
          </a:solidFill>
          <a:ln w="12700">
            <a:solidFill>
              <a:srgbClr val="E1E0D9"/>
            </a:solidFill>
            <a:prstDash val="solid"/>
          </a:ln>
        </p:spPr>
      </p:sp>
      <p:sp>
        <p:nvSpPr>
          <p:cNvPr id="5" name="Shape 3"/>
          <p:cNvSpPr/>
          <p:nvPr/>
        </p:nvSpPr>
        <p:spPr>
          <a:xfrm>
            <a:off x="658368" y="1709928"/>
            <a:ext cx="384048" cy="384048"/>
          </a:xfrm>
          <a:prstGeom prst="ellipse">
            <a:avLst/>
          </a:prstGeom>
          <a:solidFill>
            <a:srgbClr val="2A78D6"/>
          </a:solidFill>
          <a:ln/>
        </p:spPr>
      </p:sp>
      <p:sp>
        <p:nvSpPr>
          <p:cNvPr id="6" name="Text 4"/>
          <p:cNvSpPr/>
          <p:nvPr/>
        </p:nvSpPr>
        <p:spPr>
          <a:xfrm>
            <a:off x="658368" y="1709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Q1</a:t>
            </a:r>
            <a:endParaRPr lang="en-US" sz="1100" dirty="0"/>
          </a:p>
        </p:txBody>
      </p:sp>
      <p:sp>
        <p:nvSpPr>
          <p:cNvPr id="7" name="Text 5"/>
          <p:cNvSpPr/>
          <p:nvPr/>
        </p:nvSpPr>
        <p:spPr>
          <a:xfrm>
            <a:off x="1188720" y="1618488"/>
            <a:ext cx="4526280"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Why is fitting an imputer's statistics on the full dataset before splitting into train and test a form of data leakage?</a:t>
            </a:r>
            <a:endParaRPr lang="en-US" sz="1100" dirty="0"/>
          </a:p>
        </p:txBody>
      </p:sp>
      <p:sp>
        <p:nvSpPr>
          <p:cNvPr id="8" name="Shape 6"/>
          <p:cNvSpPr/>
          <p:nvPr/>
        </p:nvSpPr>
        <p:spPr>
          <a:xfrm>
            <a:off x="6126480" y="1508760"/>
            <a:ext cx="5486400" cy="1325880"/>
          </a:xfrm>
          <a:prstGeom prst="roundRect">
            <a:avLst>
              <a:gd name="adj" fmla="val 6897"/>
            </a:avLst>
          </a:prstGeom>
          <a:solidFill>
            <a:srgbClr val="F9F9F7"/>
          </a:solidFill>
          <a:ln w="12700">
            <a:solidFill>
              <a:srgbClr val="E1E0D9"/>
            </a:solidFill>
            <a:prstDash val="solid"/>
          </a:ln>
        </p:spPr>
      </p:sp>
      <p:sp>
        <p:nvSpPr>
          <p:cNvPr id="9" name="Shape 7"/>
          <p:cNvSpPr/>
          <p:nvPr/>
        </p:nvSpPr>
        <p:spPr>
          <a:xfrm>
            <a:off x="6327648" y="1709928"/>
            <a:ext cx="384048" cy="384048"/>
          </a:xfrm>
          <a:prstGeom prst="ellipse">
            <a:avLst/>
          </a:prstGeom>
          <a:solidFill>
            <a:srgbClr val="2A78D6"/>
          </a:solidFill>
          <a:ln/>
        </p:spPr>
      </p:sp>
      <p:sp>
        <p:nvSpPr>
          <p:cNvPr id="10" name="Text 8"/>
          <p:cNvSpPr/>
          <p:nvPr/>
        </p:nvSpPr>
        <p:spPr>
          <a:xfrm>
            <a:off x="6327648" y="170992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Q2</a:t>
            </a:r>
            <a:endParaRPr lang="en-US" sz="1100" dirty="0"/>
          </a:p>
        </p:txBody>
      </p:sp>
      <p:sp>
        <p:nvSpPr>
          <p:cNvPr id="11" name="Text 9"/>
          <p:cNvSpPr/>
          <p:nvPr/>
        </p:nvSpPr>
        <p:spPr>
          <a:xfrm>
            <a:off x="6858000" y="1618488"/>
            <a:ext cx="4526280"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What is the difference between MCAR, MAR, and MNAR missingness, and why does it matter for choosing a strategy?</a:t>
            </a:r>
            <a:endParaRPr lang="en-US" sz="1100" dirty="0"/>
          </a:p>
        </p:txBody>
      </p:sp>
      <p:sp>
        <p:nvSpPr>
          <p:cNvPr id="12" name="Shape 10"/>
          <p:cNvSpPr/>
          <p:nvPr/>
        </p:nvSpPr>
        <p:spPr>
          <a:xfrm>
            <a:off x="457200" y="2971800"/>
            <a:ext cx="5486400" cy="1325880"/>
          </a:xfrm>
          <a:prstGeom prst="roundRect">
            <a:avLst>
              <a:gd name="adj" fmla="val 6897"/>
            </a:avLst>
          </a:prstGeom>
          <a:solidFill>
            <a:srgbClr val="F9F9F7"/>
          </a:solidFill>
          <a:ln w="12700">
            <a:solidFill>
              <a:srgbClr val="E1E0D9"/>
            </a:solidFill>
            <a:prstDash val="solid"/>
          </a:ln>
        </p:spPr>
      </p:sp>
      <p:sp>
        <p:nvSpPr>
          <p:cNvPr id="13" name="Shape 11"/>
          <p:cNvSpPr/>
          <p:nvPr/>
        </p:nvSpPr>
        <p:spPr>
          <a:xfrm>
            <a:off x="658368" y="3172968"/>
            <a:ext cx="384048" cy="384048"/>
          </a:xfrm>
          <a:prstGeom prst="ellipse">
            <a:avLst/>
          </a:prstGeom>
          <a:solidFill>
            <a:srgbClr val="2A78D6"/>
          </a:solidFill>
          <a:ln/>
        </p:spPr>
      </p:sp>
      <p:sp>
        <p:nvSpPr>
          <p:cNvPr id="14" name="Text 12"/>
          <p:cNvSpPr/>
          <p:nvPr/>
        </p:nvSpPr>
        <p:spPr>
          <a:xfrm>
            <a:off x="658368" y="31729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Q3</a:t>
            </a:r>
            <a:endParaRPr lang="en-US" sz="1100" dirty="0"/>
          </a:p>
        </p:txBody>
      </p:sp>
      <p:sp>
        <p:nvSpPr>
          <p:cNvPr id="15" name="Text 13"/>
          <p:cNvSpPr/>
          <p:nvPr/>
        </p:nvSpPr>
        <p:spPr>
          <a:xfrm>
            <a:off x="1188720" y="3081528"/>
            <a:ext cx="4526280"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Why can target encoding a categorical variable leak label information, and how is that risk mitigated?</a:t>
            </a:r>
            <a:endParaRPr lang="en-US" sz="1100" dirty="0"/>
          </a:p>
        </p:txBody>
      </p:sp>
      <p:sp>
        <p:nvSpPr>
          <p:cNvPr id="16" name="Shape 14"/>
          <p:cNvSpPr/>
          <p:nvPr/>
        </p:nvSpPr>
        <p:spPr>
          <a:xfrm>
            <a:off x="6126480" y="2971800"/>
            <a:ext cx="5486400" cy="1325880"/>
          </a:xfrm>
          <a:prstGeom prst="roundRect">
            <a:avLst>
              <a:gd name="adj" fmla="val 6897"/>
            </a:avLst>
          </a:prstGeom>
          <a:solidFill>
            <a:srgbClr val="F9F9F7"/>
          </a:solidFill>
          <a:ln w="12700">
            <a:solidFill>
              <a:srgbClr val="E1E0D9"/>
            </a:solidFill>
            <a:prstDash val="solid"/>
          </a:ln>
        </p:spPr>
      </p:sp>
      <p:sp>
        <p:nvSpPr>
          <p:cNvPr id="17" name="Shape 15"/>
          <p:cNvSpPr/>
          <p:nvPr/>
        </p:nvSpPr>
        <p:spPr>
          <a:xfrm>
            <a:off x="6327648" y="3172968"/>
            <a:ext cx="384048" cy="384048"/>
          </a:xfrm>
          <a:prstGeom prst="ellipse">
            <a:avLst/>
          </a:prstGeom>
          <a:solidFill>
            <a:srgbClr val="2A78D6"/>
          </a:solidFill>
          <a:ln/>
        </p:spPr>
      </p:sp>
      <p:sp>
        <p:nvSpPr>
          <p:cNvPr id="18" name="Text 16"/>
          <p:cNvSpPr/>
          <p:nvPr/>
        </p:nvSpPr>
        <p:spPr>
          <a:xfrm>
            <a:off x="6327648" y="317296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Q4</a:t>
            </a:r>
            <a:endParaRPr lang="en-US" sz="1100" dirty="0"/>
          </a:p>
        </p:txBody>
      </p:sp>
      <p:sp>
        <p:nvSpPr>
          <p:cNvPr id="19" name="Text 17"/>
          <p:cNvSpPr/>
          <p:nvPr/>
        </p:nvSpPr>
        <p:spPr>
          <a:xfrm>
            <a:off x="6858000" y="3081528"/>
            <a:ext cx="4526280"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What is training-serving skew, and why might a model that performed well offline still fail in production because of it?</a:t>
            </a:r>
            <a:endParaRPr lang="en-US" sz="1100" dirty="0"/>
          </a:p>
        </p:txBody>
      </p:sp>
      <p:sp>
        <p:nvSpPr>
          <p:cNvPr id="20" name="Shape 18"/>
          <p:cNvSpPr/>
          <p:nvPr/>
        </p:nvSpPr>
        <p:spPr>
          <a:xfrm>
            <a:off x="457200" y="4434840"/>
            <a:ext cx="11274552" cy="1325880"/>
          </a:xfrm>
          <a:prstGeom prst="roundRect">
            <a:avLst>
              <a:gd name="adj" fmla="val 6897"/>
            </a:avLst>
          </a:prstGeom>
          <a:solidFill>
            <a:srgbClr val="F9F9F7"/>
          </a:solidFill>
          <a:ln w="12700">
            <a:solidFill>
              <a:srgbClr val="E1E0D9"/>
            </a:solidFill>
            <a:prstDash val="solid"/>
          </a:ln>
        </p:spPr>
      </p:sp>
      <p:sp>
        <p:nvSpPr>
          <p:cNvPr id="21" name="Shape 19"/>
          <p:cNvSpPr/>
          <p:nvPr/>
        </p:nvSpPr>
        <p:spPr>
          <a:xfrm>
            <a:off x="658368" y="4636008"/>
            <a:ext cx="384048" cy="384048"/>
          </a:xfrm>
          <a:prstGeom prst="ellipse">
            <a:avLst/>
          </a:prstGeom>
          <a:solidFill>
            <a:srgbClr val="2A78D6"/>
          </a:solidFill>
          <a:ln/>
        </p:spPr>
      </p:sp>
      <p:sp>
        <p:nvSpPr>
          <p:cNvPr id="22" name="Text 20"/>
          <p:cNvSpPr/>
          <p:nvPr/>
        </p:nvSpPr>
        <p:spPr>
          <a:xfrm>
            <a:off x="658368" y="4636008"/>
            <a:ext cx="3840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Q5</a:t>
            </a:r>
            <a:endParaRPr lang="en-US" sz="1100" dirty="0"/>
          </a:p>
        </p:txBody>
      </p:sp>
      <p:sp>
        <p:nvSpPr>
          <p:cNvPr id="23" name="Text 21"/>
          <p:cNvSpPr/>
          <p:nvPr/>
        </p:nvSpPr>
        <p:spPr>
          <a:xfrm>
            <a:off x="1188720" y="4544568"/>
            <a:ext cx="10314432" cy="1097280"/>
          </a:xfrm>
          <a:prstGeom prst="rect">
            <a:avLst/>
          </a:prstGeom>
          <a:noFill/>
          <a:ln/>
        </p:spPr>
        <p:txBody>
          <a:bodyPr wrap="square" lIns="0" tIns="0" rIns="0" bIns="0" rtlCol="0" anchor="ctr"/>
          <a:lstStyle/>
          <a:p>
            <a:pPr indent="0" marL="0">
              <a:lnSpc>
                <a:spcPts val="1350"/>
              </a:lnSpc>
              <a:buNone/>
            </a:pPr>
            <a:r>
              <a:rPr lang="en-US" sz="1100" dirty="0">
                <a:solidFill>
                  <a:srgbClr val="0B0B0B"/>
                </a:solidFill>
                <a:latin typeface="Calibri" pitchFamily="34" charset="0"/>
                <a:ea typeface="Calibri" pitchFamily="34" charset="-122"/>
                <a:cs typeface="Calibri" pitchFamily="34" charset="-120"/>
              </a:rPr>
              <a:t>Why does real-world deduplication usually require more than exact-match comparison?</a:t>
            </a:r>
            <a:endParaRPr lang="en-US" sz="1100" dirty="0"/>
          </a:p>
        </p:txBody>
      </p:sp>
      <p:sp>
        <p:nvSpPr>
          <p:cNvPr id="24" name="Text 22"/>
          <p:cNvSpPr/>
          <p:nvPr/>
        </p:nvSpPr>
        <p:spPr>
          <a:xfrm>
            <a:off x="457200" y="5943600"/>
            <a:ext cx="11274552" cy="320040"/>
          </a:xfrm>
          <a:prstGeom prst="rect">
            <a:avLst/>
          </a:prstGeom>
          <a:noFill/>
          <a:ln/>
        </p:spPr>
        <p:txBody>
          <a:bodyPr wrap="square" lIns="0" tIns="0" rIns="0" bIns="0" rtlCol="0" anchor="ctr"/>
          <a:lstStyle/>
          <a:p>
            <a:pPr indent="0" marL="0">
              <a:buNone/>
            </a:pPr>
            <a:r>
              <a:rPr lang="en-US" sz="1200" i="1" dirty="0">
                <a:solidFill>
                  <a:srgbClr val="898781"/>
                </a:solidFill>
                <a:latin typeface="Calibri" pitchFamily="34" charset="0"/>
                <a:ea typeface="Calibri" pitchFamily="34" charset="-122"/>
                <a:cs typeface="Calibri" pitchFamily="34" charset="-120"/>
              </a:rPr>
              <a:t>Answers are in the speaker notes for this slide.</a:t>
            </a:r>
            <a:endParaRPr lang="en-US" sz="1200" dirty="0"/>
          </a:p>
        </p:txBody>
      </p:sp>
      <p:sp>
        <p:nvSpPr>
          <p:cNvPr id="26" name="Text 23"/>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1.7  |  Phase 1 - AI &amp; Machine Learning Foundations</a:t>
            </a:r>
            <a:endParaRPr lang="en-US" sz="1000" dirty="0"/>
          </a:p>
        </p:txBody>
      </p:sp>
      <p:sp>
        <p:nvSpPr>
          <p:cNvPr id="27" name="Text 24"/>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13</a:t>
            </a:r>
            <a:endParaRPr lang="en-US" sz="10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0A1F35"/>
        </a:solidFill>
      </p:bgPr>
    </p:bg>
    <p:spTree>
      <p:nvGrpSpPr>
        <p:cNvPr id="1" name=""/>
        <p:cNvGrpSpPr/>
        <p:nvPr/>
      </p:nvGrpSpPr>
      <p:grpSpPr>
        <a:xfrm>
          <a:off x="0" y="0"/>
          <a:ext cx="0" cy="0"/>
          <a:chOff x="0" y="0"/>
          <a:chExt cx="0" cy="0"/>
        </a:xfrm>
      </p:grpSpPr>
      <p:pic>
        <p:nvPicPr>
          <p:cNvPr id="2" name="Image 0" descr="/tmp/deck7/png/d0-title-motif.png">    </p:cNvPr>
          <p:cNvPicPr>
            <a:picLocks noChangeAspect="1"/>
          </p:cNvPicPr>
          <p:nvPr/>
        </p:nvPicPr>
        <p:blipFill>
          <a:blip r:embed="rId1">
            <a:alphaModFix amt="85000"/>
          </a:blip>
          <a:stretch>
            <a:fillRect/>
          </a:stretch>
        </p:blipFill>
        <p:spPr>
          <a:xfrm>
            <a:off x="8595360" y="2103120"/>
            <a:ext cx="3840480" cy="3840480"/>
          </a:xfrm>
          <a:prstGeom prst="rect">
            <a:avLst/>
          </a:prstGeom>
        </p:spPr>
      </p:pic>
      <p:sp>
        <p:nvSpPr>
          <p:cNvPr id="3" name="Text 0"/>
          <p:cNvSpPr/>
          <p:nvPr/>
        </p:nvSpPr>
        <p:spPr>
          <a:xfrm>
            <a:off x="548640" y="457200"/>
            <a:ext cx="7315200" cy="274320"/>
          </a:xfrm>
          <a:prstGeom prst="rect">
            <a:avLst/>
          </a:prstGeom>
          <a:noFill/>
          <a:ln/>
        </p:spPr>
        <p:txBody>
          <a:bodyPr wrap="square" lIns="0" tIns="0" rIns="0" bIns="0" rtlCol="0" anchor="ctr"/>
          <a:lstStyle/>
          <a:p>
            <a:pPr indent="0" marL="0">
              <a:buNone/>
            </a:pPr>
            <a:r>
              <a:rPr lang="en-US" sz="1200" b="1" spc="120" kern="0" dirty="0">
                <a:solidFill>
                  <a:srgbClr val="86B6EF"/>
                </a:solidFill>
                <a:latin typeface="Calibri" pitchFamily="34" charset="0"/>
                <a:ea typeface="Calibri" pitchFamily="34" charset="-122"/>
                <a:cs typeface="Calibri" pitchFamily="34" charset="-120"/>
              </a:rPr>
              <a:t>SUMMARY</a:t>
            </a:r>
            <a:endParaRPr lang="en-US" sz="1200" dirty="0"/>
          </a:p>
        </p:txBody>
      </p:sp>
      <p:sp>
        <p:nvSpPr>
          <p:cNvPr id="4" name="Text 1"/>
          <p:cNvSpPr/>
          <p:nvPr/>
        </p:nvSpPr>
        <p:spPr>
          <a:xfrm>
            <a:off x="548640" y="731520"/>
            <a:ext cx="8229600" cy="640080"/>
          </a:xfrm>
          <a:prstGeom prst="rect">
            <a:avLst/>
          </a:prstGeom>
          <a:noFill/>
          <a:ln/>
        </p:spPr>
        <p:txBody>
          <a:bodyPr wrap="square" lIns="0" tIns="0" rIns="0" bIns="0" rtlCol="0" anchor="ctr"/>
          <a:lstStyle/>
          <a:p>
            <a:pPr indent="0" marL="0">
              <a:buNone/>
            </a:pPr>
            <a:r>
              <a:rPr lang="en-US" sz="3200" b="1" dirty="0">
                <a:solidFill>
                  <a:srgbClr val="FFFFFF"/>
                </a:solidFill>
                <a:latin typeface="Cambria" pitchFamily="34" charset="0"/>
                <a:ea typeface="Cambria" pitchFamily="34" charset="-122"/>
                <a:cs typeface="Cambria" pitchFamily="34" charset="-120"/>
              </a:rPr>
              <a:t>Key Takeaways</a:t>
            </a:r>
            <a:endParaRPr lang="en-US" sz="3200" dirty="0"/>
          </a:p>
        </p:txBody>
      </p:sp>
      <p:sp>
        <p:nvSpPr>
          <p:cNvPr id="5" name="Shape 2"/>
          <p:cNvSpPr/>
          <p:nvPr/>
        </p:nvSpPr>
        <p:spPr>
          <a:xfrm>
            <a:off x="548640" y="1719072"/>
            <a:ext cx="292608" cy="292608"/>
          </a:xfrm>
          <a:prstGeom prst="ellipse">
            <a:avLst/>
          </a:prstGeom>
          <a:solidFill>
            <a:srgbClr val="2A78D6"/>
          </a:solidFill>
          <a:ln/>
        </p:spPr>
      </p:sp>
      <p:sp>
        <p:nvSpPr>
          <p:cNvPr id="6" name="Text 3"/>
          <p:cNvSpPr/>
          <p:nvPr/>
        </p:nvSpPr>
        <p:spPr>
          <a:xfrm>
            <a:off x="548640" y="171907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7" name="Text 4"/>
          <p:cNvSpPr/>
          <p:nvPr/>
        </p:nvSpPr>
        <p:spPr>
          <a:xfrm>
            <a:off x="1005840" y="169164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A pipeline that runs without crashing gives no signal that its output is wrong; failures propagate silently.</a:t>
            </a:r>
            <a:endParaRPr lang="en-US" sz="1400" dirty="0"/>
          </a:p>
        </p:txBody>
      </p:sp>
      <p:sp>
        <p:nvSpPr>
          <p:cNvPr id="8" name="Shape 5"/>
          <p:cNvSpPr/>
          <p:nvPr/>
        </p:nvSpPr>
        <p:spPr>
          <a:xfrm>
            <a:off x="548640" y="2587752"/>
            <a:ext cx="292608" cy="292608"/>
          </a:xfrm>
          <a:prstGeom prst="ellipse">
            <a:avLst/>
          </a:prstGeom>
          <a:solidFill>
            <a:srgbClr val="2A78D6"/>
          </a:solidFill>
          <a:ln/>
        </p:spPr>
      </p:sp>
      <p:sp>
        <p:nvSpPr>
          <p:cNvPr id="9" name="Text 6"/>
          <p:cNvSpPr/>
          <p:nvPr/>
        </p:nvSpPr>
        <p:spPr>
          <a:xfrm>
            <a:off x="548640" y="258775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0" name="Text 7"/>
          <p:cNvSpPr/>
          <p:nvPr/>
        </p:nvSpPr>
        <p:spPr>
          <a:xfrm>
            <a:off x="1005840" y="256032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The right fix for missing data depends on whether it's MCAR, MAR, or MNAR; no single strategy fits all three.</a:t>
            </a:r>
            <a:endParaRPr lang="en-US" sz="1400" dirty="0"/>
          </a:p>
        </p:txBody>
      </p:sp>
      <p:sp>
        <p:nvSpPr>
          <p:cNvPr id="11" name="Shape 8"/>
          <p:cNvSpPr/>
          <p:nvPr/>
        </p:nvSpPr>
        <p:spPr>
          <a:xfrm>
            <a:off x="548640" y="3456432"/>
            <a:ext cx="292608" cy="292608"/>
          </a:xfrm>
          <a:prstGeom prst="ellipse">
            <a:avLst/>
          </a:prstGeom>
          <a:solidFill>
            <a:srgbClr val="2A78D6"/>
          </a:solidFill>
          <a:ln/>
        </p:spPr>
      </p:sp>
      <p:sp>
        <p:nvSpPr>
          <p:cNvPr id="12" name="Text 9"/>
          <p:cNvSpPr/>
          <p:nvPr/>
        </p:nvSpPr>
        <p:spPr>
          <a:xfrm>
            <a:off x="548640" y="345643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3" name="Text 10"/>
          <p:cNvSpPr/>
          <p:nvPr/>
        </p:nvSpPr>
        <p:spPr>
          <a:xfrm>
            <a:off x="1005840" y="342900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Target encoding is powerful but leaks the label unless computed strictly out-of-fold, with rare categories smoothed.</a:t>
            </a:r>
            <a:endParaRPr lang="en-US" sz="1400" dirty="0"/>
          </a:p>
        </p:txBody>
      </p:sp>
      <p:sp>
        <p:nvSpPr>
          <p:cNvPr id="14" name="Shape 11"/>
          <p:cNvSpPr/>
          <p:nvPr/>
        </p:nvSpPr>
        <p:spPr>
          <a:xfrm>
            <a:off x="548640" y="4325112"/>
            <a:ext cx="292608" cy="292608"/>
          </a:xfrm>
          <a:prstGeom prst="ellipse">
            <a:avLst/>
          </a:prstGeom>
          <a:solidFill>
            <a:srgbClr val="2A78D6"/>
          </a:solidFill>
          <a:ln/>
        </p:spPr>
      </p:sp>
      <p:sp>
        <p:nvSpPr>
          <p:cNvPr id="15" name="Text 12"/>
          <p:cNvSpPr/>
          <p:nvPr/>
        </p:nvSpPr>
        <p:spPr>
          <a:xfrm>
            <a:off x="548640" y="432511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6" name="Text 13"/>
          <p:cNvSpPr/>
          <p:nvPr/>
        </p:nvSpPr>
        <p:spPr>
          <a:xfrm>
            <a:off x="1005840" y="429768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Scaling matters for distance- and gradient-based methods, but tree-based splits are invariant to it.</a:t>
            </a:r>
            <a:endParaRPr lang="en-US" sz="1400" dirty="0"/>
          </a:p>
        </p:txBody>
      </p:sp>
      <p:sp>
        <p:nvSpPr>
          <p:cNvPr id="17" name="Shape 14"/>
          <p:cNvSpPr/>
          <p:nvPr/>
        </p:nvSpPr>
        <p:spPr>
          <a:xfrm>
            <a:off x="548640" y="5193792"/>
            <a:ext cx="292608" cy="292608"/>
          </a:xfrm>
          <a:prstGeom prst="ellipse">
            <a:avLst/>
          </a:prstGeom>
          <a:solidFill>
            <a:srgbClr val="2A78D6"/>
          </a:solidFill>
          <a:ln/>
        </p:spPr>
      </p:sp>
      <p:sp>
        <p:nvSpPr>
          <p:cNvPr id="18" name="Text 15"/>
          <p:cNvSpPr/>
          <p:nvPr/>
        </p:nvSpPr>
        <p:spPr>
          <a:xfrm>
            <a:off x="548640" y="5193792"/>
            <a:ext cx="292608" cy="29260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ea typeface="Calibri" pitchFamily="34" charset="-122"/>
                <a:cs typeface="Calibri" pitchFamily="34" charset="-120"/>
              </a:rPr>
              <a:t>✓</a:t>
            </a:r>
            <a:endParaRPr lang="en-US" sz="1400" dirty="0"/>
          </a:p>
        </p:txBody>
      </p:sp>
      <p:sp>
        <p:nvSpPr>
          <p:cNvPr id="19" name="Text 16"/>
          <p:cNvSpPr/>
          <p:nvPr/>
        </p:nvSpPr>
        <p:spPr>
          <a:xfrm>
            <a:off x="1005840" y="5166360"/>
            <a:ext cx="10241280" cy="822960"/>
          </a:xfrm>
          <a:prstGeom prst="rect">
            <a:avLst/>
          </a:prstGeom>
          <a:noFill/>
          <a:ln/>
        </p:spPr>
        <p:txBody>
          <a:bodyPr wrap="square" lIns="0" tIns="0" rIns="0" bIns="0" rtlCol="0" anchor="ctr"/>
          <a:lstStyle/>
          <a:p>
            <a:pPr indent="0" marL="0">
              <a:lnSpc>
                <a:spcPts val="1800"/>
              </a:lnSpc>
              <a:buNone/>
            </a:pPr>
            <a:r>
              <a:rPr lang="en-US" sz="1400" dirty="0">
                <a:solidFill>
                  <a:srgbClr val="CDE2FB"/>
                </a:solidFill>
                <a:latin typeface="Calibri" pitchFamily="34" charset="0"/>
                <a:ea typeface="Calibri" pitchFamily="34" charset="-122"/>
                <a:cs typeface="Calibri" pitchFamily="34" charset="-120"/>
              </a:rPr>
              <a:t>A shared feature store is the standard fix for training-serving skew: the same code, not two implementations.</a:t>
            </a:r>
            <a:endParaRPr lang="en-US" sz="1400" dirty="0"/>
          </a:p>
        </p:txBody>
      </p:sp>
      <p:sp>
        <p:nvSpPr>
          <p:cNvPr id="20" name="Text 17"/>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1.7  |  Phase 1 - AI &amp; Machine Learning Foundations</a:t>
            </a:r>
            <a:endParaRPr lang="en-US" sz="1000" dirty="0"/>
          </a:p>
        </p:txBody>
      </p:sp>
      <p:sp>
        <p:nvSpPr>
          <p:cNvPr id="21" name="Text 18"/>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14</a:t>
            </a:r>
            <a:endParaRPr lang="en-US" sz="10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320040"/>
            <a:ext cx="10058400" cy="274320"/>
          </a:xfrm>
          <a:prstGeom prst="rect">
            <a:avLst/>
          </a:prstGeom>
          <a:noFill/>
          <a:ln/>
        </p:spPr>
        <p:txBody>
          <a:bodyPr wrap="square" lIns="0" tIns="0" rIns="0" bIns="0" rtlCol="0" anchor="ctr"/>
          <a:lstStyle/>
          <a:p>
            <a:pPr indent="0" marL="0">
              <a:buNone/>
            </a:pPr>
            <a:r>
              <a:rPr lang="en-US" sz="1200" b="1" spc="100" kern="0" dirty="0">
                <a:solidFill>
                  <a:srgbClr val="2A78D6"/>
                </a:solidFill>
                <a:latin typeface="Calibri" pitchFamily="34" charset="0"/>
                <a:ea typeface="Calibri" pitchFamily="34" charset="-122"/>
                <a:cs typeface="Calibri" pitchFamily="34" charset="-120"/>
              </a:rPr>
              <a:t>FURTHER READING</a:t>
            </a:r>
            <a:endParaRPr lang="en-US" sz="1200" dirty="0"/>
          </a:p>
        </p:txBody>
      </p:sp>
      <p:sp>
        <p:nvSpPr>
          <p:cNvPr id="3" name="Text 1"/>
          <p:cNvSpPr/>
          <p:nvPr/>
        </p:nvSpPr>
        <p:spPr>
          <a:xfrm>
            <a:off x="457200" y="566928"/>
            <a:ext cx="11247120" cy="594360"/>
          </a:xfrm>
          <a:prstGeom prst="rect">
            <a:avLst/>
          </a:prstGeom>
          <a:noFill/>
          <a:ln/>
        </p:spPr>
        <p:txBody>
          <a:bodyPr wrap="square" lIns="0" tIns="0" rIns="0" bIns="0" rtlCol="0" anchor="ctr"/>
          <a:lstStyle/>
          <a:p>
            <a:pPr indent="0" marL="0">
              <a:buNone/>
            </a:pPr>
            <a:r>
              <a:rPr lang="en-US" sz="3000" b="1" dirty="0">
                <a:solidFill>
                  <a:srgbClr val="0B0B0B"/>
                </a:solidFill>
                <a:latin typeface="Cambria" pitchFamily="34" charset="0"/>
                <a:ea typeface="Cambria" pitchFamily="34" charset="-122"/>
                <a:cs typeface="Cambria" pitchFamily="34" charset="-120"/>
              </a:rPr>
              <a:t>Sources Cited in This Chapter</a:t>
            </a:r>
            <a:endParaRPr lang="en-US" sz="3000" dirty="0"/>
          </a:p>
        </p:txBody>
      </p:sp>
      <p:sp>
        <p:nvSpPr>
          <p:cNvPr id="4" name="Shape 2"/>
          <p:cNvSpPr/>
          <p:nvPr/>
        </p:nvSpPr>
        <p:spPr>
          <a:xfrm>
            <a:off x="457200" y="1700784"/>
            <a:ext cx="146304" cy="146304"/>
          </a:xfrm>
          <a:prstGeom prst="ellipse">
            <a:avLst/>
          </a:prstGeom>
          <a:solidFill>
            <a:srgbClr val="2A78D6"/>
          </a:solidFill>
          <a:ln/>
        </p:spPr>
      </p:sp>
      <p:sp>
        <p:nvSpPr>
          <p:cNvPr id="5" name="Text 3"/>
          <p:cNvSpPr/>
          <p:nvPr/>
        </p:nvSpPr>
        <p:spPr>
          <a:xfrm>
            <a:off x="777240" y="164592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Little &amp; Rubin, Statistical Analysis with Missing Data, 2nd ed.</a:t>
            </a:r>
            <a:endParaRPr lang="en-US" sz="1500" dirty="0"/>
          </a:p>
        </p:txBody>
      </p:sp>
      <p:sp>
        <p:nvSpPr>
          <p:cNvPr id="6" name="Text 4"/>
          <p:cNvSpPr/>
          <p:nvPr/>
        </p:nvSpPr>
        <p:spPr>
          <a:xfrm>
            <a:off x="777240" y="195681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Wiley, 2002</a:t>
            </a:r>
            <a:endParaRPr lang="en-US" sz="1200" dirty="0"/>
          </a:p>
        </p:txBody>
      </p:sp>
      <p:sp>
        <p:nvSpPr>
          <p:cNvPr id="7" name="Shape 5"/>
          <p:cNvSpPr/>
          <p:nvPr/>
        </p:nvSpPr>
        <p:spPr>
          <a:xfrm>
            <a:off x="457200" y="2478024"/>
            <a:ext cx="146304" cy="146304"/>
          </a:xfrm>
          <a:prstGeom prst="ellipse">
            <a:avLst/>
          </a:prstGeom>
          <a:solidFill>
            <a:srgbClr val="2A78D6"/>
          </a:solidFill>
          <a:ln/>
        </p:spPr>
      </p:sp>
      <p:sp>
        <p:nvSpPr>
          <p:cNvPr id="8" name="Text 6"/>
          <p:cNvSpPr/>
          <p:nvPr/>
        </p:nvSpPr>
        <p:spPr>
          <a:xfrm>
            <a:off x="777240" y="242316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van Buuren &amp; Groothuis-Oudshoorn, mice: Multivariate Imputation by Chained Equations in R</a:t>
            </a:r>
            <a:endParaRPr lang="en-US" sz="1500" dirty="0"/>
          </a:p>
        </p:txBody>
      </p:sp>
      <p:sp>
        <p:nvSpPr>
          <p:cNvPr id="9" name="Text 7"/>
          <p:cNvSpPr/>
          <p:nvPr/>
        </p:nvSpPr>
        <p:spPr>
          <a:xfrm>
            <a:off x="777240" y="273405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Journal of Statistical Software, 2011</a:t>
            </a:r>
            <a:endParaRPr lang="en-US" sz="1200" dirty="0"/>
          </a:p>
        </p:txBody>
      </p:sp>
      <p:sp>
        <p:nvSpPr>
          <p:cNvPr id="10" name="Shape 8"/>
          <p:cNvSpPr/>
          <p:nvPr/>
        </p:nvSpPr>
        <p:spPr>
          <a:xfrm>
            <a:off x="457200" y="3255264"/>
            <a:ext cx="146304" cy="146304"/>
          </a:xfrm>
          <a:prstGeom prst="ellipse">
            <a:avLst/>
          </a:prstGeom>
          <a:solidFill>
            <a:srgbClr val="2A78D6"/>
          </a:solidFill>
          <a:ln/>
        </p:spPr>
      </p:sp>
      <p:sp>
        <p:nvSpPr>
          <p:cNvPr id="11" name="Text 9"/>
          <p:cNvSpPr/>
          <p:nvPr/>
        </p:nvSpPr>
        <p:spPr>
          <a:xfrm>
            <a:off x="777240" y="320040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Micci-Barreca, A Preprocessing Scheme for High-Cardinality Categorical Attributes</a:t>
            </a:r>
            <a:endParaRPr lang="en-US" sz="1500" dirty="0"/>
          </a:p>
        </p:txBody>
      </p:sp>
      <p:sp>
        <p:nvSpPr>
          <p:cNvPr id="12" name="Text 10"/>
          <p:cNvSpPr/>
          <p:nvPr/>
        </p:nvSpPr>
        <p:spPr>
          <a:xfrm>
            <a:off x="777240" y="351129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SIGKDD Explorations, 2001</a:t>
            </a:r>
            <a:endParaRPr lang="en-US" sz="1200" dirty="0"/>
          </a:p>
        </p:txBody>
      </p:sp>
      <p:sp>
        <p:nvSpPr>
          <p:cNvPr id="13" name="Shape 11"/>
          <p:cNvSpPr/>
          <p:nvPr/>
        </p:nvSpPr>
        <p:spPr>
          <a:xfrm>
            <a:off x="457200" y="4032504"/>
            <a:ext cx="146304" cy="146304"/>
          </a:xfrm>
          <a:prstGeom prst="ellipse">
            <a:avLst/>
          </a:prstGeom>
          <a:solidFill>
            <a:srgbClr val="2A78D6"/>
          </a:solidFill>
          <a:ln/>
        </p:spPr>
      </p:sp>
      <p:sp>
        <p:nvSpPr>
          <p:cNvPr id="14" name="Text 12"/>
          <p:cNvSpPr/>
          <p:nvPr/>
        </p:nvSpPr>
        <p:spPr>
          <a:xfrm>
            <a:off x="777240" y="397764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Guo &amp; Berkhahn, Entity Embeddings of Categorical Variables</a:t>
            </a:r>
            <a:endParaRPr lang="en-US" sz="1500" dirty="0"/>
          </a:p>
        </p:txBody>
      </p:sp>
      <p:sp>
        <p:nvSpPr>
          <p:cNvPr id="15" name="Text 13"/>
          <p:cNvSpPr/>
          <p:nvPr/>
        </p:nvSpPr>
        <p:spPr>
          <a:xfrm>
            <a:off x="777240" y="428853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arXiv, 2016</a:t>
            </a:r>
            <a:endParaRPr lang="en-US" sz="1200" dirty="0"/>
          </a:p>
        </p:txBody>
      </p:sp>
      <p:sp>
        <p:nvSpPr>
          <p:cNvPr id="16" name="Shape 14"/>
          <p:cNvSpPr/>
          <p:nvPr/>
        </p:nvSpPr>
        <p:spPr>
          <a:xfrm>
            <a:off x="457200" y="4809744"/>
            <a:ext cx="146304" cy="146304"/>
          </a:xfrm>
          <a:prstGeom prst="ellipse">
            <a:avLst/>
          </a:prstGeom>
          <a:solidFill>
            <a:srgbClr val="2A78D6"/>
          </a:solidFill>
          <a:ln/>
        </p:spPr>
      </p:sp>
      <p:sp>
        <p:nvSpPr>
          <p:cNvPr id="17" name="Text 15"/>
          <p:cNvSpPr/>
          <p:nvPr/>
        </p:nvSpPr>
        <p:spPr>
          <a:xfrm>
            <a:off x="777240" y="4754880"/>
            <a:ext cx="10058400" cy="329184"/>
          </a:xfrm>
          <a:prstGeom prst="rect">
            <a:avLst/>
          </a:prstGeom>
          <a:noFill/>
          <a:ln/>
        </p:spPr>
        <p:txBody>
          <a:bodyPr wrap="square" lIns="0" tIns="0" rIns="0" bIns="0" rtlCol="0" anchor="ctr"/>
          <a:lstStyle/>
          <a:p>
            <a:pPr indent="0" marL="0">
              <a:buNone/>
            </a:pPr>
            <a:r>
              <a:rPr lang="en-US" sz="1500" b="1" dirty="0">
                <a:solidFill>
                  <a:srgbClr val="0B0B0B"/>
                </a:solidFill>
                <a:latin typeface="Calibri" pitchFamily="34" charset="0"/>
                <a:ea typeface="Calibri" pitchFamily="34" charset="-122"/>
                <a:cs typeface="Calibri" pitchFamily="34" charset="-120"/>
              </a:rPr>
              <a:t>Sculley et al., Hidden Technical Debt in Machine Learning Systems</a:t>
            </a:r>
            <a:endParaRPr lang="en-US" sz="1500" dirty="0"/>
          </a:p>
        </p:txBody>
      </p:sp>
      <p:sp>
        <p:nvSpPr>
          <p:cNvPr id="18" name="Text 16"/>
          <p:cNvSpPr/>
          <p:nvPr/>
        </p:nvSpPr>
        <p:spPr>
          <a:xfrm>
            <a:off x="777240" y="5065776"/>
            <a:ext cx="10058400" cy="292608"/>
          </a:xfrm>
          <a:prstGeom prst="rect">
            <a:avLst/>
          </a:prstGeom>
          <a:noFill/>
          <a:ln/>
        </p:spPr>
        <p:txBody>
          <a:bodyPr wrap="square" lIns="0" tIns="0" rIns="0" bIns="0" rtlCol="0" anchor="ctr"/>
          <a:lstStyle/>
          <a:p>
            <a:pPr indent="0" marL="0">
              <a:buNone/>
            </a:pPr>
            <a:r>
              <a:rPr lang="en-US" sz="1200" dirty="0">
                <a:solidFill>
                  <a:srgbClr val="898781"/>
                </a:solidFill>
                <a:latin typeface="Calibri" pitchFamily="34" charset="0"/>
                <a:ea typeface="Calibri" pitchFamily="34" charset="-122"/>
                <a:cs typeface="Calibri" pitchFamily="34" charset="-120"/>
              </a:rPr>
              <a:t>NeurIPS, 2015</a:t>
            </a:r>
            <a:endParaRPr lang="en-US" sz="1200" dirty="0"/>
          </a:p>
        </p:txBody>
      </p:sp>
      <p:sp>
        <p:nvSpPr>
          <p:cNvPr id="19" name="Text 17"/>
          <p:cNvSpPr/>
          <p:nvPr/>
        </p:nvSpPr>
        <p:spPr>
          <a:xfrm>
            <a:off x="457200" y="6035040"/>
            <a:ext cx="11274552" cy="320040"/>
          </a:xfrm>
          <a:prstGeom prst="rect">
            <a:avLst/>
          </a:prstGeom>
          <a:noFill/>
          <a:ln/>
        </p:spPr>
        <p:txBody>
          <a:bodyPr wrap="square" lIns="0" tIns="0" rIns="0" bIns="0" rtlCol="0" anchor="ctr"/>
          <a:lstStyle/>
          <a:p>
            <a:pPr indent="0" marL="0">
              <a:buNone/>
            </a:pPr>
            <a:r>
              <a:rPr lang="en-US" sz="1200" i="1" dirty="0">
                <a:solidFill>
                  <a:srgbClr val="898781"/>
                </a:solidFill>
                <a:latin typeface="Calibri" pitchFamily="34" charset="0"/>
                <a:ea typeface="Calibri" pitchFamily="34" charset="-122"/>
                <a:cs typeface="Calibri" pitchFamily="34" charset="-120"/>
              </a:rPr>
              <a:t>Full chapter with inline links: docs/01-ai-ml-foundations/1-7-data-foundations.mdx</a:t>
            </a:r>
            <a:endParaRPr lang="en-US" sz="1200" dirty="0"/>
          </a:p>
        </p:txBody>
      </p:sp>
      <p:sp>
        <p:nvSpPr>
          <p:cNvPr id="20" name="Text 18"/>
          <p:cNvSpPr/>
          <p:nvPr/>
        </p:nvSpPr>
        <p:spPr>
          <a:xfrm>
            <a:off x="457200" y="6510528"/>
            <a:ext cx="7315200" cy="274320"/>
          </a:xfrm>
          <a:prstGeom prst="rect">
            <a:avLst/>
          </a:prstGeom>
          <a:noFill/>
          <a:ln/>
        </p:spPr>
        <p:txBody>
          <a:bodyPr wrap="square" lIns="0" tIns="0" rIns="0" bIns="0" rtlCol="0" anchor="ctr"/>
          <a:lstStyle/>
          <a:p>
            <a:pPr algn="l" indent="0" marL="0">
              <a:buNone/>
            </a:pPr>
            <a:r>
              <a:rPr lang="en-US" sz="1000" dirty="0">
                <a:solidFill>
                  <a:srgbClr val="898781"/>
                </a:solidFill>
                <a:latin typeface="Calibri" pitchFamily="34" charset="0"/>
                <a:ea typeface="Calibri" pitchFamily="34" charset="-122"/>
                <a:cs typeface="Calibri" pitchFamily="34" charset="-120"/>
              </a:rPr>
              <a:t>1.7  |  Phase 1 - AI &amp; Machine Learning Foundations</a:t>
            </a:r>
            <a:endParaRPr lang="en-US" sz="1000" dirty="0"/>
          </a:p>
        </p:txBody>
      </p:sp>
      <p:sp>
        <p:nvSpPr>
          <p:cNvPr id="21" name="Text 19"/>
          <p:cNvSpPr/>
          <p:nvPr/>
        </p:nvSpPr>
        <p:spPr>
          <a:xfrm>
            <a:off x="11274552" y="6510528"/>
            <a:ext cx="457200" cy="274320"/>
          </a:xfrm>
          <a:prstGeom prst="rect">
            <a:avLst/>
          </a:prstGeom>
          <a:noFill/>
          <a:ln/>
        </p:spPr>
        <p:txBody>
          <a:bodyPr wrap="square" lIns="0" tIns="0" rIns="0" bIns="0" rtlCol="0" anchor="ctr"/>
          <a:lstStyle/>
          <a:p>
            <a:pPr algn="r" indent="0" marL="0">
              <a:buNone/>
            </a:pPr>
            <a:r>
              <a:rPr lang="en-US" sz="1000" dirty="0">
                <a:solidFill>
                  <a:srgbClr val="898781"/>
                </a:solidFill>
                <a:latin typeface="Calibri" pitchFamily="34" charset="0"/>
                <a:ea typeface="Calibri" pitchFamily="34" charset="-122"/>
                <a:cs typeface="Calibri" pitchFamily="34" charset="-120"/>
              </a:rPr>
              <a:t>15</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2026-08-19T22:40:15Z</dcterms:created>
  <dcterms:modified xsi:type="dcterms:W3CDTF">2026-08-19T22:40:15Z</dcterms:modified>
</cp:coreProperties>
</file>