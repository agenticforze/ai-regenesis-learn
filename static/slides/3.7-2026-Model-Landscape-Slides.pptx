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184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CHAPTER 3.7 · PHASE 3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31520" y="2377440"/>
            <a:ext cx="1069848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3450"/>
              </a:lnSpc>
              <a:buNone/>
            </a:pPr>
            <a:r>
              <a:rPr lang="en-US" sz="30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2026 Model Landscape: Open vs. Closed, Size Classes, Choosing a Base Model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31520" y="4709160"/>
            <a:ext cx="2926080" cy="0"/>
          </a:xfrm>
          <a:prstGeom prst="line">
            <a:avLst/>
          </a:prstGeom>
          <a:noFill/>
          <a:ln w="38100">
            <a:solidFill>
              <a:srgbClr val="184F9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493776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to actually choose a model to deploy, across openness, size class, and licensing together.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63093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NLP &amp; Language Model Foundations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84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this chapter covers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1088136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Open-weight versus closed API-only models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"open-weight" is not the same as "open-source"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real license terms vary, from permissive to conditional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Size classes: frontier, mid-size, and small/edge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Weighing capability, residency, cost, and vendor risk together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 use cases across Finance, Healthcare, and Telecom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84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TL;DR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short version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1088136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Closed models: API only, vendor controls hosting and versioning (OpenAI, Anthropic, Google)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Open-weight models: downloadable, self-hostable (Llama, DeepSeek, Qwen, Mistral)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"Open-weight" is not "unrestricted": license terms vary considerably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Llama 4's license requires a separate agreement if MAU exceeded 700 million as of its release date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Size class (frontier, mid-size, small/edge) is a second, independent choice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84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HIGH-LEVEL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independent dimensions: openness and size class</a:t>
            </a:r>
            <a:endParaRPr lang="en-US" sz="2600" dirty="0"/>
          </a:p>
        </p:txBody>
      </p:sp>
      <p:pic>
        <p:nvPicPr>
          <p:cNvPr id="4" name="Image 0" descr="/home/claude/phase3/svgs/png/3-7-open-vs-closed-size-class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4150" y="1417320"/>
            <a:ext cx="9823396" cy="44805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1520" y="603504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real deployment decision has to weigh both, plus the specific license terms attached to whichever open-weight option is chosen.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84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DEEP-DIVE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"open" actually includes, item by item</a:t>
            </a:r>
            <a:endParaRPr lang="en-US" sz="2600" dirty="0"/>
          </a:p>
        </p:txBody>
      </p:sp>
      <p:pic>
        <p:nvPicPr>
          <p:cNvPr id="4" name="Image 0" descr="/home/claude/phase3/svgs/png/3-7-open-weight-vs-open-sour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64469" y="1417320"/>
            <a:ext cx="8462758" cy="44805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1520" y="603504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Open-weight publishes the trained result. Open-source would additionally require publishing the training data, training code, and methodology.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84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DEEP-DIVE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"Open-weight" spans a spectrum of actual legal freedom</a:t>
            </a:r>
            <a:endParaRPr lang="en-US" sz="2600" dirty="0"/>
          </a:p>
        </p:txBody>
      </p:sp>
      <p:pic>
        <p:nvPicPr>
          <p:cNvPr id="4" name="Image 0" descr="/home/claude/phase3/svgs/png/3-7-license-spectru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8048" y="1417320"/>
            <a:ext cx="10515600" cy="433476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1520" y="5889244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fully permissive Apache 2.0/MIT licenses to Meta's Llama 4 license, which requires a separate agreement if the licensee exceeded 700 million monthly active users as of the release date.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84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DEEP-DIVE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label "open" does not tell you which kind you are getting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1088136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genuinely permissive license (Apache 2.0, MIT) has no usage restriction, ever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conditional community license is free below a stated threshold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Llama 4: separate license required if MAU exceeded 700M as of release date, at Meta's discretion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specific license text must be checked per model, not inferred from marketing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84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DEEP-DIVE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size classes, three deployability trade-offs</a:t>
            </a:r>
            <a:endParaRPr lang="en-US" sz="2600" dirty="0"/>
          </a:p>
        </p:txBody>
      </p:sp>
      <p:pic>
        <p:nvPicPr>
          <p:cNvPr id="4" name="Image 0" descr="/home/claude/phase3/svgs/png/3-7-size-class-tradeoff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8048" y="1417320"/>
            <a:ext cx="10515600" cy="433476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1520" y="5889244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smaller model fine-tuned tightly on one narrow task can sometimes match a much larger general-purpose model on that task.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84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DEEP-DIVE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Choosing a base model means weighing several axes together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1088136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task's actual capability requirement, not just the highest benchmark score available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Whether data residency or privacy rules permit sending data to a third-party API at all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cost of ownership: API per-token pricing versus self-hosting infrastructure and engineering cost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Latency requirements, and whether the license actually permits the intended use at the intended scale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Vendor-concentration risk: depending on one API vendor versus owning a downloadable checkpoint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84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 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checks feed one base model decision</a:t>
            </a:r>
            <a:endParaRPr lang="en-US" sz="2600" dirty="0"/>
          </a:p>
        </p:txBody>
      </p:sp>
      <p:pic>
        <p:nvPicPr>
          <p:cNvPr id="4" name="Image 0" descr="/home/claude/phase3/svgs/png/3-7-decision-flow-summar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8048" y="1417320"/>
            <a:ext cx="10515600" cy="433476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1520" y="5889244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Capability, data residency, cost/latency/vendor-risk, and license terms all have to be checked, not just capability alone.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84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COMPARISON &amp; RELATED CONCEPTS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Closed vs. open-weight, frontier vs. smaller</a:t>
            </a:r>
            <a:endParaRPr lang="en-US" sz="26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463040"/>
          <a:ext cx="10881360" cy="4206240"/>
        </p:xfrm>
        <a:graphic>
          <a:graphicData uri="http://schemas.openxmlformats.org/drawingml/2006/table">
            <a:tbl>
              <a:tblPr/>
              <a:tblGrid>
                <a:gridCol w="2720340"/>
                <a:gridCol w="2720340"/>
                <a:gridCol w="2720340"/>
                <a:gridCol w="2720340"/>
              </a:tblGrid>
              <a:tr h="8412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Aspect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428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Closed frontier models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428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Open-weight frontier-scale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428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Open-weight mid-size / small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4281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B0B0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Access method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6B6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API only; weights never released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Downloadable, self-hostable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Downloadable, self-hostable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C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B0B0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Typical hosting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6B6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Vendor-hosted only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Self-hosted (multi-GPU) or vendor-hosted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Self-hosted on a few GPUs, or on-device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C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B0B0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Licensing model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Set by the vendor's API terms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Permissive to conditional; varies by model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Same range; must be checked per model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B0B0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Representative families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OpenAI GPT, Anthropic Claude, Google Gemini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Llama, DeepSeek, Qwen, Mistral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Smaller variants of the same families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580644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Openness, size class, and licensing are three separate dimensions that all have to be checked for the specific model in question.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84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 USE CASES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32588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84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 SERVICES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737360"/>
            <a:ext cx="525780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2700">
            <a:solidFill>
              <a:srgbClr val="E3E1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874520"/>
            <a:ext cx="4800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Choosing a closed API model for proprietary trading-strategy analysis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68680" y="2468880"/>
            <a:ext cx="48006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042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Problem: </a:t>
            </a:r>
            <a:pPr indent="0" marL="0">
              <a:buNone/>
            </a:pPr>
            <a:r>
              <a:rPr lang="en-US" sz="115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Sending proprietary trading-strategy text to a third-party API risks exposing alpha-generating information.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868680" y="3566160"/>
            <a:ext cx="48006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042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Solution: </a:t>
            </a:r>
            <a:pPr indent="0" marL="0">
              <a:buNone/>
            </a:pPr>
            <a:r>
              <a:rPr lang="en-US" sz="115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Evaluate whether a self-hosted open-weight model is required because the workload should never leave the firm's infrastructure.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868680" y="4663440"/>
            <a:ext cx="480060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33A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 for: </a:t>
            </a:r>
            <a:pPr indent="0" marL="0">
              <a:buNone/>
            </a:pPr>
            <a:r>
              <a:rPr lang="en-US" sz="1100" dirty="0">
                <a:solidFill>
                  <a:srgbClr val="A33A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Sending proprietary strategy content to a closed API creates a competitive-exposure risk distinct from ordinary data handling; any signal reaching a competitor or the vendor is a direct business risk.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263640" y="1737360"/>
            <a:ext cx="525780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2700">
            <a:solidFill>
              <a:srgbClr val="E3E1D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92240" y="1874520"/>
            <a:ext cx="4800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Verifying an open-weight model's license against deployment scale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92240" y="2468880"/>
            <a:ext cx="48006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042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Problem: </a:t>
            </a:r>
            <a:pPr indent="0" marL="0">
              <a:buNone/>
            </a:pPr>
            <a:r>
              <a:rPr lang="en-US" sz="115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Assuming "open-weight" means unrestricted use without checking the license's scale threshold.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492240" y="3566160"/>
            <a:ext cx="48006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042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Solution: </a:t>
            </a:r>
            <a:pPr indent="0" marL="0">
              <a:buNone/>
            </a:pPr>
            <a:r>
              <a:rPr lang="en-US" sz="115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Have legal review the exact license text against the firm's actual deployment scale before committing.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492240" y="4663440"/>
            <a:ext cx="480060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33A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 for: </a:t>
            </a:r>
            <a:pPr indent="0" marL="0">
              <a:buNone/>
            </a:pPr>
            <a:r>
              <a:rPr lang="en-US" sz="1100" dirty="0">
                <a:solidFill>
                  <a:srgbClr val="A33A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Deploying past a license's usage threshold without the required agreement creates a licensing-compliance exposure and a possible forced shutdown if discovered later.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84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 USE CASES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Healthcare &amp; Telecom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32588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84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HEALTHCARE + TELECOM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737360"/>
            <a:ext cx="525780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2700">
            <a:solidFill>
              <a:srgbClr val="E3E1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874520"/>
            <a:ext cx="4800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(Healthcare) Data residency rules out a closed API for PHI processing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68680" y="2468880"/>
            <a:ext cx="48006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042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Problem: </a:t>
            </a:r>
            <a:pPr indent="0" marL="0">
              <a:buNone/>
            </a:pPr>
            <a:r>
              <a:rPr lang="en-US" sz="115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Processing PHI through a third-party API may conflict with data-residency or business-associate-agreement requirements.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868680" y="3566160"/>
            <a:ext cx="48006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042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Solution: </a:t>
            </a:r>
            <a:pPr indent="0" marL="0">
              <a:buNone/>
            </a:pPr>
            <a:r>
              <a:rPr lang="en-US" sz="115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Evaluate self-hosting an open-weight model within the institution's own controlled environment.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868680" y="4663440"/>
            <a:ext cx="480060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33A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 for: </a:t>
            </a:r>
            <a:pPr indent="0" marL="0">
              <a:buNone/>
            </a:pPr>
            <a:r>
              <a:rPr lang="en-US" sz="1100" dirty="0">
                <a:solidFill>
                  <a:srgbClr val="A33A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Sending PHI to a closed API without a proper agreement or residency guarantee is a direct HIPAA exposure, distinct from general best practice.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263640" y="1737360"/>
            <a:ext cx="525780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2700">
            <a:solidFill>
              <a:srgbClr val="E3E1D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92240" y="1874520"/>
            <a:ext cx="4800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(Telecom) Security exposure from processing network telemetry via a closed API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92240" y="2468880"/>
            <a:ext cx="48006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042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Problem: </a:t>
            </a:r>
            <a:pPr indent="0" marL="0">
              <a:buNone/>
            </a:pPr>
            <a:r>
              <a:rPr lang="en-US" sz="115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 telemetry can reveal infrastructure topology that should not leave the operator's infrastructure.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492240" y="3566160"/>
            <a:ext cx="48006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042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Solution: </a:t>
            </a:r>
            <a:pPr indent="0" marL="0">
              <a:buNone/>
            </a:pPr>
            <a:r>
              <a:rPr lang="en-US" sz="115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Evaluate self-hosting an open-weight model for telemetry-processing workloads specifically.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492240" y="4663440"/>
            <a:ext cx="480060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33A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 for: </a:t>
            </a:r>
            <a:pPr indent="0" marL="0">
              <a:buNone/>
            </a:pPr>
            <a:r>
              <a:rPr lang="en-US" sz="1100" dirty="0">
                <a:solidFill>
                  <a:srgbClr val="A33A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Sending live telemetry to a closed API introduces a network-security exposure a general privacy review would not fully capture.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84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YOUR UNDERSTANDING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Discuss before moving 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1088136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5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What is the difference between "open-weight" and "open-source," and why does it matter?</a:t>
            </a:r>
            <a:endParaRPr lang="en-US" sz="15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5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What commercial-use condition does Meta's Llama 4 license impose, and at what threshold?</a:t>
            </a:r>
            <a:endParaRPr lang="en-US" sz="15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5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What are the three size classes, and what trade-off does each represent?</a:t>
            </a:r>
            <a:endParaRPr lang="en-US" sz="15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5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Why might data residency rule out a closed API model even at the highest capability?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042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400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86B6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CHAPTER 3.7 · PHASE 3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Takeaways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2286000"/>
            <a:ext cx="10515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Closed models: API only; open-weight models: downloadable and self-hostable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"Open-weight" is not "open-source," and not automatically unrestricted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licenses range from permissive to conditional; always check the actual text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Choosing a base model means weighing capability, residency, cost, and licensing together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1520" y="59436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6B6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Next: Phase 3 complete: NLP &amp; Language Model Foundations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2026-08-21T22:48:37Z</dcterms:created>
  <dcterms:modified xsi:type="dcterms:W3CDTF">2026-08-21T22:48:37Z</dcterms:modified>
</cp:coreProperties>
</file>