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5.3 · PHASE 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Outputs &amp; Tool/Function Calling, the Basics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3977640"/>
            <a:ext cx="2926080" cy="0"/>
          </a:xfrm>
          <a:prstGeom prst="line">
            <a:avLst/>
          </a:prstGeom>
          <a:noFill/>
          <a:ln w="38100">
            <a:solidFill>
              <a:srgbClr val="184F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206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hoping a prompt returns valid JSON to a decoding-time guarantee, and how models call real tools along the way.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 &amp; LLM Application Development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chapter covers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prompted JSON alone is unreliable, and what fails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function/tool calling as a distinct API primitive (OpenAI, Anthropic)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Constrained decoding and OpenAI's Structured Outputs guarantee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schema-valid output is not the same as correct output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ReAct: interleaving reasoning, action, and observation across multiple steps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Gorilla and the Berkeley Function-Calling Leaderboard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TL;DR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short version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Prompted JSON has no enforcement: extra prose, malformed syntax, and missing fields are common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function/tool calling (OpenAI June 2023, Anthropic tool use) lets the model select a tool and fill typed arguments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OpenAI's Structured Outputs (2024) constrains decoding itself, reporting 100% schema-valid output vs under 40% for prompting alone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schema-valid tool call can still hallucinate a wrong value; that requires evaluation, not a tighter schema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(Yao et al.): interleave reasoning with tool actions and their observations across multiple steps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Gorilla: fine-tuning specifically for API-calling accuracy reduces hallucinated calls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approaches to structured output compared</a:t>
            </a:r>
            <a:endParaRPr lang="en-US" sz="2600" dirty="0"/>
          </a:p>
        </p:txBody>
      </p:sp>
      <p:pic>
        <p:nvPicPr>
          <p:cNvPr id="4" name="Image 0" descr="/home/claude/phase3/svgs/png/5-3-structured-output-approaches-compa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5248" y="1417320"/>
            <a:ext cx="960120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approach narrows the gap between what the model is asked for and what it reliably returns; none of them verifies that the values inside a structured response are actually correct.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naive approach, and native tool/function calling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Prompted JSON fails in familiar ways: prose wrapping, malformed syntax, wrong types, missing fields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function calling (June 2023): caller supplies function schemas, model returns a structured call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tool use: tools defined via input_schema, model returns a tool_use content block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decides what and how to call; executing the tool remains the calling application's job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OpenAI's reported schema-validity rates</a:t>
            </a:r>
            <a:endParaRPr lang="en-US" sz="2600" dirty="0"/>
          </a:p>
        </p:txBody>
      </p:sp>
      <p:pic>
        <p:nvPicPr>
          <p:cNvPr id="4" name="Image 0" descr="/home/claude/phase3/svgs/png/5-3-structured-outputs-reliability-figur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4150" y="1417320"/>
            <a:ext cx="9823396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schema-valid output under Structured Outputs mode, versus under 40% for an older model prompted without enforcement and about 93% for a newer model prompted without enforcement.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tool calling: who does what</a:t>
            </a:r>
            <a:endParaRPr lang="en-US" sz="2600" dirty="0"/>
          </a:p>
        </p:txBody>
      </p:sp>
      <p:pic>
        <p:nvPicPr>
          <p:cNvPr id="4" name="Image 0" descr="/home/claude/phase3/svgs/png/5-3-tool-calling-request-response-lo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0536" y="1417320"/>
            <a:ext cx="9510623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selects a tool and fills its arguments; executing the tool and returning its result both remain the calling application's responsibility.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ReAct: interleaving reasoning, action, and observation</a:t>
            </a:r>
            <a:endParaRPr lang="en-US" sz="2600" dirty="0"/>
          </a:p>
        </p:txBody>
      </p:sp>
      <p:pic>
        <p:nvPicPr>
          <p:cNvPr id="4" name="Image 0" descr="/home/claude/phase3/svgs/png/5-3-react-reasoning-action-lo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0536" y="1417320"/>
            <a:ext cx="9510623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Yao et al., 2022: interleaving reasoning with tool actions and observations raised task success by 34 percentage points on an interactive decision-making benchmark.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schema-valid call is not a correct call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or grammar constraints guarantee shape, not content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tool call can be well-formed JSON naming a real tool with a hallucinated argument value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Gorilla: fine-tuning specifically for API-calling accuracy, with retrieval over the API pool, reduces hallucinated calls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Berkeley Function-Calling Leaderboard evaluates single, multiple, and parallel function-calling accuracy as its own benchmarkable capability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&amp; RELATED CONCEPTS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ways to get structured output, and what each guarantees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4206240"/>
        </p:xfrm>
        <a:graphic>
          <a:graphicData uri="http://schemas.openxmlformats.org/drawingml/2006/table">
            <a:tbl>
              <a:tblPr/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Aspect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Prompted JSON (no enforcement)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Native function/tool calling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Constrained structured outputs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ReAct-style tool loop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Guarantees valid syntax?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Improves reliability, not guaranteed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Yes, by construction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Inherits guarantees of whichever call mechanism it uses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Guarantees correct values?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No, but observations can correct a later step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Requires special API support?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No, works with any model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Yes, a function/tool-calling API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Yes, a constrained-decoding-capable API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Built on top of a call mechanism, plus app-side orchestration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suited for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Low-stakes, easily re-parsed output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Single-step actions with typed arguments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Downstream systems that require a hard schema guarantee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Multi-step tasks needing information gathered along the way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approach solves a different part of the problem; none of them, on its own, verifies that the values inside a structured response are actually correct.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how to get structured output from a model</a:t>
            </a:r>
            <a:endParaRPr lang="en-US" sz="2600" dirty="0"/>
          </a:p>
        </p:txBody>
      </p:sp>
      <p:pic>
        <p:nvPicPr>
          <p:cNvPr id="4" name="Image 0" descr="/home/claude/phase3/svgs/png/5-3-structured-output-decision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5093" y="1417320"/>
            <a:ext cx="7961508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availability and step count determine the mechanism; a separate check on whether values themselves need verification determines whether evaluation belongs on top.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USE CASES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SERVICES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74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Replacing prompted-JSON parsing in a transaction-categorization pipeline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pipeline asking for JSON "format" occasionally receives a response wrapped in commentary that breaks the downstream parser.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3566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to native structured outputs so the response is schema-constrained at the decoding level.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466344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 </a:t>
            </a:r>
            <a:pPr indent="0" marL="0">
              <a:buNone/>
            </a:pPr>
            <a:r>
              <a:rPr lang="en-US" sz="1100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silently dropped malformed response could leave transactions uncategorized until a reconciliation report comes up short.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7373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874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Catching a schema-valid but hallucinated account number in a funds-transfer tool call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2468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funds-transfer tool call is schema-valid, but the account number itself does not match any account the customer holds.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92240" y="3566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the argument's value against actual account records before the transfer executes.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92240" y="466344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 </a:t>
            </a:r>
            <a:pPr indent="0" marL="0">
              <a:buNone/>
            </a:pPr>
            <a:r>
              <a:rPr lang="en-US" sz="1100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Trusting a schema-valid call as proof of correctness could route funds to a wrong destination, a mistake schema enforcement alone would never catch.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USE CASES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&amp; Telecom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+ TELECOM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74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(Healthcare) Using a ReAct-style loop for medication reconciliation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Reconciling medications requires checking a prescription record, then a fill history, then an allergy list, each informed by the last.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3566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 ReAct-style loop so each lookup's result shapes the next, rather than a fixed sequence decided in advance.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466344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 </a:t>
            </a:r>
            <a:pPr indent="0" marL="0">
              <a:buNone/>
            </a:pPr>
            <a:r>
              <a:rPr lang="en-US" sz="1100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rigid pre-planned sequence could skip a follow-up check the first lookup's result would have made clearly necessary.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7373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874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(Telecom) Adopting native tool calling for a service-restart action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2468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Free-text instructions for when to restart a service are inconsistently followed, sometimes restarting a healthy service or skipping a stuck one.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92240" y="3566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a typed restart tool so the decision and its target are structured and logged for review.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92240" y="466344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 </a:t>
            </a:r>
            <a:pPr indent="0" marL="0">
              <a:buNone/>
            </a:pPr>
            <a:r>
              <a:rPr lang="en-US" sz="1100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inconsistently triggered restart could interrupt a healthy service or miss the one actually stuck, extending disruption either way.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 UNDERSTANDING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 before moving 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What are the main ways prompted JSON can fail, and why does this motivate native tool calling?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How does OpenAI's Structured Outputs mode differ from simply prompting a model to follow a schema?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Why does a schema-valid tool call not guarantee a correct one?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What is the core idea behind ReAct, and what did Yao et al. report?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What does Gorilla contribute beyond native function-calling APIs?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42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6B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5.3 · PHASE 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10515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Prompted JSON has no enforcement; native tool calling and constrained decoding each add a stronger guarantee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Constrained decoding guarantees shape, never content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ReAct-style loops let multi-step tasks adapt to what earlier tool calls actually return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 and dedicated benchmarks now treat function-calling accuracy as its own capability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6B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5.4 Structured Output Enforcement &amp; Constrained Decoding, Deep Dive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2026-08-22T15:37:48Z</dcterms:created>
  <dcterms:modified xsi:type="dcterms:W3CDTF">2026-08-22T15:37:48Z</dcterms:modified>
</cp:coreProperties>
</file>