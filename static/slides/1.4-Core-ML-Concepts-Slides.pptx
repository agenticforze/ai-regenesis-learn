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A model achieves 98% training accuracy and 71% validation accuracy. Underfitting or overfitting, and what's the standard first fix?
A1: Overfitting: a large gap between low training error and much higher validation error is the signature of high variance. Standard fixes are more data, stronger regularization, reduced capacity, or early stopping.
Q2: Why is the test set used only once, at the very end, rather than checked periodically like the validation set?
A2: Any dataset used repeatedly to make modeling decisions stops being an honest estimate, because the choices made in response to it start to fit that specific dataset. The test set is reserved to avoid this.
Q3: A validation set shows unusually high accuracy the team can't explain. What should be checked first, and why?
A3: Data leakage should be checked first: a feature encoding label or future information, or a split allowing correlated/duplicate records across the boundary. Suspiciously good performance is a common leakage symptom.
Q4: What specifically does the bias-variance decomposition say happens when a model's capacity is increased?
A4: Bias (error from a too-simple model) tends to decrease, but variance (sensitivity to the specific training sample) tends to increase, because a more flexible model has more freedom to fit the sample's noise.
Q5: Why does k-fold cross-validation give a more reliable estimate than a single split, and what does that cost?
A5: A single split gives one noisy estimate depending on which examples landed in validation; k-fold averages k such estimates. The cost is k times the training compute, since the model retrains once per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pic>
        <p:nvPicPr>
          <p:cNvPr id="2" name="Image 0" descr="/tmp/deck4/png/d0-title-motif.png">    </p:cNvPr>
          <p:cNvPicPr>
            <a:picLocks noChangeAspect="1"/>
          </p:cNvPicPr>
          <p:nvPr/>
        </p:nvPicPr>
        <p:blipFill>
          <a:blip r:embed="rId1">
            <a:alphaModFix amt="95000"/>
          </a:blip>
          <a:stretch>
            <a:fillRect/>
          </a:stretch>
        </p:blipFill>
        <p:spPr>
          <a:xfrm>
            <a:off x="6949440" y="548640"/>
            <a:ext cx="5760720" cy="5760720"/>
          </a:xfrm>
          <a:prstGeom prst="rect">
            <a:avLst/>
          </a:prstGeom>
        </p:spPr>
      </p:pic>
      <p:sp>
        <p:nvSpPr>
          <p:cNvPr id="3" name="Text 0"/>
          <p:cNvSpPr/>
          <p:nvPr/>
        </p:nvSpPr>
        <p:spPr>
          <a:xfrm>
            <a:off x="640080" y="640080"/>
            <a:ext cx="8229600" cy="32004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REGAITRAINING  ·  PHASE 1 — AI &amp; MACHINE LEARNING FOUNDATIONS</a:t>
            </a:r>
            <a:endParaRPr lang="en-US" sz="1200" dirty="0"/>
          </a:p>
        </p:txBody>
      </p:sp>
      <p:sp>
        <p:nvSpPr>
          <p:cNvPr id="4" name="Shape 1"/>
          <p:cNvSpPr/>
          <p:nvPr/>
        </p:nvSpPr>
        <p:spPr>
          <a:xfrm>
            <a:off x="640080" y="1234440"/>
            <a:ext cx="1417320" cy="384048"/>
          </a:xfrm>
          <a:prstGeom prst="roundRect">
            <a:avLst>
              <a:gd name="adj" fmla="val 19048"/>
            </a:avLst>
          </a:prstGeom>
          <a:solidFill>
            <a:srgbClr val="104281"/>
          </a:solidFill>
          <a:ln/>
        </p:spPr>
      </p:sp>
      <p:sp>
        <p:nvSpPr>
          <p:cNvPr id="5" name="Text 2"/>
          <p:cNvSpPr/>
          <p:nvPr/>
        </p:nvSpPr>
        <p:spPr>
          <a:xfrm>
            <a:off x="640080" y="123444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CHAPTER 1.4</a:t>
            </a:r>
            <a:endParaRPr lang="en-US" sz="1200" dirty="0"/>
          </a:p>
        </p:txBody>
      </p:sp>
      <p:sp>
        <p:nvSpPr>
          <p:cNvPr id="6" name="Text 3"/>
          <p:cNvSpPr/>
          <p:nvPr/>
        </p:nvSpPr>
        <p:spPr>
          <a:xfrm>
            <a:off x="594360" y="1920240"/>
            <a:ext cx="841248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Core ML Concepts</a:t>
            </a:r>
            <a:endParaRPr lang="en-US" sz="4400" dirty="0"/>
          </a:p>
        </p:txBody>
      </p:sp>
      <p:sp>
        <p:nvSpPr>
          <p:cNvPr id="7" name="Text 4"/>
          <p:cNvSpPr/>
          <p:nvPr/>
        </p:nvSpPr>
        <p:spPr>
          <a:xfrm>
            <a:off x="640080" y="2880360"/>
            <a:ext cx="8138160" cy="822960"/>
          </a:xfrm>
          <a:prstGeom prst="rect">
            <a:avLst/>
          </a:prstGeom>
          <a:noFill/>
          <a:ln/>
        </p:spPr>
        <p:txBody>
          <a:bodyPr wrap="square" lIns="0" tIns="0" rIns="0" bIns="0" rtlCol="0" anchor="ctr"/>
          <a:lstStyle/>
          <a:p>
            <a:pPr indent="0" marL="0">
              <a:lnSpc>
                <a:spcPts val="2400"/>
              </a:lnSpc>
              <a:buNone/>
            </a:pPr>
            <a:r>
              <a:rPr lang="en-US" sz="2000" dirty="0">
                <a:solidFill>
                  <a:srgbClr val="CDE2FB"/>
                </a:solidFill>
                <a:latin typeface="Calibri" pitchFamily="34" charset="0"/>
                <a:ea typeface="Calibri" pitchFamily="34" charset="-122"/>
                <a:cs typeface="Calibri" pitchFamily="34" charset="-120"/>
              </a:rPr>
              <a:t>Features, Train/Validation/Test, Bias-Variance, and Overfitting</a:t>
            </a:r>
            <a:endParaRPr lang="en-US" sz="2000" dirty="0"/>
          </a:p>
        </p:txBody>
      </p:sp>
      <p:sp>
        <p:nvSpPr>
          <p:cNvPr id="8" name="Text 5"/>
          <p:cNvSpPr/>
          <p:nvPr/>
        </p:nvSpPr>
        <p:spPr>
          <a:xfrm>
            <a:off x="640080" y="3931920"/>
            <a:ext cx="6766560" cy="822960"/>
          </a:xfrm>
          <a:prstGeom prst="rect">
            <a:avLst/>
          </a:prstGeom>
          <a:noFill/>
          <a:ln/>
        </p:spPr>
        <p:txBody>
          <a:bodyPr wrap="square" lIns="0" tIns="0" rIns="0" bIns="0" rtlCol="0" anchor="ctr"/>
          <a:lstStyle/>
          <a:p>
            <a:pPr indent="0" marL="0">
              <a:lnSpc>
                <a:spcPts val="2000"/>
              </a:lnSpc>
              <a:buNone/>
            </a:pPr>
            <a:r>
              <a:rPr lang="en-US" sz="1400" dirty="0">
                <a:solidFill>
                  <a:srgbClr val="C3C2B7"/>
                </a:solidFill>
                <a:latin typeface="Calibri" pitchFamily="34" charset="0"/>
                <a:ea typeface="Calibri" pitchFamily="34" charset="-122"/>
                <a:cs typeface="Calibri" pitchFamily="34" charset="-120"/>
              </a:rPr>
              <a:t>A teaching-slide walkthrough of the chapter: how to get an honest read on generalization, and the bias-variance math behind why models fail in two opposite directions.</a:t>
            </a:r>
            <a:endParaRPr lang="en-US" sz="1400" dirty="0"/>
          </a:p>
        </p:txBody>
      </p:sp>
      <p:sp>
        <p:nvSpPr>
          <p:cNvPr id="9" name="Text 6"/>
          <p:cNvSpPr/>
          <p:nvPr/>
        </p:nvSpPr>
        <p:spPr>
          <a:xfrm>
            <a:off x="640080" y="6263640"/>
            <a:ext cx="8229600" cy="32004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Instructor deck  ·  15 slides  ·  based on docs/01-ai-ml-foundations/1-4-core-ml-concepts.mdx</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457200" y="1508760"/>
            <a:ext cx="502920" cy="502920"/>
          </a:xfrm>
          <a:prstGeom prst="ellipse">
            <a:avLst/>
          </a:prstGeom>
          <a:solidFill>
            <a:srgbClr val="104281"/>
          </a:solidFill>
          <a:ln/>
        </p:spPr>
      </p:sp>
      <p:sp>
        <p:nvSpPr>
          <p:cNvPr id="5" name="Text 3"/>
          <p:cNvSpPr/>
          <p:nvPr/>
        </p:nvSpPr>
        <p:spPr>
          <a:xfrm>
            <a:off x="45720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1556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Features and splits</a:t>
            </a:r>
            <a:endParaRPr lang="en-US" sz="1550" dirty="0"/>
          </a:p>
        </p:txBody>
      </p:sp>
      <p:sp>
        <p:nvSpPr>
          <p:cNvPr id="7" name="Text 5"/>
          <p:cNvSpPr/>
          <p:nvPr/>
        </p:nvSpPr>
        <p:spPr>
          <a:xfrm>
            <a:off x="111556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What a model sees, and how to hold data out honestly</a:t>
            </a:r>
            <a:endParaRPr lang="en-US" sz="1250" dirty="0"/>
          </a:p>
        </p:txBody>
      </p:sp>
      <p:sp>
        <p:nvSpPr>
          <p:cNvPr id="8" name="Shape 6"/>
          <p:cNvSpPr/>
          <p:nvPr/>
        </p:nvSpPr>
        <p:spPr>
          <a:xfrm>
            <a:off x="457200" y="2679192"/>
            <a:ext cx="502920" cy="502920"/>
          </a:xfrm>
          <a:prstGeom prst="ellipse">
            <a:avLst/>
          </a:prstGeom>
          <a:solidFill>
            <a:srgbClr val="104281"/>
          </a:solidFill>
          <a:ln/>
        </p:spPr>
      </p:sp>
      <p:sp>
        <p:nvSpPr>
          <p:cNvPr id="9" name="Text 7"/>
          <p:cNvSpPr/>
          <p:nvPr/>
        </p:nvSpPr>
        <p:spPr>
          <a:xfrm>
            <a:off x="45720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11556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Splits and cross-validation</a:t>
            </a:r>
            <a:endParaRPr lang="en-US" sz="1550" dirty="0"/>
          </a:p>
        </p:txBody>
      </p:sp>
      <p:sp>
        <p:nvSpPr>
          <p:cNvPr id="11" name="Text 9"/>
          <p:cNvSpPr/>
          <p:nvPr/>
        </p:nvSpPr>
        <p:spPr>
          <a:xfrm>
            <a:off x="111556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Hold-out vs k-fold, in detail</a:t>
            </a:r>
            <a:endParaRPr lang="en-US" sz="1250" dirty="0"/>
          </a:p>
        </p:txBody>
      </p:sp>
      <p:sp>
        <p:nvSpPr>
          <p:cNvPr id="12" name="Shape 10"/>
          <p:cNvSpPr/>
          <p:nvPr/>
        </p:nvSpPr>
        <p:spPr>
          <a:xfrm>
            <a:off x="457200" y="3849624"/>
            <a:ext cx="502920" cy="502920"/>
          </a:xfrm>
          <a:prstGeom prst="ellipse">
            <a:avLst/>
          </a:prstGeom>
          <a:solidFill>
            <a:srgbClr val="104281"/>
          </a:solidFill>
          <a:ln/>
        </p:spPr>
      </p:sp>
      <p:sp>
        <p:nvSpPr>
          <p:cNvPr id="13" name="Text 11"/>
          <p:cNvSpPr/>
          <p:nvPr/>
        </p:nvSpPr>
        <p:spPr>
          <a:xfrm>
            <a:off x="45720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11556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Underfitting vs overfitting</a:t>
            </a:r>
            <a:endParaRPr lang="en-US" sz="1550" dirty="0"/>
          </a:p>
        </p:txBody>
      </p:sp>
      <p:sp>
        <p:nvSpPr>
          <p:cNvPr id="15" name="Text 13"/>
          <p:cNvSpPr/>
          <p:nvPr/>
        </p:nvSpPr>
        <p:spPr>
          <a:xfrm>
            <a:off x="111556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Same data, three different fits</a:t>
            </a:r>
            <a:endParaRPr lang="en-US" sz="1250" dirty="0"/>
          </a:p>
        </p:txBody>
      </p:sp>
      <p:sp>
        <p:nvSpPr>
          <p:cNvPr id="16" name="Shape 14"/>
          <p:cNvSpPr/>
          <p:nvPr/>
        </p:nvSpPr>
        <p:spPr>
          <a:xfrm>
            <a:off x="457200" y="5020056"/>
            <a:ext cx="502920" cy="502920"/>
          </a:xfrm>
          <a:prstGeom prst="ellipse">
            <a:avLst/>
          </a:prstGeom>
          <a:solidFill>
            <a:srgbClr val="104281"/>
          </a:solidFill>
          <a:ln/>
        </p:spPr>
      </p:sp>
      <p:sp>
        <p:nvSpPr>
          <p:cNvPr id="17" name="Text 15"/>
          <p:cNvSpPr/>
          <p:nvPr/>
        </p:nvSpPr>
        <p:spPr>
          <a:xfrm>
            <a:off x="457200" y="50200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115568" y="4965192"/>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Regularization</a:t>
            </a:r>
            <a:endParaRPr lang="en-US" sz="1550" dirty="0"/>
          </a:p>
        </p:txBody>
      </p:sp>
      <p:sp>
        <p:nvSpPr>
          <p:cNvPr id="19" name="Text 17"/>
          <p:cNvSpPr/>
          <p:nvPr/>
        </p:nvSpPr>
        <p:spPr>
          <a:xfrm>
            <a:off x="1115568" y="5312664"/>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L2, L1, and early stopping compared</a:t>
            </a:r>
            <a:endParaRPr lang="en-US" sz="1250" dirty="0"/>
          </a:p>
        </p:txBody>
      </p:sp>
      <p:sp>
        <p:nvSpPr>
          <p:cNvPr id="20" name="Shape 18"/>
          <p:cNvSpPr/>
          <p:nvPr/>
        </p:nvSpPr>
        <p:spPr>
          <a:xfrm>
            <a:off x="6355080" y="1508760"/>
            <a:ext cx="502920" cy="502920"/>
          </a:xfrm>
          <a:prstGeom prst="ellipse">
            <a:avLst/>
          </a:prstGeom>
          <a:solidFill>
            <a:srgbClr val="104281"/>
          </a:solidFill>
          <a:ln/>
        </p:spPr>
      </p:sp>
      <p:sp>
        <p:nvSpPr>
          <p:cNvPr id="21" name="Text 19"/>
          <p:cNvSpPr/>
          <p:nvPr/>
        </p:nvSpPr>
        <p:spPr>
          <a:xfrm>
            <a:off x="635508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701344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A reference pipeline</a:t>
            </a:r>
            <a:endParaRPr lang="en-US" sz="1550" dirty="0"/>
          </a:p>
        </p:txBody>
      </p:sp>
      <p:sp>
        <p:nvSpPr>
          <p:cNvPr id="23" name="Text 21"/>
          <p:cNvSpPr/>
          <p:nvPr/>
        </p:nvSpPr>
        <p:spPr>
          <a:xfrm>
            <a:off x="701344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Where the split sits in real training</a:t>
            </a:r>
            <a:endParaRPr lang="en-US" sz="1250" dirty="0"/>
          </a:p>
        </p:txBody>
      </p:sp>
      <p:sp>
        <p:nvSpPr>
          <p:cNvPr id="24" name="Shape 22"/>
          <p:cNvSpPr/>
          <p:nvPr/>
        </p:nvSpPr>
        <p:spPr>
          <a:xfrm>
            <a:off x="6355080" y="2679192"/>
            <a:ext cx="502920" cy="502920"/>
          </a:xfrm>
          <a:prstGeom prst="ellipse">
            <a:avLst/>
          </a:prstGeom>
          <a:solidFill>
            <a:srgbClr val="104281"/>
          </a:solidFill>
          <a:ln/>
        </p:spPr>
      </p:sp>
      <p:sp>
        <p:nvSpPr>
          <p:cNvPr id="25" name="Text 23"/>
          <p:cNvSpPr/>
          <p:nvPr/>
        </p:nvSpPr>
        <p:spPr>
          <a:xfrm>
            <a:off x="635508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6" name="Text 24"/>
          <p:cNvSpPr/>
          <p:nvPr/>
        </p:nvSpPr>
        <p:spPr>
          <a:xfrm>
            <a:off x="701344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Comparison table</a:t>
            </a:r>
            <a:endParaRPr lang="en-US" sz="1550" dirty="0"/>
          </a:p>
        </p:txBody>
      </p:sp>
      <p:sp>
        <p:nvSpPr>
          <p:cNvPr id="27" name="Text 25"/>
          <p:cNvSpPr/>
          <p:nvPr/>
        </p:nvSpPr>
        <p:spPr>
          <a:xfrm>
            <a:off x="701344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Underfit, overfit, good fit, and data leakage</a:t>
            </a:r>
            <a:endParaRPr lang="en-US" sz="1250" dirty="0"/>
          </a:p>
        </p:txBody>
      </p:sp>
      <p:sp>
        <p:nvSpPr>
          <p:cNvPr id="28" name="Shape 26"/>
          <p:cNvSpPr/>
          <p:nvPr/>
        </p:nvSpPr>
        <p:spPr>
          <a:xfrm>
            <a:off x="6355080" y="3849624"/>
            <a:ext cx="502920" cy="502920"/>
          </a:xfrm>
          <a:prstGeom prst="ellipse">
            <a:avLst/>
          </a:prstGeom>
          <a:solidFill>
            <a:srgbClr val="104281"/>
          </a:solidFill>
          <a:ln/>
        </p:spPr>
      </p:sp>
      <p:sp>
        <p:nvSpPr>
          <p:cNvPr id="29" name="Text 27"/>
          <p:cNvSpPr/>
          <p:nvPr/>
        </p:nvSpPr>
        <p:spPr>
          <a:xfrm>
            <a:off x="635508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0" name="Text 28"/>
          <p:cNvSpPr/>
          <p:nvPr/>
        </p:nvSpPr>
        <p:spPr>
          <a:xfrm>
            <a:off x="701344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Industry use cases</a:t>
            </a:r>
            <a:endParaRPr lang="en-US" sz="1550" dirty="0"/>
          </a:p>
        </p:txBody>
      </p:sp>
      <p:sp>
        <p:nvSpPr>
          <p:cNvPr id="31" name="Text 29"/>
          <p:cNvSpPr/>
          <p:nvPr/>
        </p:nvSpPr>
        <p:spPr>
          <a:xfrm>
            <a:off x="701344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Finance, Healthcare, and Telecom — 4 each</a:t>
            </a:r>
            <a:endParaRPr lang="en-US" sz="1250" dirty="0"/>
          </a:p>
        </p:txBody>
      </p:sp>
      <p:sp>
        <p:nvSpPr>
          <p:cNvPr id="32" name="Text 3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33" name="Text 31"/>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TL;DR</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Generalization Is the Whole Game</a:t>
            </a:r>
            <a:endParaRPr lang="en-US" sz="3000" dirty="0"/>
          </a:p>
        </p:txBody>
      </p:sp>
      <p:sp>
        <p:nvSpPr>
          <p:cNvPr id="4" name="Shape 2"/>
          <p:cNvSpPr/>
          <p:nvPr/>
        </p:nvSpPr>
        <p:spPr>
          <a:xfrm>
            <a:off x="457200" y="1417320"/>
            <a:ext cx="11274552" cy="2103120"/>
          </a:xfrm>
          <a:prstGeom prst="roundRect">
            <a:avLst>
              <a:gd name="adj" fmla="val 5217"/>
            </a:avLst>
          </a:prstGeom>
          <a:solidFill>
            <a:srgbClr val="F9F9F7"/>
          </a:solidFill>
          <a:ln/>
        </p:spPr>
      </p:sp>
      <p:sp>
        <p:nvSpPr>
          <p:cNvPr id="5" name="Text 3"/>
          <p:cNvSpPr/>
          <p:nvPr/>
        </p:nvSpPr>
        <p:spPr>
          <a:xfrm>
            <a:off x="822960" y="1645920"/>
            <a:ext cx="10515600" cy="1005840"/>
          </a:xfrm>
          <a:prstGeom prst="rect">
            <a:avLst/>
          </a:prstGeom>
          <a:noFill/>
          <a:ln/>
        </p:spPr>
        <p:txBody>
          <a:bodyPr wrap="square" lIns="0" tIns="0" rIns="0" bIns="0" rtlCol="0" anchor="ctr"/>
          <a:lstStyle/>
          <a:p>
            <a:pPr indent="0" marL="0">
              <a:lnSpc>
                <a:spcPts val="2800"/>
              </a:lnSpc>
              <a:buNone/>
            </a:pPr>
            <a:r>
              <a:rPr lang="en-US" sz="2200" i="1" dirty="0">
                <a:solidFill>
                  <a:srgbClr val="104281"/>
                </a:solidFill>
                <a:latin typeface="Cambria" pitchFamily="34" charset="0"/>
                <a:ea typeface="Cambria" pitchFamily="34" charset="-122"/>
                <a:cs typeface="Cambria" pitchFamily="34" charset="-120"/>
              </a:rPr>
              <a:t>A model isn't graded on how well it fits the data it trained on. It's graded on how well it performs on data it has never seen.</a:t>
            </a:r>
            <a:endParaRPr lang="en-US" sz="2200" dirty="0"/>
          </a:p>
        </p:txBody>
      </p:sp>
      <p:sp>
        <p:nvSpPr>
          <p:cNvPr id="6" name="Text 4"/>
          <p:cNvSpPr/>
          <p:nvPr/>
        </p:nvSpPr>
        <p:spPr>
          <a:xfrm>
            <a:off x="822960" y="2743200"/>
            <a:ext cx="10515600" cy="640080"/>
          </a:xfrm>
          <a:prstGeom prst="rect">
            <a:avLst/>
          </a:prstGeom>
          <a:noFill/>
          <a:ln/>
        </p:spPr>
        <p:txBody>
          <a:bodyPr wrap="square" lIns="0" tIns="0" rIns="0" bIns="0" rtlCol="0" anchor="ctr"/>
          <a:lstStyle/>
          <a:p>
            <a:pPr indent="0" marL="0">
              <a:lnSpc>
                <a:spcPts val="2100"/>
              </a:lnSpc>
              <a:buNone/>
            </a:pPr>
            <a:r>
              <a:rPr lang="en-US" sz="1500" dirty="0">
                <a:solidFill>
                  <a:srgbClr val="52514E"/>
                </a:solidFill>
                <a:latin typeface="Calibri" pitchFamily="34" charset="0"/>
                <a:ea typeface="Calibri" pitchFamily="34" charset="-122"/>
                <a:cs typeface="Calibri" pitchFamily="34" charset="-120"/>
              </a:rPr>
              <a:t>Features are the inputs a model sees. Train/validation/test splits get an honest read on unseen-data performance. The bias-variance tradeoff explains why models fail in two opposite directions.</a:t>
            </a:r>
            <a:endParaRPr lang="en-US" sz="1500" dirty="0"/>
          </a:p>
        </p:txBody>
      </p:sp>
      <p:sp>
        <p:nvSpPr>
          <p:cNvPr id="7" name="Text 5"/>
          <p:cNvSpPr/>
          <p:nvPr/>
        </p:nvSpPr>
        <p:spPr>
          <a:xfrm>
            <a:off x="457200" y="3840480"/>
            <a:ext cx="5486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THE PRACTICAL TAKEAWAY</a:t>
            </a:r>
            <a:endParaRPr lang="en-US" sz="1200" dirty="0"/>
          </a:p>
        </p:txBody>
      </p:sp>
      <p:sp>
        <p:nvSpPr>
          <p:cNvPr id="8" name="Text 6"/>
          <p:cNvSpPr/>
          <p:nvPr/>
        </p:nvSpPr>
        <p:spPr>
          <a:xfrm>
            <a:off x="457200" y="4160520"/>
            <a:ext cx="10972800" cy="1188720"/>
          </a:xfrm>
          <a:prstGeom prst="rect">
            <a:avLst/>
          </a:prstGeom>
          <a:noFill/>
          <a:ln/>
        </p:spPr>
        <p:txBody>
          <a:bodyPr wrap="square" lIns="0" tIns="0" rIns="0" bIns="0" rtlCol="0" anchor="ctr"/>
          <a:lstStyle/>
          <a:p>
            <a:pPr indent="0" marL="0">
              <a:lnSpc>
                <a:spcPts val="2100"/>
              </a:lnSpc>
              <a:buNone/>
            </a:pPr>
            <a:r>
              <a:rPr lang="en-US" sz="1500" dirty="0">
                <a:solidFill>
                  <a:srgbClr val="0B0B0B"/>
                </a:solidFill>
                <a:latin typeface="Calibri" pitchFamily="34" charset="0"/>
                <a:ea typeface="Calibri" pitchFamily="34" charset="-122"/>
                <a:cs typeface="Calibri" pitchFamily="34" charset="-120"/>
              </a:rPr>
              <a:t>Comparing training performance to validation performance is the standard way to tell whether a model is underfitting, overfitting, or neither.</a:t>
            </a:r>
            <a:endParaRPr lang="en-US" sz="1500" dirty="0"/>
          </a:p>
        </p:txBody>
      </p:sp>
      <p:sp>
        <p:nvSpPr>
          <p:cNvPr id="9" name="Text 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10" name="Text 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HIGH-LEVEL</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Where Overfitting Begins</a:t>
            </a:r>
            <a:endParaRPr lang="en-US" sz="3000" dirty="0"/>
          </a:p>
        </p:txBody>
      </p:sp>
      <p:pic>
        <p:nvPicPr>
          <p:cNvPr id="4" name="Image 0" descr="/tmp/deck4/png/d1-bias-variance-curve.png">    </p:cNvPr>
          <p:cNvPicPr>
            <a:picLocks noChangeAspect="1"/>
          </p:cNvPicPr>
          <p:nvPr/>
        </p:nvPicPr>
        <p:blipFill>
          <a:blip r:embed="rId1"/>
          <a:stretch>
            <a:fillRect/>
          </a:stretch>
        </p:blipFill>
        <p:spPr>
          <a:xfrm>
            <a:off x="2253996" y="1280160"/>
            <a:ext cx="7680960" cy="4754880"/>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A Single Split, and k-Fold Cross-Validation</a:t>
            </a:r>
            <a:endParaRPr lang="en-US" sz="3000" dirty="0"/>
          </a:p>
        </p:txBody>
      </p:sp>
      <p:pic>
        <p:nvPicPr>
          <p:cNvPr id="4" name="Image 0" descr="/tmp/deck4/png/d2-splits-cv.png">    </p:cNvPr>
          <p:cNvPicPr>
            <a:picLocks noChangeAspect="1"/>
          </p:cNvPicPr>
          <p:nvPr/>
        </p:nvPicPr>
        <p:blipFill>
          <a:blip r:embed="rId1"/>
          <a:stretch>
            <a:fillRect/>
          </a:stretch>
        </p:blipFill>
        <p:spPr>
          <a:xfrm>
            <a:off x="1339596" y="1280160"/>
            <a:ext cx="9509760" cy="4389120"/>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Same Data, Three Different Fits</a:t>
            </a:r>
            <a:endParaRPr lang="en-US" sz="3000" dirty="0"/>
          </a:p>
        </p:txBody>
      </p:sp>
      <p:pic>
        <p:nvPicPr>
          <p:cNvPr id="4" name="Image 0" descr="/tmp/deck4/png/d3-underfit-overfit.png">    </p:cNvPr>
          <p:cNvPicPr>
            <a:picLocks noChangeAspect="1"/>
          </p:cNvPicPr>
          <p:nvPr/>
        </p:nvPicPr>
        <p:blipFill>
          <a:blip r:embed="rId1"/>
          <a:stretch>
            <a:fillRect/>
          </a:stretch>
        </p:blipFill>
        <p:spPr>
          <a:xfrm>
            <a:off x="1065276" y="1280160"/>
            <a:ext cx="10058400" cy="4023360"/>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Three Ways to Control Variance Directly</a:t>
            </a:r>
            <a:endParaRPr lang="en-US" sz="3000" dirty="0"/>
          </a:p>
        </p:txBody>
      </p:sp>
      <p:pic>
        <p:nvPicPr>
          <p:cNvPr id="4" name="Image 0" descr="/tmp/deck4/png/d4-regularization.png">    </p:cNvPr>
          <p:cNvPicPr>
            <a:picLocks noChangeAspect="1"/>
          </p:cNvPicPr>
          <p:nvPr/>
        </p:nvPicPr>
        <p:blipFill>
          <a:blip r:embed="rId1"/>
          <a:stretch>
            <a:fillRect/>
          </a:stretch>
        </p:blipFill>
        <p:spPr>
          <a:xfrm>
            <a:off x="1065276" y="1280160"/>
            <a:ext cx="10058400" cy="4023360"/>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REFERENCE ARCHITECTURE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Where Splits and Validation Sit in a Training Pipeline</a:t>
            </a:r>
            <a:endParaRPr lang="en-US" sz="3000" dirty="0"/>
          </a:p>
        </p:txBody>
      </p:sp>
      <p:pic>
        <p:nvPicPr>
          <p:cNvPr id="4" name="Image 0" descr="/tmp/deck4/png/d5-reference-architecture.png">    </p:cNvPr>
          <p:cNvPicPr>
            <a:picLocks noChangeAspect="1"/>
          </p:cNvPicPr>
          <p:nvPr/>
        </p:nvPicPr>
        <p:blipFill>
          <a:blip r:embed="rId1"/>
          <a:stretch>
            <a:fillRect/>
          </a:stretch>
        </p:blipFill>
        <p:spPr>
          <a:xfrm>
            <a:off x="790956" y="1280160"/>
            <a:ext cx="10607040" cy="3749040"/>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COMPARISON &amp; RELATED CONCEPTS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Four Ways a Model Can Look</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4552" cy="3291840"/>
        </p:xfrm>
        <a:graphic>
          <a:graphicData uri="http://schemas.openxmlformats.org/drawingml/2006/table">
            <a:tbl>
              <a:tblPr/>
              <a:tblGrid>
                <a:gridCol w="2313432"/>
                <a:gridCol w="2240280"/>
                <a:gridCol w="2240280"/>
                <a:gridCol w="2240280"/>
                <a:gridCol w="2240280"/>
              </a:tblGrid>
              <a:tr h="658368">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Underfitting</a:t>
                      </a:r>
                      <a:endParaRPr lang="en-US" sz="12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Overfitting</a:t>
                      </a:r>
                      <a:endParaRPr lang="en-US" sz="12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Good Fit</a:t>
                      </a:r>
                      <a:endParaRPr lang="en-US" sz="12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Data Leakage</a:t>
                      </a:r>
                      <a:endParaRPr lang="en-US" sz="12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r>
              <a:tr h="658368">
                <a:tc>
                  <a:txBody>
                    <a:bodyPr/>
                    <a:lstStyle/>
                    <a:p>
                      <a:pPr algn="l" indent="0" marL="0">
                        <a:buNone/>
                      </a:pPr>
                      <a:r>
                        <a:rPr lang="en-US" sz="1100" b="1" dirty="0">
                          <a:solidFill>
                            <a:srgbClr val="0B0B0B"/>
                          </a:solidFill>
                          <a:latin typeface="Calibri" pitchFamily="34" charset="0"/>
                          <a:ea typeface="Calibri" pitchFamily="34" charset="-122"/>
                          <a:cs typeface="Calibri" pitchFamily="34" charset="-120"/>
                        </a:rPr>
                        <a:t>Training error</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Often suspiciously low</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658368">
                <a:tc>
                  <a:txBody>
                    <a:bodyPr/>
                    <a:lstStyle/>
                    <a:p>
                      <a:pPr algn="l" indent="0" marL="0">
                        <a:buNone/>
                      </a:pPr>
                      <a:r>
                        <a:rPr lang="en-US" sz="1100" b="1" dirty="0">
                          <a:solidFill>
                            <a:srgbClr val="0B0B0B"/>
                          </a:solidFill>
                          <a:latin typeface="Calibri" pitchFamily="34" charset="0"/>
                          <a:ea typeface="Calibri" pitchFamily="34" charset="-122"/>
                          <a:cs typeface="Calibri" pitchFamily="34" charset="-120"/>
                        </a:rPr>
                        <a:t>Gap to validation error</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Small (both high)</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Large</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Small (both low)</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Small, but validation is dishonest</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658368">
                <a:tc>
                  <a:txBody>
                    <a:bodyPr/>
                    <a:lstStyle/>
                    <a:p>
                      <a:pPr algn="l" indent="0" marL="0">
                        <a:buNone/>
                      </a:pPr>
                      <a:r>
                        <a:rPr lang="en-US" sz="1100" b="1" dirty="0">
                          <a:solidFill>
                            <a:srgbClr val="0B0B0B"/>
                          </a:solidFill>
                          <a:latin typeface="Calibri" pitchFamily="34" charset="0"/>
                          <a:ea typeface="Calibri" pitchFamily="34" charset="-122"/>
                          <a:cs typeface="Calibri" pitchFamily="34" charset="-120"/>
                        </a:rPr>
                        <a:t>Root cause</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Model too simple</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Fit noise in the sample</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Capacity matches signal</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Future/label info reached training</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658368">
                <a:tc>
                  <a:txBody>
                    <a:bodyPr/>
                    <a:lstStyle/>
                    <a:p>
                      <a:pPr algn="l" indent="0" marL="0">
                        <a:buNone/>
                      </a:pPr>
                      <a:r>
                        <a:rPr lang="en-US" sz="1100" b="1" dirty="0">
                          <a:solidFill>
                            <a:srgbClr val="0B0B0B"/>
                          </a:solidFill>
                          <a:latin typeface="Calibri" pitchFamily="34" charset="0"/>
                          <a:ea typeface="Calibri" pitchFamily="34" charset="-122"/>
                          <a:cs typeface="Calibri" pitchFamily="34" charset="-120"/>
                        </a:rPr>
                        <a:t>Fix</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More capacity, better features</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More data, more regularization</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None needed</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2514E"/>
                          </a:solidFill>
                          <a:latin typeface="Calibri" pitchFamily="34" charset="0"/>
                          <a:ea typeface="Calibri" pitchFamily="34" charset="-122"/>
                          <a:cs typeface="Calibri" pitchFamily="34" charset="-120"/>
                        </a:rPr>
                        <a:t>Audit the pipeline, rebuild the split</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5074920"/>
            <a:ext cx="11274552" cy="640080"/>
          </a:xfrm>
          <a:prstGeom prst="rect">
            <a:avLst/>
          </a:prstGeom>
          <a:noFill/>
          <a:ln/>
        </p:spPr>
        <p:txBody>
          <a:bodyPr wrap="square" lIns="0" tIns="0" rIns="0" bIns="0" rtlCol="0" anchor="ctr"/>
          <a:lstStyle/>
          <a:p>
            <a:pPr indent="0" marL="0">
              <a:lnSpc>
                <a:spcPts val="1800"/>
              </a:lnSpc>
              <a:buNone/>
            </a:pPr>
            <a:r>
              <a:rPr lang="en-US" sz="1300" i="1" dirty="0">
                <a:solidFill>
                  <a:srgbClr val="898781"/>
                </a:solidFill>
                <a:latin typeface="Calibri" pitchFamily="34" charset="0"/>
                <a:ea typeface="Calibri" pitchFamily="34" charset="-122"/>
                <a:cs typeface="Calibri" pitchFamily="34" charset="-120"/>
              </a:rPr>
              <a:t>The decisive tell is the training-to-validation gap, with one exception: leakage can produce a small gap while still being wrong, because it corrupts the validation estimate itself.</a:t>
            </a:r>
            <a:endParaRPr lang="en-US" sz="1300" dirty="0"/>
          </a:p>
        </p:txBody>
      </p:sp>
      <p:sp>
        <p:nvSpPr>
          <p:cNvPr id="6" name="Text 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7" name="Text 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1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Finance</a:t>
            </a:r>
            <a:endParaRPr lang="en-US" sz="3000" dirty="0"/>
          </a:p>
        </p:txBody>
      </p:sp>
      <p:pic>
        <p:nvPicPr>
          <p:cNvPr id="4" name="Image 0" descr="/tmp/deck4/png/d6-usecases-financ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2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Healthcare</a:t>
            </a:r>
            <a:endParaRPr lang="en-US" sz="3000" dirty="0"/>
          </a:p>
        </p:txBody>
      </p:sp>
      <p:pic>
        <p:nvPicPr>
          <p:cNvPr id="4" name="Image 0" descr="/tmp/deck4/png/d7-usecases-healthcar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3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Telecom</a:t>
            </a:r>
            <a:endParaRPr lang="en-US" sz="3000" dirty="0"/>
          </a:p>
        </p:txBody>
      </p:sp>
      <p:pic>
        <p:nvPicPr>
          <p:cNvPr id="4" name="Image 0" descr="/tmp/deck4/png/d8-usecases-telecom.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DISCUSS AS A CLASS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Check Your Understanding</a:t>
            </a:r>
            <a:endParaRPr lang="en-US" sz="3000" dirty="0"/>
          </a:p>
        </p:txBody>
      </p:sp>
      <p:sp>
        <p:nvSpPr>
          <p:cNvPr id="4" name="Shape 2"/>
          <p:cNvSpPr/>
          <p:nvPr/>
        </p:nvSpPr>
        <p:spPr>
          <a:xfrm>
            <a:off x="457200" y="1508760"/>
            <a:ext cx="5486400" cy="1325880"/>
          </a:xfrm>
          <a:prstGeom prst="roundRect">
            <a:avLst>
              <a:gd name="adj" fmla="val 6897"/>
            </a:avLst>
          </a:prstGeom>
          <a:solidFill>
            <a:srgbClr val="F9F9F7"/>
          </a:solidFill>
          <a:ln w="12700">
            <a:solidFill>
              <a:srgbClr val="E1E0D9"/>
            </a:solidFill>
            <a:prstDash val="solid"/>
          </a:ln>
        </p:spPr>
      </p:sp>
      <p:sp>
        <p:nvSpPr>
          <p:cNvPr id="5" name="Shape 3"/>
          <p:cNvSpPr/>
          <p:nvPr/>
        </p:nvSpPr>
        <p:spPr>
          <a:xfrm>
            <a:off x="658368" y="1709928"/>
            <a:ext cx="384048" cy="384048"/>
          </a:xfrm>
          <a:prstGeom prst="ellipse">
            <a:avLst/>
          </a:prstGeom>
          <a:solidFill>
            <a:srgbClr val="2A78D6"/>
          </a:solidFill>
          <a:ln/>
        </p:spPr>
      </p:sp>
      <p:sp>
        <p:nvSpPr>
          <p:cNvPr id="6" name="Text 4"/>
          <p:cNvSpPr/>
          <p:nvPr/>
        </p:nvSpPr>
        <p:spPr>
          <a:xfrm>
            <a:off x="65836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1188720" y="1618488"/>
            <a:ext cx="4526280" cy="1097280"/>
          </a:xfrm>
          <a:prstGeom prst="rect">
            <a:avLst/>
          </a:prstGeom>
          <a:noFill/>
          <a:ln/>
        </p:spPr>
        <p:txBody>
          <a:bodyPr wrap="square" lIns="0" tIns="0" rIns="0" bIns="0" rtlCol="0" anchor="ctr"/>
          <a:lstStyle/>
          <a:p>
            <a:pPr indent="0" marL="0">
              <a:lnSpc>
                <a:spcPts val="1450"/>
              </a:lnSpc>
              <a:buNone/>
            </a:pPr>
            <a:r>
              <a:rPr lang="en-US" sz="1200" dirty="0">
                <a:solidFill>
                  <a:srgbClr val="0B0B0B"/>
                </a:solidFill>
                <a:latin typeface="Calibri" pitchFamily="34" charset="0"/>
                <a:ea typeface="Calibri" pitchFamily="34" charset="-122"/>
                <a:cs typeface="Calibri" pitchFamily="34" charset="-120"/>
              </a:rPr>
              <a:t>A model achieves 98% training accuracy and 71% validation accuracy. Underfitting or overfitting, and what's the standard first fix?</a:t>
            </a:r>
            <a:endParaRPr lang="en-US" sz="1200" dirty="0"/>
          </a:p>
        </p:txBody>
      </p:sp>
      <p:sp>
        <p:nvSpPr>
          <p:cNvPr id="8" name="Shape 6"/>
          <p:cNvSpPr/>
          <p:nvPr/>
        </p:nvSpPr>
        <p:spPr>
          <a:xfrm>
            <a:off x="6126480" y="1508760"/>
            <a:ext cx="5486400" cy="1325880"/>
          </a:xfrm>
          <a:prstGeom prst="roundRect">
            <a:avLst>
              <a:gd name="adj" fmla="val 6897"/>
            </a:avLst>
          </a:prstGeom>
          <a:solidFill>
            <a:srgbClr val="F9F9F7"/>
          </a:solidFill>
          <a:ln w="12700">
            <a:solidFill>
              <a:srgbClr val="E1E0D9"/>
            </a:solidFill>
            <a:prstDash val="solid"/>
          </a:ln>
        </p:spPr>
      </p:sp>
      <p:sp>
        <p:nvSpPr>
          <p:cNvPr id="9" name="Shape 7"/>
          <p:cNvSpPr/>
          <p:nvPr/>
        </p:nvSpPr>
        <p:spPr>
          <a:xfrm>
            <a:off x="6327648" y="1709928"/>
            <a:ext cx="384048" cy="384048"/>
          </a:xfrm>
          <a:prstGeom prst="ellipse">
            <a:avLst/>
          </a:prstGeom>
          <a:solidFill>
            <a:srgbClr val="2A78D6"/>
          </a:solidFill>
          <a:ln/>
        </p:spPr>
      </p:sp>
      <p:sp>
        <p:nvSpPr>
          <p:cNvPr id="10" name="Text 8"/>
          <p:cNvSpPr/>
          <p:nvPr/>
        </p:nvSpPr>
        <p:spPr>
          <a:xfrm>
            <a:off x="632764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1" name="Text 9"/>
          <p:cNvSpPr/>
          <p:nvPr/>
        </p:nvSpPr>
        <p:spPr>
          <a:xfrm>
            <a:off x="6858000" y="1618488"/>
            <a:ext cx="4526280" cy="1097280"/>
          </a:xfrm>
          <a:prstGeom prst="rect">
            <a:avLst/>
          </a:prstGeom>
          <a:noFill/>
          <a:ln/>
        </p:spPr>
        <p:txBody>
          <a:bodyPr wrap="square" lIns="0" tIns="0" rIns="0" bIns="0" rtlCol="0" anchor="ctr"/>
          <a:lstStyle/>
          <a:p>
            <a:pPr indent="0" marL="0">
              <a:lnSpc>
                <a:spcPts val="1450"/>
              </a:lnSpc>
              <a:buNone/>
            </a:pPr>
            <a:r>
              <a:rPr lang="en-US" sz="1200" dirty="0">
                <a:solidFill>
                  <a:srgbClr val="0B0B0B"/>
                </a:solidFill>
                <a:latin typeface="Calibri" pitchFamily="34" charset="0"/>
                <a:ea typeface="Calibri" pitchFamily="34" charset="-122"/>
                <a:cs typeface="Calibri" pitchFamily="34" charset="-120"/>
              </a:rPr>
              <a:t>Why is the test set used only once, at the very end, rather than checked periodically like the validation set?</a:t>
            </a:r>
            <a:endParaRPr lang="en-US" sz="1200" dirty="0"/>
          </a:p>
        </p:txBody>
      </p:sp>
      <p:sp>
        <p:nvSpPr>
          <p:cNvPr id="12" name="Shape 10"/>
          <p:cNvSpPr/>
          <p:nvPr/>
        </p:nvSpPr>
        <p:spPr>
          <a:xfrm>
            <a:off x="457200" y="2971800"/>
            <a:ext cx="5486400" cy="1325880"/>
          </a:xfrm>
          <a:prstGeom prst="roundRect">
            <a:avLst>
              <a:gd name="adj" fmla="val 6897"/>
            </a:avLst>
          </a:prstGeom>
          <a:solidFill>
            <a:srgbClr val="F9F9F7"/>
          </a:solidFill>
          <a:ln w="12700">
            <a:solidFill>
              <a:srgbClr val="E1E0D9"/>
            </a:solidFill>
            <a:prstDash val="solid"/>
          </a:ln>
        </p:spPr>
      </p:sp>
      <p:sp>
        <p:nvSpPr>
          <p:cNvPr id="13" name="Shape 11"/>
          <p:cNvSpPr/>
          <p:nvPr/>
        </p:nvSpPr>
        <p:spPr>
          <a:xfrm>
            <a:off x="658368" y="3172968"/>
            <a:ext cx="384048" cy="384048"/>
          </a:xfrm>
          <a:prstGeom prst="ellipse">
            <a:avLst/>
          </a:prstGeom>
          <a:solidFill>
            <a:srgbClr val="2A78D6"/>
          </a:solidFill>
          <a:ln/>
        </p:spPr>
      </p:sp>
      <p:sp>
        <p:nvSpPr>
          <p:cNvPr id="14" name="Text 12"/>
          <p:cNvSpPr/>
          <p:nvPr/>
        </p:nvSpPr>
        <p:spPr>
          <a:xfrm>
            <a:off x="65836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5" name="Text 13"/>
          <p:cNvSpPr/>
          <p:nvPr/>
        </p:nvSpPr>
        <p:spPr>
          <a:xfrm>
            <a:off x="1188720" y="3081528"/>
            <a:ext cx="4526280" cy="1097280"/>
          </a:xfrm>
          <a:prstGeom prst="rect">
            <a:avLst/>
          </a:prstGeom>
          <a:noFill/>
          <a:ln/>
        </p:spPr>
        <p:txBody>
          <a:bodyPr wrap="square" lIns="0" tIns="0" rIns="0" bIns="0" rtlCol="0" anchor="ctr"/>
          <a:lstStyle/>
          <a:p>
            <a:pPr indent="0" marL="0">
              <a:lnSpc>
                <a:spcPts val="1450"/>
              </a:lnSpc>
              <a:buNone/>
            </a:pPr>
            <a:r>
              <a:rPr lang="en-US" sz="1200" dirty="0">
                <a:solidFill>
                  <a:srgbClr val="0B0B0B"/>
                </a:solidFill>
                <a:latin typeface="Calibri" pitchFamily="34" charset="0"/>
                <a:ea typeface="Calibri" pitchFamily="34" charset="-122"/>
                <a:cs typeface="Calibri" pitchFamily="34" charset="-120"/>
              </a:rPr>
              <a:t>A validation set shows unusually high accuracy the team can't explain. What should be checked first, and why?</a:t>
            </a:r>
            <a:endParaRPr lang="en-US" sz="1200" dirty="0"/>
          </a:p>
        </p:txBody>
      </p:sp>
      <p:sp>
        <p:nvSpPr>
          <p:cNvPr id="16" name="Shape 14"/>
          <p:cNvSpPr/>
          <p:nvPr/>
        </p:nvSpPr>
        <p:spPr>
          <a:xfrm>
            <a:off x="6126480" y="2971800"/>
            <a:ext cx="5486400" cy="1325880"/>
          </a:xfrm>
          <a:prstGeom prst="roundRect">
            <a:avLst>
              <a:gd name="adj" fmla="val 6897"/>
            </a:avLst>
          </a:prstGeom>
          <a:solidFill>
            <a:srgbClr val="F9F9F7"/>
          </a:solidFill>
          <a:ln w="12700">
            <a:solidFill>
              <a:srgbClr val="E1E0D9"/>
            </a:solidFill>
            <a:prstDash val="solid"/>
          </a:ln>
        </p:spPr>
      </p:sp>
      <p:sp>
        <p:nvSpPr>
          <p:cNvPr id="17" name="Shape 15"/>
          <p:cNvSpPr/>
          <p:nvPr/>
        </p:nvSpPr>
        <p:spPr>
          <a:xfrm>
            <a:off x="6327648" y="3172968"/>
            <a:ext cx="384048" cy="384048"/>
          </a:xfrm>
          <a:prstGeom prst="ellipse">
            <a:avLst/>
          </a:prstGeom>
          <a:solidFill>
            <a:srgbClr val="2A78D6"/>
          </a:solidFill>
          <a:ln/>
        </p:spPr>
      </p:sp>
      <p:sp>
        <p:nvSpPr>
          <p:cNvPr id="18" name="Text 16"/>
          <p:cNvSpPr/>
          <p:nvPr/>
        </p:nvSpPr>
        <p:spPr>
          <a:xfrm>
            <a:off x="632764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19" name="Text 17"/>
          <p:cNvSpPr/>
          <p:nvPr/>
        </p:nvSpPr>
        <p:spPr>
          <a:xfrm>
            <a:off x="6858000" y="3081528"/>
            <a:ext cx="4526280" cy="1097280"/>
          </a:xfrm>
          <a:prstGeom prst="rect">
            <a:avLst/>
          </a:prstGeom>
          <a:noFill/>
          <a:ln/>
        </p:spPr>
        <p:txBody>
          <a:bodyPr wrap="square" lIns="0" tIns="0" rIns="0" bIns="0" rtlCol="0" anchor="ctr"/>
          <a:lstStyle/>
          <a:p>
            <a:pPr indent="0" marL="0">
              <a:lnSpc>
                <a:spcPts val="1450"/>
              </a:lnSpc>
              <a:buNone/>
            </a:pPr>
            <a:r>
              <a:rPr lang="en-US" sz="1200" dirty="0">
                <a:solidFill>
                  <a:srgbClr val="0B0B0B"/>
                </a:solidFill>
                <a:latin typeface="Calibri" pitchFamily="34" charset="0"/>
                <a:ea typeface="Calibri" pitchFamily="34" charset="-122"/>
                <a:cs typeface="Calibri" pitchFamily="34" charset="-120"/>
              </a:rPr>
              <a:t>What specifically does the bias-variance decomposition say happens when a model's capacity is increased?</a:t>
            </a:r>
            <a:endParaRPr lang="en-US" sz="1200" dirty="0"/>
          </a:p>
        </p:txBody>
      </p:sp>
      <p:sp>
        <p:nvSpPr>
          <p:cNvPr id="20" name="Shape 18"/>
          <p:cNvSpPr/>
          <p:nvPr/>
        </p:nvSpPr>
        <p:spPr>
          <a:xfrm>
            <a:off x="457200" y="4434840"/>
            <a:ext cx="11274552" cy="1325880"/>
          </a:xfrm>
          <a:prstGeom prst="roundRect">
            <a:avLst>
              <a:gd name="adj" fmla="val 6897"/>
            </a:avLst>
          </a:prstGeom>
          <a:solidFill>
            <a:srgbClr val="F9F9F7"/>
          </a:solidFill>
          <a:ln w="12700">
            <a:solidFill>
              <a:srgbClr val="E1E0D9"/>
            </a:solidFill>
            <a:prstDash val="solid"/>
          </a:ln>
        </p:spPr>
      </p:sp>
      <p:sp>
        <p:nvSpPr>
          <p:cNvPr id="21" name="Shape 19"/>
          <p:cNvSpPr/>
          <p:nvPr/>
        </p:nvSpPr>
        <p:spPr>
          <a:xfrm>
            <a:off x="658368" y="4636008"/>
            <a:ext cx="384048" cy="384048"/>
          </a:xfrm>
          <a:prstGeom prst="ellipse">
            <a:avLst/>
          </a:prstGeom>
          <a:solidFill>
            <a:srgbClr val="2A78D6"/>
          </a:solidFill>
          <a:ln/>
        </p:spPr>
      </p:sp>
      <p:sp>
        <p:nvSpPr>
          <p:cNvPr id="22" name="Text 20"/>
          <p:cNvSpPr/>
          <p:nvPr/>
        </p:nvSpPr>
        <p:spPr>
          <a:xfrm>
            <a:off x="658368" y="46360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Q5</a:t>
            </a:r>
            <a:endParaRPr lang="en-US" sz="1100" dirty="0"/>
          </a:p>
        </p:txBody>
      </p:sp>
      <p:sp>
        <p:nvSpPr>
          <p:cNvPr id="23" name="Text 21"/>
          <p:cNvSpPr/>
          <p:nvPr/>
        </p:nvSpPr>
        <p:spPr>
          <a:xfrm>
            <a:off x="1188720" y="4544568"/>
            <a:ext cx="10314432" cy="1097280"/>
          </a:xfrm>
          <a:prstGeom prst="rect">
            <a:avLst/>
          </a:prstGeom>
          <a:noFill/>
          <a:ln/>
        </p:spPr>
        <p:txBody>
          <a:bodyPr wrap="square" lIns="0" tIns="0" rIns="0" bIns="0" rtlCol="0" anchor="ctr"/>
          <a:lstStyle/>
          <a:p>
            <a:pPr indent="0" marL="0">
              <a:lnSpc>
                <a:spcPts val="1450"/>
              </a:lnSpc>
              <a:buNone/>
            </a:pPr>
            <a:r>
              <a:rPr lang="en-US" sz="1200" dirty="0">
                <a:solidFill>
                  <a:srgbClr val="0B0B0B"/>
                </a:solidFill>
                <a:latin typeface="Calibri" pitchFamily="34" charset="0"/>
                <a:ea typeface="Calibri" pitchFamily="34" charset="-122"/>
                <a:cs typeface="Calibri" pitchFamily="34" charset="-120"/>
              </a:rPr>
              <a:t>Why does k-fold cross-validation give a more reliable estimate than a single split, and what does that cost?</a:t>
            </a:r>
            <a:endParaRPr lang="en-US" sz="1200" dirty="0"/>
          </a:p>
        </p:txBody>
      </p:sp>
      <p:sp>
        <p:nvSpPr>
          <p:cNvPr id="24" name="Text 22"/>
          <p:cNvSpPr/>
          <p:nvPr/>
        </p:nvSpPr>
        <p:spPr>
          <a:xfrm>
            <a:off x="457200" y="594360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Answers are in the speaker notes for this slide.</a:t>
            </a:r>
            <a:endParaRPr lang="en-US" sz="1200" dirty="0"/>
          </a:p>
        </p:txBody>
      </p:sp>
      <p:sp>
        <p:nvSpPr>
          <p:cNvPr id="26" name="Text 2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27" name="Text 2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F35"/>
        </a:solidFill>
      </p:bgPr>
    </p:bg>
    <p:spTree>
      <p:nvGrpSpPr>
        <p:cNvPr id="1" name=""/>
        <p:cNvGrpSpPr/>
        <p:nvPr/>
      </p:nvGrpSpPr>
      <p:grpSpPr>
        <a:xfrm>
          <a:off x="0" y="0"/>
          <a:ext cx="0" cy="0"/>
          <a:chOff x="0" y="0"/>
          <a:chExt cx="0" cy="0"/>
        </a:xfrm>
      </p:grpSpPr>
      <p:pic>
        <p:nvPicPr>
          <p:cNvPr id="2" name="Image 0" descr="/tmp/deck4/png/d0-title-motif.png">    </p:cNvPr>
          <p:cNvPicPr>
            <a:picLocks noChangeAspect="1"/>
          </p:cNvPicPr>
          <p:nvPr/>
        </p:nvPicPr>
        <p:blipFill>
          <a:blip r:embed="rId1">
            <a:alphaModFix amt="85000"/>
          </a:blip>
          <a:stretch>
            <a:fillRect/>
          </a:stretch>
        </p:blipFill>
        <p:spPr>
          <a:xfrm>
            <a:off x="8595360" y="2103120"/>
            <a:ext cx="3840480" cy="3840480"/>
          </a:xfrm>
          <a:prstGeom prst="rect">
            <a:avLst/>
          </a:prstGeom>
        </p:spPr>
      </p:pic>
      <p:sp>
        <p:nvSpPr>
          <p:cNvPr id="3"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SUMMARY</a:t>
            </a:r>
            <a:endParaRPr lang="en-US" sz="1200" dirty="0"/>
          </a:p>
        </p:txBody>
      </p:sp>
      <p:sp>
        <p:nvSpPr>
          <p:cNvPr id="4" name="Text 1"/>
          <p:cNvSpPr/>
          <p:nvPr/>
        </p:nvSpPr>
        <p:spPr>
          <a:xfrm>
            <a:off x="548640" y="73152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5" name="Shape 2"/>
          <p:cNvSpPr/>
          <p:nvPr/>
        </p:nvSpPr>
        <p:spPr>
          <a:xfrm>
            <a:off x="548640" y="1719072"/>
            <a:ext cx="292608" cy="292608"/>
          </a:xfrm>
          <a:prstGeom prst="ellipse">
            <a:avLst/>
          </a:prstGeom>
          <a:solidFill>
            <a:srgbClr val="2A78D6"/>
          </a:solidFill>
          <a:ln/>
        </p:spPr>
      </p:sp>
      <p:sp>
        <p:nvSpPr>
          <p:cNvPr id="6" name="Text 3"/>
          <p:cNvSpPr/>
          <p:nvPr/>
        </p:nvSpPr>
        <p:spPr>
          <a:xfrm>
            <a:off x="548640" y="171907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4"/>
          <p:cNvSpPr/>
          <p:nvPr/>
        </p:nvSpPr>
        <p:spPr>
          <a:xfrm>
            <a:off x="1005840" y="1691640"/>
            <a:ext cx="731520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The test set is touched exactly once; the validation set absorbs all the repeated tuning decisions.</a:t>
            </a:r>
            <a:endParaRPr lang="en-US" sz="1400" dirty="0"/>
          </a:p>
        </p:txBody>
      </p:sp>
      <p:sp>
        <p:nvSpPr>
          <p:cNvPr id="8" name="Shape 5"/>
          <p:cNvSpPr/>
          <p:nvPr/>
        </p:nvSpPr>
        <p:spPr>
          <a:xfrm>
            <a:off x="548640" y="2587752"/>
            <a:ext cx="292608" cy="292608"/>
          </a:xfrm>
          <a:prstGeom prst="ellipse">
            <a:avLst/>
          </a:prstGeom>
          <a:solidFill>
            <a:srgbClr val="2A78D6"/>
          </a:solidFill>
          <a:ln/>
        </p:spPr>
      </p:sp>
      <p:sp>
        <p:nvSpPr>
          <p:cNvPr id="9" name="Text 6"/>
          <p:cNvSpPr/>
          <p:nvPr/>
        </p:nvSpPr>
        <p:spPr>
          <a:xfrm>
            <a:off x="548640" y="25877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7"/>
          <p:cNvSpPr/>
          <p:nvPr/>
        </p:nvSpPr>
        <p:spPr>
          <a:xfrm>
            <a:off x="1005840" y="2560320"/>
            <a:ext cx="731520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Underfitting is high bias (both errors high); overfitting is high variance (a growing train-validation gap).</a:t>
            </a:r>
            <a:endParaRPr lang="en-US" sz="1400" dirty="0"/>
          </a:p>
        </p:txBody>
      </p:sp>
      <p:sp>
        <p:nvSpPr>
          <p:cNvPr id="11" name="Shape 8"/>
          <p:cNvSpPr/>
          <p:nvPr/>
        </p:nvSpPr>
        <p:spPr>
          <a:xfrm>
            <a:off x="548640" y="3456432"/>
            <a:ext cx="292608" cy="292608"/>
          </a:xfrm>
          <a:prstGeom prst="ellipse">
            <a:avLst/>
          </a:prstGeom>
          <a:solidFill>
            <a:srgbClr val="2A78D6"/>
          </a:solidFill>
          <a:ln/>
        </p:spPr>
      </p:sp>
      <p:sp>
        <p:nvSpPr>
          <p:cNvPr id="12" name="Text 9"/>
          <p:cNvSpPr/>
          <p:nvPr/>
        </p:nvSpPr>
        <p:spPr>
          <a:xfrm>
            <a:off x="548640" y="34564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1005840" y="3429000"/>
            <a:ext cx="731520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Bias and variance trade off: more model flexibility typically lowers one and raises the other.</a:t>
            </a:r>
            <a:endParaRPr lang="en-US" sz="1400" dirty="0"/>
          </a:p>
        </p:txBody>
      </p:sp>
      <p:sp>
        <p:nvSpPr>
          <p:cNvPr id="14" name="Shape 11"/>
          <p:cNvSpPr/>
          <p:nvPr/>
        </p:nvSpPr>
        <p:spPr>
          <a:xfrm>
            <a:off x="548640" y="4325112"/>
            <a:ext cx="292608" cy="292608"/>
          </a:xfrm>
          <a:prstGeom prst="ellipse">
            <a:avLst/>
          </a:prstGeom>
          <a:solidFill>
            <a:srgbClr val="2A78D6"/>
          </a:solidFill>
          <a:ln/>
        </p:spPr>
      </p:sp>
      <p:sp>
        <p:nvSpPr>
          <p:cNvPr id="15" name="Text 12"/>
          <p:cNvSpPr/>
          <p:nvPr/>
        </p:nvSpPr>
        <p:spPr>
          <a:xfrm>
            <a:off x="548640" y="432511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1005840" y="4297680"/>
            <a:ext cx="731520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Regularization (L2, L1, early stopping) controls variance directly, without limiting raw model capacity.</a:t>
            </a:r>
            <a:endParaRPr lang="en-US" sz="1400" dirty="0"/>
          </a:p>
        </p:txBody>
      </p:sp>
      <p:sp>
        <p:nvSpPr>
          <p:cNvPr id="17" name="Shape 14"/>
          <p:cNvSpPr/>
          <p:nvPr/>
        </p:nvSpPr>
        <p:spPr>
          <a:xfrm>
            <a:off x="548640" y="5193792"/>
            <a:ext cx="292608" cy="292608"/>
          </a:xfrm>
          <a:prstGeom prst="ellipse">
            <a:avLst/>
          </a:prstGeom>
          <a:solidFill>
            <a:srgbClr val="2A78D6"/>
          </a:solidFill>
          <a:ln/>
        </p:spPr>
      </p:sp>
      <p:sp>
        <p:nvSpPr>
          <p:cNvPr id="18" name="Text 15"/>
          <p:cNvSpPr/>
          <p:nvPr/>
        </p:nvSpPr>
        <p:spPr>
          <a:xfrm>
            <a:off x="548640" y="51937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6"/>
          <p:cNvSpPr/>
          <p:nvPr/>
        </p:nvSpPr>
        <p:spPr>
          <a:xfrm>
            <a:off x="1005840" y="5166360"/>
            <a:ext cx="731520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Data leakage is a distinct failure from overfitting: it corrupts the evaluation itself, not just the fit.</a:t>
            </a:r>
            <a:endParaRPr lang="en-US" sz="1400" dirty="0"/>
          </a:p>
        </p:txBody>
      </p:sp>
      <p:sp>
        <p:nvSpPr>
          <p:cNvPr id="20" name="Text 1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21" name="Text 1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FURTHER READING</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Sources Cited in This Chapter</a:t>
            </a:r>
            <a:endParaRPr lang="en-US" sz="3000" dirty="0"/>
          </a:p>
        </p:txBody>
      </p:sp>
      <p:sp>
        <p:nvSpPr>
          <p:cNvPr id="4" name="Shape 2"/>
          <p:cNvSpPr/>
          <p:nvPr/>
        </p:nvSpPr>
        <p:spPr>
          <a:xfrm>
            <a:off x="457200" y="1700784"/>
            <a:ext cx="146304" cy="146304"/>
          </a:xfrm>
          <a:prstGeom prst="ellipse">
            <a:avLst/>
          </a:prstGeom>
          <a:solidFill>
            <a:srgbClr val="2A78D6"/>
          </a:solidFill>
          <a:ln/>
        </p:spPr>
      </p:sp>
      <p:sp>
        <p:nvSpPr>
          <p:cNvPr id="5" name="Text 3"/>
          <p:cNvSpPr/>
          <p:nvPr/>
        </p:nvSpPr>
        <p:spPr>
          <a:xfrm>
            <a:off x="777240" y="164592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Geman, Bienenstock &amp; Doursat, Neural Networks and the Bias/Variance Dilemma</a:t>
            </a:r>
            <a:endParaRPr lang="en-US" sz="1500" dirty="0"/>
          </a:p>
        </p:txBody>
      </p:sp>
      <p:sp>
        <p:nvSpPr>
          <p:cNvPr id="6" name="Text 4"/>
          <p:cNvSpPr/>
          <p:nvPr/>
        </p:nvSpPr>
        <p:spPr>
          <a:xfrm>
            <a:off x="777240" y="195681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Neural Computation, 1992</a:t>
            </a:r>
            <a:endParaRPr lang="en-US" sz="1200" dirty="0"/>
          </a:p>
        </p:txBody>
      </p:sp>
      <p:sp>
        <p:nvSpPr>
          <p:cNvPr id="7" name="Shape 5"/>
          <p:cNvSpPr/>
          <p:nvPr/>
        </p:nvSpPr>
        <p:spPr>
          <a:xfrm>
            <a:off x="457200" y="2478024"/>
            <a:ext cx="146304" cy="146304"/>
          </a:xfrm>
          <a:prstGeom prst="ellipse">
            <a:avLst/>
          </a:prstGeom>
          <a:solidFill>
            <a:srgbClr val="2A78D6"/>
          </a:solidFill>
          <a:ln/>
        </p:spPr>
      </p:sp>
      <p:sp>
        <p:nvSpPr>
          <p:cNvPr id="8" name="Text 6"/>
          <p:cNvSpPr/>
          <p:nvPr/>
        </p:nvSpPr>
        <p:spPr>
          <a:xfrm>
            <a:off x="777240" y="242316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Kohavi, A Study of Cross-Validation and Bootstrap for Accuracy Estimation and Model Selection</a:t>
            </a:r>
            <a:endParaRPr lang="en-US" sz="1500" dirty="0"/>
          </a:p>
        </p:txBody>
      </p:sp>
      <p:sp>
        <p:nvSpPr>
          <p:cNvPr id="9" name="Text 7"/>
          <p:cNvSpPr/>
          <p:nvPr/>
        </p:nvSpPr>
        <p:spPr>
          <a:xfrm>
            <a:off x="777240" y="273405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IJCAI, 1995</a:t>
            </a:r>
            <a:endParaRPr lang="en-US" sz="1200" dirty="0"/>
          </a:p>
        </p:txBody>
      </p:sp>
      <p:sp>
        <p:nvSpPr>
          <p:cNvPr id="10" name="Shape 8"/>
          <p:cNvSpPr/>
          <p:nvPr/>
        </p:nvSpPr>
        <p:spPr>
          <a:xfrm>
            <a:off x="457200" y="3255264"/>
            <a:ext cx="146304" cy="146304"/>
          </a:xfrm>
          <a:prstGeom prst="ellipse">
            <a:avLst/>
          </a:prstGeom>
          <a:solidFill>
            <a:srgbClr val="2A78D6"/>
          </a:solidFill>
          <a:ln/>
        </p:spPr>
      </p:sp>
      <p:sp>
        <p:nvSpPr>
          <p:cNvPr id="11" name="Text 9"/>
          <p:cNvSpPr/>
          <p:nvPr/>
        </p:nvSpPr>
        <p:spPr>
          <a:xfrm>
            <a:off x="777240" y="320040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Chapter 1.3</a:t>
            </a:r>
            <a:endParaRPr lang="en-US" sz="1500" dirty="0"/>
          </a:p>
        </p:txBody>
      </p:sp>
      <p:sp>
        <p:nvSpPr>
          <p:cNvPr id="12" name="Text 10"/>
          <p:cNvSpPr/>
          <p:nvPr/>
        </p:nvSpPr>
        <p:spPr>
          <a:xfrm>
            <a:off x="777240" y="351129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docs/01-ai-ml-foundations/1-3-ml-foundations.mdx</a:t>
            </a:r>
            <a:endParaRPr lang="en-US" sz="1200" dirty="0"/>
          </a:p>
        </p:txBody>
      </p:sp>
      <p:sp>
        <p:nvSpPr>
          <p:cNvPr id="13" name="Shape 11"/>
          <p:cNvSpPr/>
          <p:nvPr/>
        </p:nvSpPr>
        <p:spPr>
          <a:xfrm>
            <a:off x="457200" y="4032504"/>
            <a:ext cx="146304" cy="146304"/>
          </a:xfrm>
          <a:prstGeom prst="ellipse">
            <a:avLst/>
          </a:prstGeom>
          <a:solidFill>
            <a:srgbClr val="2A78D6"/>
          </a:solidFill>
          <a:ln/>
        </p:spPr>
      </p:sp>
      <p:sp>
        <p:nvSpPr>
          <p:cNvPr id="14" name="Text 12"/>
          <p:cNvSpPr/>
          <p:nvPr/>
        </p:nvSpPr>
        <p:spPr>
          <a:xfrm>
            <a:off x="777240" y="397764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Glossary: Feature, Hyperparameter, Regularization, Bias-variance tradeoff, Data leakage, Cross-validation</a:t>
            </a:r>
            <a:endParaRPr lang="en-US" sz="1500" dirty="0"/>
          </a:p>
        </p:txBody>
      </p:sp>
      <p:sp>
        <p:nvSpPr>
          <p:cNvPr id="15" name="Text 13"/>
          <p:cNvSpPr/>
          <p:nvPr/>
        </p:nvSpPr>
        <p:spPr>
          <a:xfrm>
            <a:off x="777240" y="428853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docs/00-orientation/0-5-glossary-notation-conventions.md</a:t>
            </a:r>
            <a:endParaRPr lang="en-US" sz="1200" dirty="0"/>
          </a:p>
        </p:txBody>
      </p:sp>
      <p:sp>
        <p:nvSpPr>
          <p:cNvPr id="16" name="Shape 14"/>
          <p:cNvSpPr/>
          <p:nvPr/>
        </p:nvSpPr>
        <p:spPr>
          <a:xfrm>
            <a:off x="457200" y="4809744"/>
            <a:ext cx="146304" cy="146304"/>
          </a:xfrm>
          <a:prstGeom prst="ellipse">
            <a:avLst/>
          </a:prstGeom>
          <a:solidFill>
            <a:srgbClr val="2A78D6"/>
          </a:solidFill>
          <a:ln/>
        </p:spPr>
      </p:sp>
      <p:sp>
        <p:nvSpPr>
          <p:cNvPr id="17" name="Text 15"/>
          <p:cNvSpPr/>
          <p:nvPr/>
        </p:nvSpPr>
        <p:spPr>
          <a:xfrm>
            <a:off x="777240" y="475488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Chapter 1.7</a:t>
            </a:r>
            <a:endParaRPr lang="en-US" sz="1500" dirty="0"/>
          </a:p>
        </p:txBody>
      </p:sp>
      <p:sp>
        <p:nvSpPr>
          <p:cNvPr id="18" name="Text 16"/>
          <p:cNvSpPr/>
          <p:nvPr/>
        </p:nvSpPr>
        <p:spPr>
          <a:xfrm>
            <a:off x="777240" y="506577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full feature-engineering treatment</a:t>
            </a:r>
            <a:endParaRPr lang="en-US" sz="1200" dirty="0"/>
          </a:p>
        </p:txBody>
      </p:sp>
      <p:sp>
        <p:nvSpPr>
          <p:cNvPr id="19" name="Text 17"/>
          <p:cNvSpPr/>
          <p:nvPr/>
        </p:nvSpPr>
        <p:spPr>
          <a:xfrm>
            <a:off x="457200" y="603504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Full chapter with inline links: docs/01-ai-ml-foundations/1-4-core-ml-concepts.mdx</a:t>
            </a:r>
            <a:endParaRPr lang="en-US" sz="1200" dirty="0"/>
          </a:p>
        </p:txBody>
      </p:sp>
      <p:sp>
        <p:nvSpPr>
          <p:cNvPr id="20" name="Text 18"/>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1.4 · Phase 1 — AI &amp; Machine Learning Foundations</a:t>
            </a:r>
            <a:endParaRPr lang="en-US" sz="1000" dirty="0"/>
          </a:p>
        </p:txBody>
      </p:sp>
      <p:sp>
        <p:nvSpPr>
          <p:cNvPr id="21" name="Text 19"/>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2026-08-19T21:28:40Z</dcterms:created>
  <dcterms:modified xsi:type="dcterms:W3CDTF">2026-08-19T21:28:40Z</dcterms:modified>
</cp:coreProperties>
</file>