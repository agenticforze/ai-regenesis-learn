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645920"/>
            <a:ext cx="10515600" cy="2194560"/>
          </a:xfrm>
          <a:prstGeom prst="rect">
            <a:avLst/>
          </a:prstGeom>
          <a:noFill/>
        </p:spPr>
        <p:txBody>
          <a:bodyPr wrap="square">
            <a:spAutoFit/>
          </a:bodyPr>
          <a:lstStyle/>
          <a:p>
            <a:r>
              <a:rPr sz="2800" b="1">
                <a:solidFill>
                  <a:srgbClr val="1F2D3D"/>
                </a:solidFill>
              </a:rPr>
              <a:t>Deployment Considerations</a:t>
            </a:r>
          </a:p>
          <a:p>
            <a:pPr>
              <a:spcBef>
                <a:spcPts val="800"/>
              </a:spcBef>
            </a:pPr>
            <a:r>
              <a:rPr sz="2600" b="0">
                <a:solidFill>
                  <a:srgbClr val="5B8FC9"/>
                </a:solidFill>
              </a:rPr>
              <a:t>for Custom Models</a:t>
            </a:r>
          </a:p>
        </p:txBody>
      </p:sp>
      <p:sp>
        <p:nvSpPr>
          <p:cNvPr id="4" name="TextBox 3"/>
          <p:cNvSpPr txBox="1"/>
          <p:nvPr/>
        </p:nvSpPr>
        <p:spPr>
          <a:xfrm>
            <a:off x="822960" y="1280160"/>
            <a:ext cx="10058400" cy="365760"/>
          </a:xfrm>
          <a:prstGeom prst="rect">
            <a:avLst/>
          </a:prstGeom>
          <a:noFill/>
        </p:spPr>
        <p:txBody>
          <a:bodyPr wrap="none">
            <a:spAutoFit/>
          </a:bodyPr>
          <a:lstStyle/>
          <a:p>
            <a:r>
              <a:rPr sz="1400" b="1">
                <a:solidFill>
                  <a:srgbClr val="6B7280"/>
                </a:solidFill>
              </a:rPr>
              <a:t>CHAPTER 7.7  ·  PHASE 7</a:t>
            </a:r>
          </a:p>
        </p:txBody>
      </p:sp>
      <p:sp>
        <p:nvSpPr>
          <p:cNvPr id="5" name="TextBox 4"/>
          <p:cNvSpPr txBox="1"/>
          <p:nvPr/>
        </p:nvSpPr>
        <p:spPr>
          <a:xfrm>
            <a:off x="822960" y="4114800"/>
            <a:ext cx="10332720" cy="1463040"/>
          </a:xfrm>
          <a:prstGeom prst="rect">
            <a:avLst/>
          </a:prstGeom>
          <a:noFill/>
        </p:spPr>
        <p:txBody>
          <a:bodyPr wrap="square">
            <a:spAutoFit/>
          </a:bodyPr>
          <a:lstStyle/>
          <a:p>
            <a:r>
              <a:rPr sz="1500">
                <a:solidFill>
                  <a:srgbClr val="1F2D3D"/>
                </a:solidFill>
              </a:rPr>
              <a:t>A fine-tuned model that has passed Chapter 7.6's evaluation gate still is not ready for every user at once. Two decisions, how it is served and how the rollout proceeds, shape how safely it gets there.</a:t>
            </a:r>
          </a:p>
          <a:p>
            <a:pPr>
              <a:spcBef>
                <a:spcPts val="1400"/>
              </a:spcBef>
            </a:pPr>
            <a:r>
              <a:rPr sz="1300" b="1">
                <a:solidFill>
                  <a:srgbClr val="5B8FC9"/>
                </a:solidFill>
              </a:rPr>
              <a:t>Fine-Tuning, Alignment &amp; Model Customization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1064240" cy="320040"/>
          </a:xfrm>
          <a:prstGeom prst="rect">
            <a:avLst/>
          </a:prstGeom>
          <a:noFill/>
        </p:spPr>
        <p:txBody>
          <a:bodyPr wrap="none">
            <a:spAutoFit/>
          </a:bodyPr>
          <a:lstStyle/>
          <a:p>
            <a:r>
              <a:rPr sz="1300" b="1">
                <a:solidFill>
                  <a:srgbClr val="5B8FC9"/>
                </a:solidFill>
              </a:rPr>
              <a:t>AGENDA</a:t>
            </a:r>
          </a:p>
        </p:txBody>
      </p:sp>
      <p:sp>
        <p:nvSpPr>
          <p:cNvPr id="4" name="TextBox 3"/>
          <p:cNvSpPr txBox="1"/>
          <p:nvPr/>
        </p:nvSpPr>
        <p:spPr>
          <a:xfrm>
            <a:off x="548640" y="320040"/>
            <a:ext cx="11064240" cy="822960"/>
          </a:xfrm>
          <a:prstGeom prst="rect">
            <a:avLst/>
          </a:prstGeom>
          <a:noFill/>
        </p:spPr>
        <p:txBody>
          <a:bodyPr wrap="square">
            <a:spAutoFit/>
          </a:bodyPr>
          <a:lstStyle/>
          <a:p>
            <a:r>
              <a:rPr sz="2500" b="1">
                <a:solidFill>
                  <a:srgbClr val="1F2D3D"/>
                </a:solidFill>
              </a:rPr>
              <a:t>What this chapter covers</a:t>
            </a:r>
          </a:p>
        </p:txBody>
      </p:sp>
      <p:sp>
        <p:nvSpPr>
          <p:cNvPr id="5" name="TextBox 4"/>
          <p:cNvSpPr txBox="1"/>
          <p:nvPr/>
        </p:nvSpPr>
        <p:spPr>
          <a:xfrm>
            <a:off x="640080" y="1280160"/>
            <a:ext cx="10881360" cy="5120640"/>
          </a:xfrm>
          <a:prstGeom prst="rect">
            <a:avLst/>
          </a:prstGeom>
          <a:noFill/>
        </p:spPr>
        <p:txBody>
          <a:bodyPr wrap="square">
            <a:spAutoFit/>
          </a:bodyPr>
          <a:lstStyle/>
          <a:p>
            <a:pPr>
              <a:spcAft>
                <a:spcPts val="1400"/>
              </a:spcAft>
            </a:pPr>
            <a:r>
              <a:rPr sz="1700">
                <a:solidFill>
                  <a:srgbClr val="1F2D3D"/>
                </a:solidFill>
              </a:rPr>
              <a:t>•  Merging a LoRA adapter into the base model, versus serving many adapters unmerged (S-LoRA)</a:t>
            </a:r>
          </a:p>
          <a:p>
            <a:pPr>
              <a:spcAft>
                <a:spcPts val="1400"/>
              </a:spcAft>
            </a:pPr>
            <a:r>
              <a:rPr sz="1700">
                <a:solidFill>
                  <a:srgbClr val="1F2D3D"/>
                </a:solidFill>
              </a:rPr>
              <a:t>•  Why merging stops scaling once there is more than one fine-tune to serve</a:t>
            </a:r>
          </a:p>
          <a:p>
            <a:pPr>
              <a:spcAft>
                <a:spcPts val="1400"/>
              </a:spcAft>
            </a:pPr>
            <a:r>
              <a:rPr sz="1700">
                <a:solidFill>
                  <a:srgbClr val="1F2D3D"/>
                </a:solidFill>
              </a:rPr>
              <a:t>•  Train-serve skew: how a prompt template or tokenizer mismatch can look like a model problem</a:t>
            </a:r>
          </a:p>
          <a:p>
            <a:pPr>
              <a:spcAft>
                <a:spcPts val="1400"/>
              </a:spcAft>
            </a:pPr>
            <a:r>
              <a:rPr sz="1700">
                <a:solidFill>
                  <a:srgbClr val="1F2D3D"/>
                </a:solidFill>
              </a:rPr>
              <a:t>•  Shadow deployment: validating against real traffic with zero user-facing risk</a:t>
            </a:r>
          </a:p>
          <a:p>
            <a:pPr>
              <a:spcAft>
                <a:spcPts val="1400"/>
              </a:spcAft>
            </a:pPr>
            <a:r>
              <a:rPr sz="1700">
                <a:solidFill>
                  <a:srgbClr val="1F2D3D"/>
                </a:solidFill>
              </a:rPr>
              <a:t>•  Canary release and rollback: ramping real users gradually, with a fast way back</a:t>
            </a:r>
          </a:p>
          <a:p>
            <a:pPr>
              <a:spcAft>
                <a:spcPts val="1400"/>
              </a:spcAft>
            </a:pPr>
            <a:r>
              <a:rPr sz="1700">
                <a:solidFill>
                  <a:srgbClr val="1F2D3D"/>
                </a:solidFill>
              </a:rPr>
              <a:t>•  A hands-on canary rollout simulator with an automatic rollback gate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1064240" cy="320040"/>
          </a:xfrm>
          <a:prstGeom prst="rect">
            <a:avLst/>
          </a:prstGeom>
          <a:noFill/>
        </p:spPr>
        <p:txBody>
          <a:bodyPr wrap="none">
            <a:spAutoFit/>
          </a:bodyPr>
          <a:lstStyle/>
          <a:p>
            <a:r>
              <a:rPr sz="1300" b="1">
                <a:solidFill>
                  <a:srgbClr val="5B8FC9"/>
                </a:solidFill>
              </a:rPr>
              <a:t>HIGH-LEVEL</a:t>
            </a:r>
          </a:p>
        </p:txBody>
      </p:sp>
      <p:sp>
        <p:nvSpPr>
          <p:cNvPr id="4" name="TextBox 3"/>
          <p:cNvSpPr txBox="1"/>
          <p:nvPr/>
        </p:nvSpPr>
        <p:spPr>
          <a:xfrm>
            <a:off x="548640" y="320040"/>
            <a:ext cx="11064240" cy="822960"/>
          </a:xfrm>
          <a:prstGeom prst="rect">
            <a:avLst/>
          </a:prstGeom>
          <a:noFill/>
        </p:spPr>
        <p:txBody>
          <a:bodyPr wrap="square">
            <a:spAutoFit/>
          </a:bodyPr>
          <a:lstStyle/>
          <a:p>
            <a:r>
              <a:rPr sz="2500" b="1">
                <a:solidFill>
                  <a:srgbClr val="1F2D3D"/>
                </a:solidFill>
              </a:rPr>
              <a:t>An evaluation gate answers if a model is good; rollout answers if it's safe to find out</a:t>
            </a:r>
          </a:p>
        </p:txBody>
      </p:sp>
      <p:pic>
        <p:nvPicPr>
          <p:cNvPr id="5" name="Picture 4" descr="7-7-safe-rollout-pipeline.png"/>
          <p:cNvPicPr>
            <a:picLocks noChangeAspect="1"/>
          </p:cNvPicPr>
          <p:nvPr/>
        </p:nvPicPr>
        <p:blipFill>
          <a:blip r:embed="rId2"/>
          <a:stretch>
            <a:fillRect/>
          </a:stretch>
        </p:blipFill>
        <p:spPr>
          <a:xfrm>
            <a:off x="2463702" y="1188720"/>
            <a:ext cx="7264290" cy="4846320"/>
          </a:xfrm>
          <a:prstGeom prst="rect">
            <a:avLst/>
          </a:prstGeom>
        </p:spPr>
      </p:pic>
      <p:sp>
        <p:nvSpPr>
          <p:cNvPr id="6" name="TextBox 5"/>
          <p:cNvSpPr txBox="1"/>
          <p:nvPr/>
        </p:nvSpPr>
        <p:spPr>
          <a:xfrm>
            <a:off x="548640" y="6309360"/>
            <a:ext cx="11064240" cy="457200"/>
          </a:xfrm>
          <a:prstGeom prst="rect">
            <a:avLst/>
          </a:prstGeom>
          <a:noFill/>
        </p:spPr>
        <p:txBody>
          <a:bodyPr wrap="square">
            <a:spAutoFit/>
          </a:bodyPr>
          <a:lstStyle/>
          <a:p>
            <a:r>
              <a:rPr sz="1200" i="1">
                <a:solidFill>
                  <a:srgbClr val="6B7280"/>
                </a:solidFill>
              </a:rPr>
              <a:t>A model moves through shadow deployment, then a canary ramp, with rollback ready at each stage.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1064240" cy="320040"/>
          </a:xfrm>
          <a:prstGeom prst="rect">
            <a:avLst/>
          </a:prstGeom>
          <a:noFill/>
        </p:spPr>
        <p:txBody>
          <a:bodyPr wrap="none">
            <a:spAutoFit/>
          </a:bodyPr>
          <a:lstStyle/>
          <a:p>
            <a:r>
              <a:rPr sz="1300" b="1">
                <a:solidFill>
                  <a:srgbClr val="5B8FC9"/>
                </a:solidFill>
              </a:rPr>
              <a:t>DEEP-DIVE</a:t>
            </a:r>
          </a:p>
        </p:txBody>
      </p:sp>
      <p:sp>
        <p:nvSpPr>
          <p:cNvPr id="4" name="TextBox 3"/>
          <p:cNvSpPr txBox="1"/>
          <p:nvPr/>
        </p:nvSpPr>
        <p:spPr>
          <a:xfrm>
            <a:off x="548640" y="320040"/>
            <a:ext cx="11064240" cy="822960"/>
          </a:xfrm>
          <a:prstGeom prst="rect">
            <a:avLst/>
          </a:prstGeom>
          <a:noFill/>
        </p:spPr>
        <p:txBody>
          <a:bodyPr wrap="square">
            <a:spAutoFit/>
          </a:bodyPr>
          <a:lstStyle/>
          <a:p>
            <a:r>
              <a:rPr sz="2500" b="1">
                <a:solidFill>
                  <a:srgbClr val="1F2D3D"/>
                </a:solidFill>
              </a:rPr>
              <a:t>Merge for one tenant's speed, or serve many adapters unmerged for scale</a:t>
            </a:r>
          </a:p>
        </p:txBody>
      </p:sp>
      <p:sp>
        <p:nvSpPr>
          <p:cNvPr id="5" name="TextBox 4"/>
          <p:cNvSpPr txBox="1"/>
          <p:nvPr/>
        </p:nvSpPr>
        <p:spPr>
          <a:xfrm>
            <a:off x="640080" y="1280160"/>
            <a:ext cx="10881360" cy="5120640"/>
          </a:xfrm>
          <a:prstGeom prst="rect">
            <a:avLst/>
          </a:prstGeom>
          <a:noFill/>
        </p:spPr>
        <p:txBody>
          <a:bodyPr wrap="square">
            <a:spAutoFit/>
          </a:bodyPr>
          <a:lstStyle/>
          <a:p>
            <a:pPr>
              <a:spcAft>
                <a:spcPts val="1400"/>
              </a:spcAft>
            </a:pPr>
            <a:r>
              <a:rPr sz="1600">
                <a:solidFill>
                  <a:srgbClr val="1F2D3D"/>
                </a:solidFill>
              </a:rPr>
              <a:t>•  Merging a LoRA adapter into the base model adds no extra inference latency for one fine-tune</a:t>
            </a:r>
          </a:p>
          <a:p>
            <a:pPr>
              <a:spcAft>
                <a:spcPts val="1400"/>
              </a:spcAft>
            </a:pPr>
            <a:r>
              <a:rPr sz="1600">
                <a:solidFill>
                  <a:srgbClr val="1F2D3D"/>
                </a:solidFill>
              </a:rPr>
              <a:t>•  S-LoRA: at scale, "training and serving costs can become substantial"</a:t>
            </a:r>
          </a:p>
          <a:p>
            <a:pPr>
              <a:spcAft>
                <a:spcPts val="1400"/>
              </a:spcAft>
            </a:pPr>
            <a:r>
              <a:rPr sz="1600">
                <a:solidFill>
                  <a:srgbClr val="1F2D3D"/>
                </a:solidFill>
              </a:rPr>
              <a:t>•  "Directly merging the models requires maintaining many copies of the full language model"</a:t>
            </a:r>
          </a:p>
          <a:p>
            <a:pPr>
              <a:spcAft>
                <a:spcPts val="1400"/>
              </a:spcAft>
            </a:pPr>
            <a:r>
              <a:rPr sz="1600">
                <a:solidFill>
                  <a:srgbClr val="1F2D3D"/>
                </a:solidFill>
              </a:rPr>
              <a:t>•  S-LoRA keeps adapters unmerged: "Unified Paging" pools memory across many adapters on one base model</a:t>
            </a:r>
          </a:p>
          <a:p>
            <a:pPr>
              <a:spcAft>
                <a:spcPts val="1400"/>
              </a:spcAft>
            </a:pPr>
            <a:r>
              <a:rPr sz="1600">
                <a:solidFill>
                  <a:srgbClr val="1F2D3D"/>
                </a:solidFill>
              </a:rPr>
              <a:t>•  Reported gain: "improve the throughput by up to 4 times" and serve orders of magnitude more adapters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1064240" cy="320040"/>
          </a:xfrm>
          <a:prstGeom prst="rect">
            <a:avLst/>
          </a:prstGeom>
          <a:noFill/>
        </p:spPr>
        <p:txBody>
          <a:bodyPr wrap="none">
            <a:spAutoFit/>
          </a:bodyPr>
          <a:lstStyle/>
          <a:p>
            <a:r>
              <a:rPr sz="1300" b="1">
                <a:solidFill>
                  <a:srgbClr val="5B8FC9"/>
                </a:solidFill>
              </a:rPr>
              <a:t>DEEP-DIVE</a:t>
            </a:r>
          </a:p>
        </p:txBody>
      </p:sp>
      <p:sp>
        <p:nvSpPr>
          <p:cNvPr id="4" name="TextBox 3"/>
          <p:cNvSpPr txBox="1"/>
          <p:nvPr/>
        </p:nvSpPr>
        <p:spPr>
          <a:xfrm>
            <a:off x="548640" y="320040"/>
            <a:ext cx="11064240" cy="822960"/>
          </a:xfrm>
          <a:prstGeom prst="rect">
            <a:avLst/>
          </a:prstGeom>
          <a:noFill/>
        </p:spPr>
        <p:txBody>
          <a:bodyPr wrap="square">
            <a:spAutoFit/>
          </a:bodyPr>
          <a:lstStyle/>
          <a:p>
            <a:r>
              <a:rPr sz="2500" b="1">
                <a:solidFill>
                  <a:srgbClr val="1F2D3D"/>
                </a:solidFill>
              </a:rPr>
              <a:t>A model can be correct in eval and wrong in production for reasons outside it</a:t>
            </a:r>
          </a:p>
        </p:txBody>
      </p:sp>
      <p:sp>
        <p:nvSpPr>
          <p:cNvPr id="5" name="TextBox 4"/>
          <p:cNvSpPr txBox="1"/>
          <p:nvPr/>
        </p:nvSpPr>
        <p:spPr>
          <a:xfrm>
            <a:off x="640080" y="1280160"/>
            <a:ext cx="10881360" cy="5120640"/>
          </a:xfrm>
          <a:prstGeom prst="rect">
            <a:avLst/>
          </a:prstGeom>
          <a:noFill/>
        </p:spPr>
        <p:txBody>
          <a:bodyPr wrap="square">
            <a:spAutoFit/>
          </a:bodyPr>
          <a:lstStyle/>
          <a:p>
            <a:pPr>
              <a:spcAft>
                <a:spcPts val="1400"/>
              </a:spcAft>
            </a:pPr>
            <a:r>
              <a:rPr sz="1600">
                <a:solidFill>
                  <a:srgbClr val="1F2D3D"/>
                </a:solidFill>
              </a:rPr>
              <a:t>•  Zinkevich: "the best way to make sure that you train like you serve is to...pipe those features to a log"</a:t>
            </a:r>
          </a:p>
          <a:p>
            <a:pPr>
              <a:spcAft>
                <a:spcPts val="1400"/>
              </a:spcAft>
            </a:pPr>
            <a:r>
              <a:rPr sz="1600">
                <a:solidFill>
                  <a:srgbClr val="1F2D3D"/>
                </a:solidFill>
              </a:rPr>
              <a:t>•  "Re-use code between your training pipeline and your serving pipeline whenever possible"</a:t>
            </a:r>
          </a:p>
          <a:p>
            <a:pPr>
              <a:spcAft>
                <a:spcPts val="1400"/>
              </a:spcAft>
            </a:pPr>
            <a:r>
              <a:rPr sz="1600">
                <a:solidFill>
                  <a:srgbClr val="1F2D3D"/>
                </a:solidFill>
              </a:rPr>
              <a:t>•  A prompt template, tokenizer version, or chat-formatting mismatch can silently reshape every input</a:t>
            </a:r>
          </a:p>
          <a:p>
            <a:pPr>
              <a:spcAft>
                <a:spcPts val="1400"/>
              </a:spcAft>
            </a:pPr>
            <a:r>
              <a:rPr sz="1600">
                <a:solidFill>
                  <a:srgbClr val="1F2D3D"/>
                </a:solidFill>
              </a:rPr>
              <a:t>•  None of this would show up by re-reading the model's weights, only by comparing what reaches the model</a:t>
            </a:r>
          </a:p>
          <a:p>
            <a:pPr>
              <a:spcAft>
                <a:spcPts val="1400"/>
              </a:spcAft>
            </a:pPr>
            <a:r>
              <a:rPr sz="1600">
                <a:solidFill>
                  <a:srgbClr val="1F2D3D"/>
                </a:solidFill>
              </a:rPr>
              <a:t>•  "Do sanity checks right before you export the model" is what Chapter 7.6's eval gate exists to satisfy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1064240" cy="320040"/>
          </a:xfrm>
          <a:prstGeom prst="rect">
            <a:avLst/>
          </a:prstGeom>
          <a:noFill/>
        </p:spPr>
        <p:txBody>
          <a:bodyPr wrap="none">
            <a:spAutoFit/>
          </a:bodyPr>
          <a:lstStyle/>
          <a:p>
            <a:r>
              <a:rPr sz="1300" b="1">
                <a:solidFill>
                  <a:srgbClr val="5B8FC9"/>
                </a:solidFill>
              </a:rPr>
              <a:t>DEEP-DIVE</a:t>
            </a:r>
          </a:p>
        </p:txBody>
      </p:sp>
      <p:sp>
        <p:nvSpPr>
          <p:cNvPr id="4" name="TextBox 3"/>
          <p:cNvSpPr txBox="1"/>
          <p:nvPr/>
        </p:nvSpPr>
        <p:spPr>
          <a:xfrm>
            <a:off x="548640" y="320040"/>
            <a:ext cx="11064240" cy="822960"/>
          </a:xfrm>
          <a:prstGeom prst="rect">
            <a:avLst/>
          </a:prstGeom>
          <a:noFill/>
        </p:spPr>
        <p:txBody>
          <a:bodyPr wrap="square">
            <a:spAutoFit/>
          </a:bodyPr>
          <a:lstStyle/>
          <a:p>
            <a:r>
              <a:rPr sz="2500" b="1">
                <a:solidFill>
                  <a:srgbClr val="1F2D3D"/>
                </a:solidFill>
              </a:rPr>
              <a:t>Shadow deployment, then canary release, close the gap an offline eval can't</a:t>
            </a:r>
          </a:p>
        </p:txBody>
      </p:sp>
      <p:sp>
        <p:nvSpPr>
          <p:cNvPr id="5" name="TextBox 4"/>
          <p:cNvSpPr txBox="1"/>
          <p:nvPr/>
        </p:nvSpPr>
        <p:spPr>
          <a:xfrm>
            <a:off x="640080" y="1280160"/>
            <a:ext cx="10881360" cy="5120640"/>
          </a:xfrm>
          <a:prstGeom prst="rect">
            <a:avLst/>
          </a:prstGeom>
          <a:noFill/>
        </p:spPr>
        <p:txBody>
          <a:bodyPr wrap="square">
            <a:spAutoFit/>
          </a:bodyPr>
          <a:lstStyle/>
          <a:p>
            <a:pPr>
              <a:spcAft>
                <a:spcPts val="1400"/>
              </a:spcAft>
            </a:pPr>
            <a:r>
              <a:rPr sz="1600">
                <a:solidFill>
                  <a:srgbClr val="1F2D3D"/>
                </a:solidFill>
              </a:rPr>
              <a:t>•  Fowler: "deploy the new model side-by-side...send the same production traffic" with no user impact</a:t>
            </a:r>
          </a:p>
          <a:p>
            <a:pPr>
              <a:spcAft>
                <a:spcPts val="1400"/>
              </a:spcAft>
            </a:pPr>
            <a:r>
              <a:rPr sz="1600">
                <a:solidFill>
                  <a:srgbClr val="1F2D3D"/>
                </a:solidFill>
              </a:rPr>
              <a:t>•  Canary: "slowly rolling out the change to a small subset of users before...the entire infrastructure"</a:t>
            </a:r>
          </a:p>
          <a:p>
            <a:pPr>
              <a:spcAft>
                <a:spcPts val="1400"/>
              </a:spcAft>
            </a:pPr>
            <a:r>
              <a:rPr sz="1600">
                <a:solidFill>
                  <a:srgbClr val="1F2D3D"/>
                </a:solidFill>
              </a:rPr>
              <a:t>•  Once a shadow run looks healthy, canary exposes a small, then growing, share of real users</a:t>
            </a:r>
          </a:p>
          <a:p>
            <a:pPr>
              <a:spcAft>
                <a:spcPts val="1400"/>
              </a:spcAft>
            </a:pPr>
            <a:r>
              <a:rPr sz="1600">
                <a:solidFill>
                  <a:srgbClr val="1F2D3D"/>
                </a:solidFill>
              </a:rPr>
              <a:t>•  Rollback: "simply to reroute users back to the old version until you have fixed the problem"</a:t>
            </a:r>
          </a:p>
          <a:p>
            <a:pPr>
              <a:spcAft>
                <a:spcPts val="1400"/>
              </a:spcAft>
            </a:pPr>
            <a:r>
              <a:rPr sz="1600">
                <a:solidFill>
                  <a:srgbClr val="1F2D3D"/>
                </a:solidFill>
              </a:rPr>
              <a:t>•  That only works quickly if the previous version is still deployed and warm, not archived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1064240" cy="320040"/>
          </a:xfrm>
          <a:prstGeom prst="rect">
            <a:avLst/>
          </a:prstGeom>
          <a:noFill/>
        </p:spPr>
        <p:txBody>
          <a:bodyPr wrap="none">
            <a:spAutoFit/>
          </a:bodyPr>
          <a:lstStyle/>
          <a:p>
            <a:r>
              <a:rPr sz="1300" b="1">
                <a:solidFill>
                  <a:srgbClr val="5B8FC9"/>
                </a:solidFill>
              </a:rPr>
              <a:t>HANDS-ON</a:t>
            </a:r>
          </a:p>
        </p:txBody>
      </p:sp>
      <p:sp>
        <p:nvSpPr>
          <p:cNvPr id="4" name="TextBox 3"/>
          <p:cNvSpPr txBox="1"/>
          <p:nvPr/>
        </p:nvSpPr>
        <p:spPr>
          <a:xfrm>
            <a:off x="548640" y="320040"/>
            <a:ext cx="11064240" cy="822960"/>
          </a:xfrm>
          <a:prstGeom prst="rect">
            <a:avLst/>
          </a:prstGeom>
          <a:noFill/>
        </p:spPr>
        <p:txBody>
          <a:bodyPr wrap="square">
            <a:spAutoFit/>
          </a:bodyPr>
          <a:lstStyle/>
          <a:p>
            <a:r>
              <a:rPr sz="2500" b="1">
                <a:solidFill>
                  <a:srgbClr val="1F2D3D"/>
                </a:solidFill>
              </a:rPr>
              <a:t>Build a canary rollout simulator with an automatic rollback gate</a:t>
            </a:r>
          </a:p>
        </p:txBody>
      </p:sp>
      <p:sp>
        <p:nvSpPr>
          <p:cNvPr id="5" name="TextBox 4"/>
          <p:cNvSpPr txBox="1"/>
          <p:nvPr/>
        </p:nvSpPr>
        <p:spPr>
          <a:xfrm>
            <a:off x="640080" y="1280160"/>
            <a:ext cx="10881360" cy="5120640"/>
          </a:xfrm>
          <a:prstGeom prst="rect">
            <a:avLst/>
          </a:prstGeom>
          <a:noFill/>
        </p:spPr>
        <p:txBody>
          <a:bodyPr wrap="square">
            <a:spAutoFit/>
          </a:bodyPr>
          <a:lstStyle/>
          <a:p>
            <a:pPr>
              <a:spcAft>
                <a:spcPts val="1400"/>
              </a:spcAft>
            </a:pPr>
            <a:r>
              <a:rPr sz="1600">
                <a:solidFill>
                  <a:srgbClr val="1F2D3D"/>
                </a:solidFill>
              </a:rPr>
              <a:t>•  Step 1: load a champion model and a small sample standing in for production requests</a:t>
            </a:r>
          </a:p>
          <a:p>
            <a:pPr>
              <a:spcAft>
                <a:spcPts val="1400"/>
              </a:spcAft>
            </a:pPr>
            <a:r>
              <a:rPr sz="1600">
                <a:solidFill>
                  <a:srgbClr val="1F2D3D"/>
                </a:solidFill>
              </a:rPr>
              <a:t>•  Step 2: score each candidate model by log-probability of its answer letter, same method as Ch. 7.6</a:t>
            </a:r>
          </a:p>
          <a:p>
            <a:pPr>
              <a:spcAft>
                <a:spcPts val="1400"/>
              </a:spcAft>
            </a:pPr>
            <a:r>
              <a:rPr sz="1600">
                <a:solidFill>
                  <a:srgbClr val="1F2D3D"/>
                </a:solidFill>
              </a:rPr>
              <a:t>•  Step 3: build a challenger by fine-tuning a copy on narrow domain text (deliberately regressed)</a:t>
            </a:r>
          </a:p>
          <a:p>
            <a:pPr>
              <a:spcAft>
                <a:spcPts val="1400"/>
              </a:spcAft>
            </a:pPr>
            <a:r>
              <a:rPr sz="1600">
                <a:solidFill>
                  <a:srgbClr val="1F2D3D"/>
                </a:solidFill>
              </a:rPr>
              <a:t>•  Step 4: ramp through canary stages, re-checking for regression, and roll back past a threshold</a:t>
            </a:r>
          </a:p>
          <a:p>
            <a:pPr>
              <a:spcAft>
                <a:spcPts val="1400"/>
              </a:spcAft>
            </a:pPr>
            <a:r>
              <a:rPr sz="1600">
                <a:solidFill>
                  <a:srgbClr val="1F2D3D"/>
                </a:solidFill>
              </a:rPr>
              <a:t>•  The same regression from Chapters 7.4 and 7.6 becomes a live, automatic rollout decision here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1064240" cy="320040"/>
          </a:xfrm>
          <a:prstGeom prst="rect">
            <a:avLst/>
          </a:prstGeom>
          <a:noFill/>
        </p:spPr>
        <p:txBody>
          <a:bodyPr wrap="none">
            <a:spAutoFit/>
          </a:bodyPr>
          <a:lstStyle/>
          <a:p>
            <a:r>
              <a:rPr sz="1300" b="1">
                <a:solidFill>
                  <a:srgbClr val="5B8FC9"/>
                </a:solidFill>
              </a:rPr>
              <a:t>COMPARISON &amp; RELATED CONCEPTS</a:t>
            </a:r>
          </a:p>
        </p:txBody>
      </p:sp>
      <p:sp>
        <p:nvSpPr>
          <p:cNvPr id="4" name="TextBox 3"/>
          <p:cNvSpPr txBox="1"/>
          <p:nvPr/>
        </p:nvSpPr>
        <p:spPr>
          <a:xfrm>
            <a:off x="548640" y="320040"/>
            <a:ext cx="11064240" cy="822960"/>
          </a:xfrm>
          <a:prstGeom prst="rect">
            <a:avLst/>
          </a:prstGeom>
          <a:noFill/>
        </p:spPr>
        <p:txBody>
          <a:bodyPr wrap="square">
            <a:spAutoFit/>
          </a:bodyPr>
          <a:lstStyle/>
          <a:p>
            <a:r>
              <a:rPr sz="2500" b="1">
                <a:solidFill>
                  <a:srgbClr val="1F2D3D"/>
                </a:solidFill>
              </a:rPr>
              <a:t>Three ways real traffic can reach a new model</a:t>
            </a:r>
          </a:p>
        </p:txBody>
      </p:sp>
      <p:graphicFrame>
        <p:nvGraphicFramePr>
          <p:cNvPr id="5" name="Table 4"/>
          <p:cNvGraphicFramePr>
            <a:graphicFrameLocks noGrp="1"/>
          </p:cNvGraphicFramePr>
          <p:nvPr/>
        </p:nvGraphicFramePr>
        <p:xfrm>
          <a:off x="274320" y="1143000"/>
          <a:ext cx="11612880" cy="5029200"/>
        </p:xfrm>
        <a:graphic>
          <a:graphicData uri="http://schemas.openxmlformats.org/drawingml/2006/table">
            <a:tbl>
              <a:tblPr firstRow="1" bandRow="1">
                <a:tableStyleId>{5C22544A-7EE6-4342-B048-85BDC9FD1C3A}</a:tableStyleId>
              </a:tblPr>
              <a:tblGrid>
                <a:gridCol w="2903220"/>
                <a:gridCol w="2903220"/>
                <a:gridCol w="2903220"/>
                <a:gridCol w="2903220"/>
              </a:tblGrid>
              <a:tr h="1005840">
                <a:tc>
                  <a:txBody>
                    <a:bodyPr/>
                    <a:lstStyle/>
                    <a:p>
                      <a:r>
                        <a:rPr b="1" sz="1100">
                          <a:solidFill>
                            <a:srgbClr val="FFFFFF"/>
                          </a:solidFill>
                        </a:rPr>
                        <a:t>Aspect</a:t>
                      </a:r>
                    </a:p>
                  </a:txBody>
                  <a:tcPr>
                    <a:solidFill>
                      <a:srgbClr val="1F2D3D"/>
                    </a:solidFill>
                  </a:tcPr>
                </a:tc>
                <a:tc>
                  <a:txBody>
                    <a:bodyPr/>
                    <a:lstStyle/>
                    <a:p>
                      <a:r>
                        <a:rPr b="1" sz="1100">
                          <a:solidFill>
                            <a:srgbClr val="FFFFFF"/>
                          </a:solidFill>
                        </a:rPr>
                        <a:t>Shadow deployment</a:t>
                      </a:r>
                    </a:p>
                  </a:txBody>
                  <a:tcPr>
                    <a:solidFill>
                      <a:srgbClr val="1F2D3D"/>
                    </a:solidFill>
                  </a:tcPr>
                </a:tc>
                <a:tc>
                  <a:txBody>
                    <a:bodyPr/>
                    <a:lstStyle/>
                    <a:p>
                      <a:r>
                        <a:rPr b="1" sz="1100">
                          <a:solidFill>
                            <a:srgbClr val="FFFFFF"/>
                          </a:solidFill>
                        </a:rPr>
                        <a:t>Canary release</a:t>
                      </a:r>
                    </a:p>
                  </a:txBody>
                  <a:tcPr>
                    <a:solidFill>
                      <a:srgbClr val="1F2D3D"/>
                    </a:solidFill>
                  </a:tcPr>
                </a:tc>
                <a:tc>
                  <a:txBody>
                    <a:bodyPr/>
                    <a:lstStyle/>
                    <a:p>
                      <a:r>
                        <a:rPr b="1" sz="1100">
                          <a:solidFill>
                            <a:srgbClr val="FFFFFF"/>
                          </a:solidFill>
                        </a:rPr>
                        <a:t>Full cutover</a:t>
                      </a:r>
                    </a:p>
                  </a:txBody>
                  <a:tcPr>
                    <a:solidFill>
                      <a:srgbClr val="1F2D3D"/>
                    </a:solidFill>
                  </a:tcPr>
                </a:tc>
              </a:tr>
              <a:tr h="1005840">
                <a:tc>
                  <a:txBody>
                    <a:bodyPr/>
                    <a:lstStyle/>
                    <a:p>
                      <a:r>
                        <a:rPr sz="1000">
                          <a:solidFill>
                            <a:srgbClr val="1F2D3D"/>
                          </a:solidFill>
                        </a:rPr>
                        <a:t>What real users see</a:t>
                      </a:r>
                    </a:p>
                  </a:txBody>
                  <a:tcPr>
                    <a:solidFill>
                      <a:srgbClr val="FFFFFF"/>
                    </a:solidFill>
                  </a:tcPr>
                </a:tc>
                <a:tc>
                  <a:txBody>
                    <a:bodyPr/>
                    <a:lstStyle/>
                    <a:p>
                      <a:r>
                        <a:rPr sz="1000">
                          <a:solidFill>
                            <a:srgbClr val="1F2D3D"/>
                          </a:solidFill>
                        </a:rPr>
                        <a:t>Nothing; outputs are logged only</a:t>
                      </a:r>
                    </a:p>
                  </a:txBody>
                  <a:tcPr>
                    <a:solidFill>
                      <a:srgbClr val="FFFFFF"/>
                    </a:solidFill>
                  </a:tcPr>
                </a:tc>
                <a:tc>
                  <a:txBody>
                    <a:bodyPr/>
                    <a:lstStyle/>
                    <a:p>
                      <a:r>
                        <a:rPr sz="1000">
                          <a:solidFill>
                            <a:srgbClr val="1F2D3D"/>
                          </a:solidFill>
                        </a:rPr>
                        <a:t>A small, then growing, share of requests</a:t>
                      </a:r>
                    </a:p>
                  </a:txBody>
                  <a:tcPr>
                    <a:solidFill>
                      <a:srgbClr val="FFFFFF"/>
                    </a:solidFill>
                  </a:tcPr>
                </a:tc>
                <a:tc>
                  <a:txBody>
                    <a:bodyPr/>
                    <a:lstStyle/>
                    <a:p>
                      <a:r>
                        <a:rPr sz="1000">
                          <a:solidFill>
                            <a:srgbClr val="1F2D3D"/>
                          </a:solidFill>
                        </a:rPr>
                        <a:t>Every request, immediately</a:t>
                      </a:r>
                    </a:p>
                  </a:txBody>
                  <a:tcPr>
                    <a:solidFill>
                      <a:srgbClr val="FFFFFF"/>
                    </a:solidFill>
                  </a:tcPr>
                </a:tc>
              </a:tr>
              <a:tr h="1005840">
                <a:tc>
                  <a:txBody>
                    <a:bodyPr/>
                    <a:lstStyle/>
                    <a:p>
                      <a:r>
                        <a:rPr sz="1000">
                          <a:solidFill>
                            <a:srgbClr val="1F2D3D"/>
                          </a:solidFill>
                        </a:rPr>
                        <a:t>Risk if there's a hidden regression</a:t>
                      </a:r>
                    </a:p>
                  </a:txBody>
                  <a:tcPr>
                    <a:solidFill>
                      <a:srgbClr val="EDE4D3"/>
                    </a:solidFill>
                  </a:tcPr>
                </a:tc>
                <a:tc>
                  <a:txBody>
                    <a:bodyPr/>
                    <a:lstStyle/>
                    <a:p>
                      <a:r>
                        <a:rPr sz="1000">
                          <a:solidFill>
                            <a:srgbClr val="1F2D3D"/>
                          </a:solidFill>
                        </a:rPr>
                        <a:t>None; the shadow never serves a response</a:t>
                      </a:r>
                    </a:p>
                  </a:txBody>
                  <a:tcPr>
                    <a:solidFill>
                      <a:srgbClr val="EDE4D3"/>
                    </a:solidFill>
                  </a:tcPr>
                </a:tc>
                <a:tc>
                  <a:txBody>
                    <a:bodyPr/>
                    <a:lstStyle/>
                    <a:p>
                      <a:r>
                        <a:rPr sz="1000">
                          <a:solidFill>
                            <a:srgbClr val="1F2D3D"/>
                          </a:solidFill>
                        </a:rPr>
                        <a:t>Limited to the canary share, fast rollback</a:t>
                      </a:r>
                    </a:p>
                  </a:txBody>
                  <a:tcPr>
                    <a:solidFill>
                      <a:srgbClr val="EDE4D3"/>
                    </a:solidFill>
                  </a:tcPr>
                </a:tc>
                <a:tc>
                  <a:txBody>
                    <a:bodyPr/>
                    <a:lstStyle/>
                    <a:p>
                      <a:r>
                        <a:rPr sz="1000">
                          <a:solidFill>
                            <a:srgbClr val="1F2D3D"/>
                          </a:solidFill>
                        </a:rPr>
                        <a:t>Full-blown; everyone affected at once</a:t>
                      </a:r>
                    </a:p>
                  </a:txBody>
                  <a:tcPr>
                    <a:solidFill>
                      <a:srgbClr val="EDE4D3"/>
                    </a:solidFill>
                  </a:tcPr>
                </a:tc>
              </a:tr>
              <a:tr h="1005840">
                <a:tc>
                  <a:txBody>
                    <a:bodyPr/>
                    <a:lstStyle/>
                    <a:p>
                      <a:r>
                        <a:rPr sz="1000">
                          <a:solidFill>
                            <a:srgbClr val="1F2D3D"/>
                          </a:solidFill>
                        </a:rPr>
                        <a:t>What it actually validates</a:t>
                      </a:r>
                    </a:p>
                  </a:txBody>
                  <a:tcPr>
                    <a:solidFill>
                      <a:srgbClr val="FFFFFF"/>
                    </a:solidFill>
                  </a:tcPr>
                </a:tc>
                <a:tc>
                  <a:txBody>
                    <a:bodyPr/>
                    <a:lstStyle/>
                    <a:p>
                      <a:r>
                        <a:rPr sz="1000">
                          <a:solidFill>
                            <a:srgbClr val="1F2D3D"/>
                          </a:solidFill>
                        </a:rPr>
                        <a:t>Performance against real traffic patterns</a:t>
                      </a:r>
                    </a:p>
                  </a:txBody>
                  <a:tcPr>
                    <a:solidFill>
                      <a:srgbClr val="FFFFFF"/>
                    </a:solidFill>
                  </a:tcPr>
                </a:tc>
                <a:tc>
                  <a:txBody>
                    <a:bodyPr/>
                    <a:lstStyle/>
                    <a:p>
                      <a:r>
                        <a:rPr sz="1000">
                          <a:solidFill>
                            <a:srgbClr val="1F2D3D"/>
                          </a:solidFill>
                        </a:rPr>
                        <a:t>Performance under real user behavior at scale</a:t>
                      </a:r>
                    </a:p>
                  </a:txBody>
                  <a:tcPr>
                    <a:solidFill>
                      <a:srgbClr val="FFFFFF"/>
                    </a:solidFill>
                  </a:tcPr>
                </a:tc>
                <a:tc>
                  <a:txBody>
                    <a:bodyPr/>
                    <a:lstStyle/>
                    <a:p>
                      <a:r>
                        <a:rPr sz="1000">
                          <a:solidFill>
                            <a:srgbClr val="1F2D3D"/>
                          </a:solidFill>
                        </a:rPr>
                        <a:t>Nothing in advance</a:t>
                      </a:r>
                    </a:p>
                  </a:txBody>
                  <a:tcPr>
                    <a:solidFill>
                      <a:srgbClr val="FFFFFF"/>
                    </a:solidFill>
                  </a:tcPr>
                </a:tc>
              </a:tr>
              <a:tr h="1005840">
                <a:tc>
                  <a:txBody>
                    <a:bodyPr/>
                    <a:lstStyle/>
                    <a:p>
                      <a:r>
                        <a:rPr sz="1000">
                          <a:solidFill>
                            <a:srgbClr val="1F2D3D"/>
                          </a:solidFill>
                        </a:rPr>
                        <a:t>Typical use</a:t>
                      </a:r>
                    </a:p>
                  </a:txBody>
                  <a:tcPr>
                    <a:solidFill>
                      <a:srgbClr val="EDE4D3"/>
                    </a:solidFill>
                  </a:tcPr>
                </a:tc>
                <a:tc>
                  <a:txBody>
                    <a:bodyPr/>
                    <a:lstStyle/>
                    <a:p>
                      <a:r>
                        <a:rPr sz="1000">
                          <a:solidFill>
                            <a:srgbClr val="1F2D3D"/>
                          </a:solidFill>
                        </a:rPr>
                        <a:t>Right after Ch. 7.6's eval gate passes</a:t>
                      </a:r>
                    </a:p>
                  </a:txBody>
                  <a:tcPr>
                    <a:solidFill>
                      <a:srgbClr val="EDE4D3"/>
                    </a:solidFill>
                  </a:tcPr>
                </a:tc>
                <a:tc>
                  <a:txBody>
                    <a:bodyPr/>
                    <a:lstStyle/>
                    <a:p>
                      <a:r>
                        <a:rPr sz="1000">
                          <a:solidFill>
                            <a:srgbClr val="1F2D3D"/>
                          </a:solidFill>
                        </a:rPr>
                        <a:t>After a shadow run looks healthy</a:t>
                      </a:r>
                    </a:p>
                  </a:txBody>
                  <a:tcPr>
                    <a:solidFill>
                      <a:srgbClr val="EDE4D3"/>
                    </a:solidFill>
                  </a:tcPr>
                </a:tc>
                <a:tc>
                  <a:txBody>
                    <a:bodyPr/>
                    <a:lstStyle/>
                    <a:p>
                      <a:r>
                        <a:rPr sz="1000">
                          <a:solidFill>
                            <a:srgbClr val="1F2D3D"/>
                          </a:solidFill>
                        </a:rPr>
                        <a:t>Rarely a fine-tune</a:t>
                      </a:r>
                    </a:p>
                  </a:txBody>
                  <a:tcPr>
                    <a:solidFill>
                      <a:srgbClr val="EDE4D3"/>
                    </a:solidFill>
                  </a:tcPr>
                </a:tc>
              </a:tr>
            </a:tbl>
          </a:graphicData>
        </a:graphic>
      </p:graphicFrame>
      <p:sp>
        <p:nvSpPr>
          <p:cNvPr id="6" name="TextBox 5"/>
          <p:cNvSpPr txBox="1"/>
          <p:nvPr/>
        </p:nvSpPr>
        <p:spPr>
          <a:xfrm>
            <a:off x="548640" y="6263640"/>
            <a:ext cx="11064240" cy="457200"/>
          </a:xfrm>
          <a:prstGeom prst="rect">
            <a:avLst/>
          </a:prstGeom>
          <a:noFill/>
        </p:spPr>
        <p:txBody>
          <a:bodyPr wrap="square">
            <a:spAutoFit/>
          </a:bodyPr>
          <a:lstStyle/>
          <a:p>
            <a:r>
              <a:rPr sz="1100" i="1">
                <a:solidFill>
                  <a:srgbClr val="6B7280"/>
                </a:solidFill>
              </a:rPr>
              <a:t>Shadow and canary exist because Chapter 7.6's evaluation gate is still an offline proxy for real traffic.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1064240" cy="320040"/>
          </a:xfrm>
          <a:prstGeom prst="rect">
            <a:avLst/>
          </a:prstGeom>
          <a:noFill/>
        </p:spPr>
        <p:txBody>
          <a:bodyPr wrap="none">
            <a:spAutoFit/>
          </a:bodyPr>
          <a:lstStyle/>
          <a:p>
            <a:r>
              <a:rPr sz="1300" b="1">
                <a:solidFill>
                  <a:srgbClr val="5B8FC9"/>
                </a:solidFill>
              </a:rPr>
              <a:t>REFERENCE ARCHITECTURE</a:t>
            </a:r>
          </a:p>
        </p:txBody>
      </p:sp>
      <p:sp>
        <p:nvSpPr>
          <p:cNvPr id="4" name="TextBox 3"/>
          <p:cNvSpPr txBox="1"/>
          <p:nvPr/>
        </p:nvSpPr>
        <p:spPr>
          <a:xfrm>
            <a:off x="548640" y="320040"/>
            <a:ext cx="11064240" cy="822960"/>
          </a:xfrm>
          <a:prstGeom prst="rect">
            <a:avLst/>
          </a:prstGeom>
          <a:noFill/>
        </p:spPr>
        <p:txBody>
          <a:bodyPr wrap="square">
            <a:spAutoFit/>
          </a:bodyPr>
          <a:lstStyle/>
          <a:p>
            <a:r>
              <a:rPr sz="2500" b="1">
                <a:solidFill>
                  <a:srgbClr val="1F2D3D"/>
                </a:solidFill>
              </a:rPr>
              <a:t>Where serving architecture and safe rollout fit for a custom model</a:t>
            </a:r>
          </a:p>
        </p:txBody>
      </p:sp>
      <p:pic>
        <p:nvPicPr>
          <p:cNvPr id="5" name="Picture 4" descr="7-7-refarch.png"/>
          <p:cNvPicPr>
            <a:picLocks noChangeAspect="1"/>
          </p:cNvPicPr>
          <p:nvPr/>
        </p:nvPicPr>
        <p:blipFill>
          <a:blip r:embed="rId2"/>
          <a:stretch>
            <a:fillRect/>
          </a:stretch>
        </p:blipFill>
        <p:spPr>
          <a:xfrm>
            <a:off x="4927146" y="1188720"/>
            <a:ext cx="2337402" cy="4846320"/>
          </a:xfrm>
          <a:prstGeom prst="rect">
            <a:avLst/>
          </a:prstGeom>
        </p:spPr>
      </p:pic>
      <p:sp>
        <p:nvSpPr>
          <p:cNvPr id="6" name="TextBox 5"/>
          <p:cNvSpPr txBox="1"/>
          <p:nvPr/>
        </p:nvSpPr>
        <p:spPr>
          <a:xfrm>
            <a:off x="548640" y="6309360"/>
            <a:ext cx="11064240" cy="457200"/>
          </a:xfrm>
          <a:prstGeom prst="rect">
            <a:avLst/>
          </a:prstGeom>
          <a:noFill/>
        </p:spPr>
        <p:txBody>
          <a:bodyPr wrap="square">
            <a:spAutoFit/>
          </a:bodyPr>
          <a:lstStyle/>
          <a:p>
            <a:r>
              <a:rPr sz="1200" i="1">
                <a:solidFill>
                  <a:srgbClr val="6B7280"/>
                </a:solidFill>
              </a:rPr>
              <a:t>A model registry tracks the current champion, so rollback always has an exact version to revert 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1064240" cy="320040"/>
          </a:xfrm>
          <a:prstGeom prst="rect">
            <a:avLst/>
          </a:prstGeom>
          <a:noFill/>
        </p:spPr>
        <p:txBody>
          <a:bodyPr wrap="none">
            <a:spAutoFit/>
          </a:bodyPr>
          <a:lstStyle/>
          <a:p>
            <a:r>
              <a:rPr sz="1300" b="1">
                <a:solidFill>
                  <a:srgbClr val="5B8FC9"/>
                </a:solidFill>
              </a:rPr>
              <a:t>CHECK YOUR UNDERSTANDING</a:t>
            </a:r>
          </a:p>
        </p:txBody>
      </p:sp>
      <p:sp>
        <p:nvSpPr>
          <p:cNvPr id="4" name="TextBox 3"/>
          <p:cNvSpPr txBox="1"/>
          <p:nvPr/>
        </p:nvSpPr>
        <p:spPr>
          <a:xfrm>
            <a:off x="548640" y="320040"/>
            <a:ext cx="11064240" cy="822960"/>
          </a:xfrm>
          <a:prstGeom prst="rect">
            <a:avLst/>
          </a:prstGeom>
          <a:noFill/>
        </p:spPr>
        <p:txBody>
          <a:bodyPr wrap="square">
            <a:spAutoFit/>
          </a:bodyPr>
          <a:lstStyle/>
          <a:p>
            <a:r>
              <a:rPr sz="2500" b="1">
                <a:solidFill>
                  <a:srgbClr val="1F2D3D"/>
                </a:solidFill>
              </a:rPr>
              <a:t>Discuss before moving on</a:t>
            </a:r>
          </a:p>
        </p:txBody>
      </p:sp>
      <p:sp>
        <p:nvSpPr>
          <p:cNvPr id="5" name="TextBox 4"/>
          <p:cNvSpPr txBox="1"/>
          <p:nvPr/>
        </p:nvSpPr>
        <p:spPr>
          <a:xfrm>
            <a:off x="640080" y="1280160"/>
            <a:ext cx="10881360" cy="5120640"/>
          </a:xfrm>
          <a:prstGeom prst="rect">
            <a:avLst/>
          </a:prstGeom>
          <a:noFill/>
        </p:spPr>
        <p:txBody>
          <a:bodyPr wrap="square">
            <a:spAutoFit/>
          </a:bodyPr>
          <a:lstStyle/>
          <a:p>
            <a:pPr>
              <a:spcAft>
                <a:spcPts val="1400"/>
              </a:spcAft>
            </a:pPr>
            <a:r>
              <a:rPr sz="1500">
                <a:solidFill>
                  <a:srgbClr val="1F2D3D"/>
                </a:solidFill>
              </a:rPr>
              <a:t>•  1. Why might a team with one fine-tuned model merge its adapter, and why does that stop making sense at scale?</a:t>
            </a:r>
          </a:p>
          <a:p>
            <a:pPr>
              <a:spcAft>
                <a:spcPts val="1400"/>
              </a:spcAft>
            </a:pPr>
            <a:r>
              <a:rPr sz="1500">
                <a:solidFill>
                  <a:srgbClr val="1F2D3D"/>
                </a:solidFill>
              </a:rPr>
              <a:t>•  2. What does Zinkevich recommend for train-serve consistency, and what LLM-specific failure does it prevent?</a:t>
            </a:r>
          </a:p>
          <a:p>
            <a:pPr>
              <a:spcAft>
                <a:spcPts val="1400"/>
              </a:spcAft>
            </a:pPr>
            <a:r>
              <a:rPr sz="1500">
                <a:solidFill>
                  <a:srgbClr val="1F2D3D"/>
                </a:solidFill>
              </a:rPr>
              <a:t>•  3. What's the difference between a shadow deployment and a canary release, and why use both?</a:t>
            </a:r>
          </a:p>
          <a:p>
            <a:pPr>
              <a:spcAft>
                <a:spcPts val="1400"/>
              </a:spcAft>
            </a:pPr>
            <a:r>
              <a:rPr sz="1500">
                <a:solidFill>
                  <a:srgbClr val="1F2D3D"/>
                </a:solidFill>
              </a:rPr>
              <a:t>•  4. What does Fowler describe as the rollback strategy, and what has to be true for it to actually be fast?</a:t>
            </a:r>
          </a:p>
          <a:p>
            <a:pPr>
              <a:spcAft>
                <a:spcPts val="1400"/>
              </a:spcAft>
            </a:pPr>
            <a:r>
              <a:rPr sz="1500">
                <a:solidFill>
                  <a:srgbClr val="1F2D3D"/>
                </a:solidFill>
              </a:rPr>
              <a:t>•  5. In the Hands-On simulator, what triggers a rollback, and how does that differ from Ch. 7.6's evaluation gate alone?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