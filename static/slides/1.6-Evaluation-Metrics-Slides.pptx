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A dataset is 99% negative and 1% positive. Why can a model with 99% accuracy still be useless, and what would you check instead?
A1: A model that predicts the negative class for every example matches the 99% base rate without ever identifying a true positive. Checking the confusion matrix, specifically recall on the positive class, would show it catches zero actual positives.
Q2: What is the fundamental tradeoff between precision and recall, and what does F1 do about it?
A2: Precision and recall are computed over different denominators, predicted positives versus actual positives, so a model can trivially maximize one at the expense of the other. F1, the harmonic mean, stays low unless both are reasonably high, so it cannot be gamed by pushing just one up.
Q3: What does an AUC of 0.5 versus 0.9 actually mean, in terms of the model's predictions?
A3: AUC is the probability that a randomly chosen actual positive receives a higher score than a randomly chosen actual negative. 0.5 means no better than chance; 0.9 means a random positive outranks a random negative 90% of the time.
Q4: Two regression models are compared, and one has lower MAE while the other has lower RMSE. What does that disagreement tell you?
A4: RMSE squares each residual before averaging, so it penalizes large errors far more heavily than MAE. A model with mostly small errors and one large outlier can have lower MAE but higher RMSE than one with consistently moderate errors, pointing to a difference in error distribution.
Q5: A hospital is choosing an evaluation metric for a rare-disease screening test. Walk through the reasoning for which metric to prioritize.
A5: Accuracy is uninformative given the rarity of the disease. Missing a true case is typically costlier than a false alarm that triggers a routine follow-up, arguing for recall. Because the positive class is rare, a precision-recall curve, not ROC, should compare candidate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pic>
        <p:nvPicPr>
          <p:cNvPr id="2" name="Image 0" descr="/tmp/deck6/png/d0-title-motif.png">    </p:cNvPr>
          <p:cNvPicPr>
            <a:picLocks noChangeAspect="1"/>
          </p:cNvPicPr>
          <p:nvPr/>
        </p:nvPicPr>
        <p:blipFill>
          <a:blip r:embed="rId1">
            <a:alphaModFix amt="95000"/>
          </a:blip>
          <a:stretch>
            <a:fillRect/>
          </a:stretch>
        </p:blipFill>
        <p:spPr>
          <a:xfrm>
            <a:off x="6949440" y="548640"/>
            <a:ext cx="5760720" cy="5760720"/>
          </a:xfrm>
          <a:prstGeom prst="rect">
            <a:avLst/>
          </a:prstGeom>
        </p:spPr>
      </p:pic>
      <p:sp>
        <p:nvSpPr>
          <p:cNvPr id="3" name="Text 0"/>
          <p:cNvSpPr/>
          <p:nvPr/>
        </p:nvSpPr>
        <p:spPr>
          <a:xfrm>
            <a:off x="640080" y="640080"/>
            <a:ext cx="8229600" cy="32004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REGAITRAINING  ·  PHASE 1 -- AI &amp; MACHINE LEARNING FOUNDATIONS</a:t>
            </a:r>
            <a:endParaRPr lang="en-US" sz="1200" dirty="0"/>
          </a:p>
        </p:txBody>
      </p:sp>
      <p:sp>
        <p:nvSpPr>
          <p:cNvPr id="4" name="Shape 1"/>
          <p:cNvSpPr/>
          <p:nvPr/>
        </p:nvSpPr>
        <p:spPr>
          <a:xfrm>
            <a:off x="640080" y="1234440"/>
            <a:ext cx="1417320" cy="384048"/>
          </a:xfrm>
          <a:prstGeom prst="roundRect">
            <a:avLst>
              <a:gd name="adj" fmla="val 19048"/>
            </a:avLst>
          </a:prstGeom>
          <a:solidFill>
            <a:srgbClr val="104281"/>
          </a:solidFill>
          <a:ln/>
        </p:spPr>
      </p:sp>
      <p:sp>
        <p:nvSpPr>
          <p:cNvPr id="5" name="Text 2"/>
          <p:cNvSpPr/>
          <p:nvPr/>
        </p:nvSpPr>
        <p:spPr>
          <a:xfrm>
            <a:off x="640080" y="12344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CHAPTER 1.6</a:t>
            </a:r>
            <a:endParaRPr lang="en-US" sz="1200" dirty="0"/>
          </a:p>
        </p:txBody>
      </p:sp>
      <p:sp>
        <p:nvSpPr>
          <p:cNvPr id="6" name="Text 3"/>
          <p:cNvSpPr/>
          <p:nvPr/>
        </p:nvSpPr>
        <p:spPr>
          <a:xfrm>
            <a:off x="594360" y="1920240"/>
            <a:ext cx="9601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Evaluation Metrics</a:t>
            </a:r>
            <a:endParaRPr lang="en-US" sz="4400" dirty="0"/>
          </a:p>
        </p:txBody>
      </p:sp>
      <p:sp>
        <p:nvSpPr>
          <p:cNvPr id="7" name="Text 4"/>
          <p:cNvSpPr/>
          <p:nvPr/>
        </p:nvSpPr>
        <p:spPr>
          <a:xfrm>
            <a:off x="640080" y="2880360"/>
            <a:ext cx="8138160" cy="822960"/>
          </a:xfrm>
          <a:prstGeom prst="rect">
            <a:avLst/>
          </a:prstGeom>
          <a:noFill/>
          <a:ln/>
        </p:spPr>
        <p:txBody>
          <a:bodyPr wrap="square" lIns="0" tIns="0" rIns="0" bIns="0" rtlCol="0" anchor="ctr"/>
          <a:lstStyle/>
          <a:p>
            <a:pPr indent="0" marL="0">
              <a:lnSpc>
                <a:spcPts val="2400"/>
              </a:lnSpc>
              <a:buNone/>
            </a:pPr>
            <a:r>
              <a:rPr lang="en-US" sz="2000" dirty="0">
                <a:solidFill>
                  <a:srgbClr val="CDE2FB"/>
                </a:solidFill>
                <a:latin typeface="Calibri" pitchFamily="34" charset="0"/>
                <a:ea typeface="Calibri" pitchFamily="34" charset="-122"/>
                <a:cs typeface="Calibri" pitchFamily="34" charset="-120"/>
              </a:rPr>
              <a:t>Accuracy, Precision/Recall, F1, ROC-AUC, and RMSE</a:t>
            </a:r>
            <a:endParaRPr lang="en-US" sz="2000" dirty="0"/>
          </a:p>
        </p:txBody>
      </p:sp>
      <p:sp>
        <p:nvSpPr>
          <p:cNvPr id="8" name="Text 5"/>
          <p:cNvSpPr/>
          <p:nvPr/>
        </p:nvSpPr>
        <p:spPr>
          <a:xfrm>
            <a:off x="640080" y="3931920"/>
            <a:ext cx="6766560" cy="822960"/>
          </a:xfrm>
          <a:prstGeom prst="rect">
            <a:avLst/>
          </a:prstGeom>
          <a:noFill/>
          <a:ln/>
        </p:spPr>
        <p:txBody>
          <a:bodyPr wrap="square" lIns="0" tIns="0" rIns="0" bIns="0" rtlCol="0" anchor="ctr"/>
          <a:lstStyle/>
          <a:p>
            <a:pPr indent="0" marL="0">
              <a:lnSpc>
                <a:spcPts val="2000"/>
              </a:lnSpc>
              <a:buNone/>
            </a:pPr>
            <a:r>
              <a:rPr lang="en-US" sz="1400" dirty="0">
                <a:solidFill>
                  <a:srgbClr val="C3C2B7"/>
                </a:solidFill>
                <a:latin typeface="Calibri" pitchFamily="34" charset="0"/>
                <a:ea typeface="Calibri" pitchFamily="34" charset="-122"/>
                <a:cs typeface="Calibri" pitchFamily="34" charset="-120"/>
              </a:rPr>
              <a:t>A teaching-slide walkthrough of the chapter: what a confusion matrix hides, why precision and recall trade off, and what ROC-AUC and RMSE actually measure.</a:t>
            </a:r>
            <a:endParaRPr lang="en-US" sz="1400" dirty="0"/>
          </a:p>
        </p:txBody>
      </p:sp>
      <p:sp>
        <p:nvSpPr>
          <p:cNvPr id="9" name="Text 6"/>
          <p:cNvSpPr/>
          <p:nvPr/>
        </p:nvSpPr>
        <p:spPr>
          <a:xfrm>
            <a:off x="640080" y="6263640"/>
            <a:ext cx="82296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Instructor deck  ·  15 slides  ·  based on docs/01-ai-ml-foundations/1-6-evaluation-metrics.mdx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508760"/>
            <a:ext cx="502920" cy="502920"/>
          </a:xfrm>
          <a:prstGeom prst="ellipse">
            <a:avLst/>
          </a:prstGeom>
          <a:solidFill>
            <a:srgbClr val="104281"/>
          </a:solidFill>
          <a:ln/>
        </p:spPr>
      </p:sp>
      <p:sp>
        <p:nvSpPr>
          <p:cNvPr id="5" name="Text 3"/>
          <p:cNvSpPr/>
          <p:nvPr/>
        </p:nvSpPr>
        <p:spPr>
          <a:xfrm>
            <a:off x="45720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1556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The confusion matrix</a:t>
            </a:r>
            <a:endParaRPr lang="en-US" sz="1550" dirty="0"/>
          </a:p>
        </p:txBody>
      </p:sp>
      <p:sp>
        <p:nvSpPr>
          <p:cNvPr id="7" name="Text 5"/>
          <p:cNvSpPr/>
          <p:nvPr/>
        </p:nvSpPr>
        <p:spPr>
          <a:xfrm>
            <a:off x="111556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Where every metric in this chapter comes from</a:t>
            </a:r>
            <a:endParaRPr lang="en-US" sz="1250" dirty="0"/>
          </a:p>
        </p:txBody>
      </p:sp>
      <p:sp>
        <p:nvSpPr>
          <p:cNvPr id="8" name="Shape 6"/>
          <p:cNvSpPr/>
          <p:nvPr/>
        </p:nvSpPr>
        <p:spPr>
          <a:xfrm>
            <a:off x="457200" y="2679192"/>
            <a:ext cx="502920" cy="502920"/>
          </a:xfrm>
          <a:prstGeom prst="ellipse">
            <a:avLst/>
          </a:prstGeom>
          <a:solidFill>
            <a:srgbClr val="104281"/>
          </a:solidFill>
          <a:ln/>
        </p:spPr>
      </p:sp>
      <p:sp>
        <p:nvSpPr>
          <p:cNvPr id="9" name="Text 7"/>
          <p:cNvSpPr/>
          <p:nvPr/>
        </p:nvSpPr>
        <p:spPr>
          <a:xfrm>
            <a:off x="45720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1556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ROC-AUC</a:t>
            </a:r>
            <a:endParaRPr lang="en-US" sz="1550" dirty="0"/>
          </a:p>
        </p:txBody>
      </p:sp>
      <p:sp>
        <p:nvSpPr>
          <p:cNvPr id="11" name="Text 9"/>
          <p:cNvSpPr/>
          <p:nvPr/>
        </p:nvSpPr>
        <p:spPr>
          <a:xfrm>
            <a:off x="111556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Ranking quality summarized across every threshold</a:t>
            </a:r>
            <a:endParaRPr lang="en-US" sz="1250" dirty="0"/>
          </a:p>
        </p:txBody>
      </p:sp>
      <p:sp>
        <p:nvSpPr>
          <p:cNvPr id="12" name="Shape 10"/>
          <p:cNvSpPr/>
          <p:nvPr/>
        </p:nvSpPr>
        <p:spPr>
          <a:xfrm>
            <a:off x="457200" y="3849624"/>
            <a:ext cx="502920" cy="502920"/>
          </a:xfrm>
          <a:prstGeom prst="ellipse">
            <a:avLst/>
          </a:prstGeom>
          <a:solidFill>
            <a:srgbClr val="104281"/>
          </a:solidFill>
          <a:ln/>
        </p:spPr>
      </p:sp>
      <p:sp>
        <p:nvSpPr>
          <p:cNvPr id="13" name="Text 11"/>
          <p:cNvSpPr/>
          <p:nvPr/>
        </p:nvSpPr>
        <p:spPr>
          <a:xfrm>
            <a:off x="45720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1556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Precision vs. recall</a:t>
            </a:r>
            <a:endParaRPr lang="en-US" sz="1550" dirty="0"/>
          </a:p>
        </p:txBody>
      </p:sp>
      <p:sp>
        <p:nvSpPr>
          <p:cNvPr id="15" name="Text 13"/>
          <p:cNvSpPr/>
          <p:nvPr/>
        </p:nvSpPr>
        <p:spPr>
          <a:xfrm>
            <a:off x="111556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Why they trade off, and what F1 does about it</a:t>
            </a:r>
            <a:endParaRPr lang="en-US" sz="1250" dirty="0"/>
          </a:p>
        </p:txBody>
      </p:sp>
      <p:sp>
        <p:nvSpPr>
          <p:cNvPr id="16" name="Shape 14"/>
          <p:cNvSpPr/>
          <p:nvPr/>
        </p:nvSpPr>
        <p:spPr>
          <a:xfrm>
            <a:off x="457200" y="5020056"/>
            <a:ext cx="502920" cy="502920"/>
          </a:xfrm>
          <a:prstGeom prst="ellipse">
            <a:avLst/>
          </a:prstGeom>
          <a:solidFill>
            <a:srgbClr val="104281"/>
          </a:solidFill>
          <a:ln/>
        </p:spPr>
      </p:sp>
      <p:sp>
        <p:nvSpPr>
          <p:cNvPr id="17" name="Text 15"/>
          <p:cNvSpPr/>
          <p:nvPr/>
        </p:nvSpPr>
        <p:spPr>
          <a:xfrm>
            <a:off x="457200" y="50200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115568" y="4965192"/>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RMSE vs. MAE</a:t>
            </a:r>
            <a:endParaRPr lang="en-US" sz="1550" dirty="0"/>
          </a:p>
        </p:txBody>
      </p:sp>
      <p:sp>
        <p:nvSpPr>
          <p:cNvPr id="19" name="Text 17"/>
          <p:cNvSpPr/>
          <p:nvPr/>
        </p:nvSpPr>
        <p:spPr>
          <a:xfrm>
            <a:off x="1115568" y="5312664"/>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Two different verdicts on the same regression errors</a:t>
            </a:r>
            <a:endParaRPr lang="en-US" sz="1250" dirty="0"/>
          </a:p>
        </p:txBody>
      </p:sp>
      <p:sp>
        <p:nvSpPr>
          <p:cNvPr id="20" name="Shape 18"/>
          <p:cNvSpPr/>
          <p:nvPr/>
        </p:nvSpPr>
        <p:spPr>
          <a:xfrm>
            <a:off x="6355080" y="1508760"/>
            <a:ext cx="502920" cy="502920"/>
          </a:xfrm>
          <a:prstGeom prst="ellipse">
            <a:avLst/>
          </a:prstGeom>
          <a:solidFill>
            <a:srgbClr val="104281"/>
          </a:solidFill>
          <a:ln/>
        </p:spPr>
      </p:sp>
      <p:sp>
        <p:nvSpPr>
          <p:cNvPr id="21" name="Text 19"/>
          <p:cNvSpPr/>
          <p:nvPr/>
        </p:nvSpPr>
        <p:spPr>
          <a:xfrm>
            <a:off x="635508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701344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A deployment pipeline</a:t>
            </a:r>
            <a:endParaRPr lang="en-US" sz="1550" dirty="0"/>
          </a:p>
        </p:txBody>
      </p:sp>
      <p:sp>
        <p:nvSpPr>
          <p:cNvPr id="23" name="Text 21"/>
          <p:cNvSpPr/>
          <p:nvPr/>
        </p:nvSpPr>
        <p:spPr>
          <a:xfrm>
            <a:off x="701344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From raw scores to a chosen operating threshold</a:t>
            </a:r>
            <a:endParaRPr lang="en-US" sz="1250" dirty="0"/>
          </a:p>
        </p:txBody>
      </p:sp>
      <p:sp>
        <p:nvSpPr>
          <p:cNvPr id="24" name="Shape 22"/>
          <p:cNvSpPr/>
          <p:nvPr/>
        </p:nvSpPr>
        <p:spPr>
          <a:xfrm>
            <a:off x="6355080" y="2679192"/>
            <a:ext cx="502920" cy="502920"/>
          </a:xfrm>
          <a:prstGeom prst="ellipse">
            <a:avLst/>
          </a:prstGeom>
          <a:solidFill>
            <a:srgbClr val="104281"/>
          </a:solidFill>
          <a:ln/>
        </p:spPr>
      </p:sp>
      <p:sp>
        <p:nvSpPr>
          <p:cNvPr id="25" name="Text 23"/>
          <p:cNvSpPr/>
          <p:nvPr/>
        </p:nvSpPr>
        <p:spPr>
          <a:xfrm>
            <a:off x="635508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701344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Comparison table</a:t>
            </a:r>
            <a:endParaRPr lang="en-US" sz="1550" dirty="0"/>
          </a:p>
        </p:txBody>
      </p:sp>
      <p:sp>
        <p:nvSpPr>
          <p:cNvPr id="27" name="Text 25"/>
          <p:cNvSpPr/>
          <p:nvPr/>
        </p:nvSpPr>
        <p:spPr>
          <a:xfrm>
            <a:off x="701344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What each metric is blind to</a:t>
            </a:r>
            <a:endParaRPr lang="en-US" sz="1250" dirty="0"/>
          </a:p>
        </p:txBody>
      </p:sp>
      <p:sp>
        <p:nvSpPr>
          <p:cNvPr id="28" name="Shape 26"/>
          <p:cNvSpPr/>
          <p:nvPr/>
        </p:nvSpPr>
        <p:spPr>
          <a:xfrm>
            <a:off x="6355080" y="3849624"/>
            <a:ext cx="502920" cy="502920"/>
          </a:xfrm>
          <a:prstGeom prst="ellipse">
            <a:avLst/>
          </a:prstGeom>
          <a:solidFill>
            <a:srgbClr val="104281"/>
          </a:solidFill>
          <a:ln/>
        </p:spPr>
      </p:sp>
      <p:sp>
        <p:nvSpPr>
          <p:cNvPr id="29" name="Text 27"/>
          <p:cNvSpPr/>
          <p:nvPr/>
        </p:nvSpPr>
        <p:spPr>
          <a:xfrm>
            <a:off x="635508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701344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Industry use cases</a:t>
            </a:r>
            <a:endParaRPr lang="en-US" sz="1550" dirty="0"/>
          </a:p>
        </p:txBody>
      </p:sp>
      <p:sp>
        <p:nvSpPr>
          <p:cNvPr id="31" name="Text 29"/>
          <p:cNvSpPr/>
          <p:nvPr/>
        </p:nvSpPr>
        <p:spPr>
          <a:xfrm>
            <a:off x="701344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Finance, Healthcare, and Telecom - 4 each</a:t>
            </a:r>
            <a:endParaRPr lang="en-US" sz="125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33" name="Text 3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TL;DR</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Performance Is Not One Number</a:t>
            </a:r>
            <a:endParaRPr lang="en-US" sz="3000" dirty="0"/>
          </a:p>
        </p:txBody>
      </p:sp>
      <p:sp>
        <p:nvSpPr>
          <p:cNvPr id="4" name="Shape 2"/>
          <p:cNvSpPr/>
          <p:nvPr/>
        </p:nvSpPr>
        <p:spPr>
          <a:xfrm>
            <a:off x="457200" y="1417320"/>
            <a:ext cx="11274552" cy="2103120"/>
          </a:xfrm>
          <a:prstGeom prst="roundRect">
            <a:avLst>
              <a:gd name="adj" fmla="val 5217"/>
            </a:avLst>
          </a:prstGeom>
          <a:solidFill>
            <a:srgbClr val="F9F9F7"/>
          </a:solidFill>
          <a:ln/>
        </p:spPr>
      </p:sp>
      <p:sp>
        <p:nvSpPr>
          <p:cNvPr id="5" name="Text 3"/>
          <p:cNvSpPr/>
          <p:nvPr/>
        </p:nvSpPr>
        <p:spPr>
          <a:xfrm>
            <a:off x="822960" y="1645920"/>
            <a:ext cx="10515600" cy="1005840"/>
          </a:xfrm>
          <a:prstGeom prst="rect">
            <a:avLst/>
          </a:prstGeom>
          <a:noFill/>
          <a:ln/>
        </p:spPr>
        <p:txBody>
          <a:bodyPr wrap="square" lIns="0" tIns="0" rIns="0" bIns="0" rtlCol="0" anchor="ctr"/>
          <a:lstStyle/>
          <a:p>
            <a:pPr indent="0" marL="0">
              <a:lnSpc>
                <a:spcPts val="2600"/>
              </a:lnSpc>
              <a:buNone/>
            </a:pPr>
            <a:r>
              <a:rPr lang="en-US" sz="2000" i="1" dirty="0">
                <a:solidFill>
                  <a:srgbClr val="104281"/>
                </a:solidFill>
                <a:latin typeface="Cambria" pitchFamily="34" charset="0"/>
                <a:ea typeface="Cambria" pitchFamily="34" charset="-122"/>
                <a:cs typeface="Cambria" pitchFamily="34" charset="-120"/>
              </a:rPr>
              <a:t>Accuracy is the most intuitive metric and the easiest to get badly wrong, because it falls apart on the imbalanced data that shows up constantly in fraud, disease screening, and churn.</a:t>
            </a:r>
            <a:endParaRPr lang="en-US" sz="2000" dirty="0"/>
          </a:p>
        </p:txBody>
      </p:sp>
      <p:sp>
        <p:nvSpPr>
          <p:cNvPr id="6" name="Text 4"/>
          <p:cNvSpPr/>
          <p:nvPr/>
        </p:nvSpPr>
        <p:spPr>
          <a:xfrm>
            <a:off x="822960" y="2743200"/>
            <a:ext cx="10515600" cy="640080"/>
          </a:xfrm>
          <a:prstGeom prst="rect">
            <a:avLst/>
          </a:prstGeom>
          <a:noFill/>
          <a:ln/>
        </p:spPr>
        <p:txBody>
          <a:bodyPr wrap="square" lIns="0" tIns="0" rIns="0" bIns="0" rtlCol="0" anchor="ctr"/>
          <a:lstStyle/>
          <a:p>
            <a:pPr indent="0" marL="0">
              <a:lnSpc>
                <a:spcPts val="2100"/>
              </a:lnSpc>
              <a:buNone/>
            </a:pPr>
            <a:r>
              <a:rPr lang="en-US" sz="1500" dirty="0">
                <a:solidFill>
                  <a:srgbClr val="52514E"/>
                </a:solidFill>
                <a:latin typeface="Calibri" pitchFamily="34" charset="0"/>
                <a:ea typeface="Calibri" pitchFamily="34" charset="-122"/>
                <a:cs typeface="Calibri" pitchFamily="34" charset="-120"/>
              </a:rPr>
              <a:t>Precision and recall separate two kinds of mistakes; F1 balances them. ROC-AUC summarizes ranking quality across every threshold. RMSE plays a similar role for regression.</a:t>
            </a:r>
            <a:endParaRPr lang="en-US" sz="1500" dirty="0"/>
          </a:p>
        </p:txBody>
      </p:sp>
      <p:sp>
        <p:nvSpPr>
          <p:cNvPr id="7" name="Text 5"/>
          <p:cNvSpPr/>
          <p:nvPr/>
        </p:nvSpPr>
        <p:spPr>
          <a:xfrm>
            <a:off x="457200" y="3840480"/>
            <a:ext cx="5486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THE PRACTICAL TAKEAWAY</a:t>
            </a:r>
            <a:endParaRPr lang="en-US" sz="1200" dirty="0"/>
          </a:p>
        </p:txBody>
      </p:sp>
      <p:sp>
        <p:nvSpPr>
          <p:cNvPr id="8" name="Text 6"/>
          <p:cNvSpPr/>
          <p:nvPr/>
        </p:nvSpPr>
        <p:spPr>
          <a:xfrm>
            <a:off x="457200" y="4160520"/>
            <a:ext cx="10972800" cy="1188720"/>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Choosing a metric is choosing what kind of error the business actually cares about most, not picking the number that looks best.</a:t>
            </a:r>
            <a:endParaRPr lang="en-US" sz="1500" dirty="0"/>
          </a:p>
        </p:txBody>
      </p:sp>
      <p:sp>
        <p:nvSpPr>
          <p:cNvPr id="9" name="Text 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10" name="Text 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HIGH-LEVEL</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The Confusion Matrix</a:t>
            </a:r>
            <a:endParaRPr lang="en-US" sz="3000" dirty="0"/>
          </a:p>
        </p:txBody>
      </p:sp>
      <p:pic>
        <p:nvPicPr>
          <p:cNvPr id="4" name="Image 0" descr="/tmp/deck6/png/d1-confusion-matrix.png">    </p:cNvPr>
          <p:cNvPicPr>
            <a:picLocks noChangeAspect="1"/>
          </p:cNvPicPr>
          <p:nvPr/>
        </p:nvPicPr>
        <p:blipFill>
          <a:blip r:embed="rId1"/>
          <a:stretch>
            <a:fillRect/>
          </a:stretch>
        </p:blipFill>
        <p:spPr>
          <a:xfrm>
            <a:off x="1339596" y="1280160"/>
            <a:ext cx="9509760" cy="491947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ROC-AUC: Ranking Across Every Threshold</a:t>
            </a:r>
            <a:endParaRPr lang="en-US" sz="3000" dirty="0"/>
          </a:p>
        </p:txBody>
      </p:sp>
      <p:pic>
        <p:nvPicPr>
          <p:cNvPr id="4" name="Image 0" descr="/tmp/deck6/png/d2-roc-curve.png">    </p:cNvPr>
          <p:cNvPicPr>
            <a:picLocks noChangeAspect="1"/>
          </p:cNvPicPr>
          <p:nvPr/>
        </p:nvPicPr>
        <p:blipFill>
          <a:blip r:embed="rId1"/>
          <a:stretch>
            <a:fillRect/>
          </a:stretch>
        </p:blipFill>
        <p:spPr>
          <a:xfrm>
            <a:off x="1065276" y="1280160"/>
            <a:ext cx="10058400" cy="432511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Precision and Recall Trade Off</a:t>
            </a:r>
            <a:endParaRPr lang="en-US" sz="3000" dirty="0"/>
          </a:p>
        </p:txBody>
      </p:sp>
      <p:pic>
        <p:nvPicPr>
          <p:cNvPr id="4" name="Image 0" descr="/tmp/deck6/png/d3-precision-recall-tradeoff.png">    </p:cNvPr>
          <p:cNvPicPr>
            <a:picLocks noChangeAspect="1"/>
          </p:cNvPicPr>
          <p:nvPr/>
        </p:nvPicPr>
        <p:blipFill>
          <a:blip r:embed="rId1"/>
          <a:stretch>
            <a:fillRect/>
          </a:stretch>
        </p:blipFill>
        <p:spPr>
          <a:xfrm>
            <a:off x="1065276" y="1280160"/>
            <a:ext cx="10058400" cy="432511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RMSE Penalizes Large Errors More Than MAE</a:t>
            </a:r>
            <a:endParaRPr lang="en-US" sz="3000" dirty="0"/>
          </a:p>
        </p:txBody>
      </p:sp>
      <p:pic>
        <p:nvPicPr>
          <p:cNvPr id="4" name="Image 0" descr="/tmp/deck6/png/d4-rmse-mae.png">    </p:cNvPr>
          <p:cNvPicPr>
            <a:picLocks noChangeAspect="1"/>
          </p:cNvPicPr>
          <p:nvPr/>
        </p:nvPicPr>
        <p:blipFill>
          <a:blip r:embed="rId1"/>
          <a:stretch>
            <a:fillRect/>
          </a:stretch>
        </p:blipFill>
        <p:spPr>
          <a:xfrm>
            <a:off x="1065276" y="1280160"/>
            <a:ext cx="10058400" cy="432511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REFERENCE ARCHITECTURE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From Predictions to a Deployment Decision</a:t>
            </a:r>
            <a:endParaRPr lang="en-US" sz="3000" dirty="0"/>
          </a:p>
        </p:txBody>
      </p:sp>
      <p:pic>
        <p:nvPicPr>
          <p:cNvPr id="4" name="Image 0" descr="/tmp/deck6/png/d5-reference-architecture.png">    </p:cNvPr>
          <p:cNvPicPr>
            <a:picLocks noChangeAspect="1"/>
          </p:cNvPicPr>
          <p:nvPr/>
        </p:nvPicPr>
        <p:blipFill>
          <a:blip r:embed="rId1"/>
          <a:stretch>
            <a:fillRect/>
          </a:stretch>
        </p:blipFill>
        <p:spPr>
          <a:xfrm>
            <a:off x="790956" y="1280160"/>
            <a:ext cx="10607040" cy="4078224"/>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COMPARISON &amp; RELATED CONCEPTS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Each Metric Hides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3291840"/>
        </p:xfrm>
        <a:graphic>
          <a:graphicData uri="http://schemas.openxmlformats.org/drawingml/2006/table">
            <a:tbl>
              <a:tblPr/>
              <a:tblGrid>
                <a:gridCol w="1947672"/>
                <a:gridCol w="2331720"/>
                <a:gridCol w="2331720"/>
                <a:gridCol w="2331720"/>
                <a:gridCol w="2331720"/>
              </a:tblGrid>
              <a:tr h="658368">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Precision / Recall</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F1</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ROC-AUC</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What it's blind to</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Class imbalance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Precision ignores misses; recall ignores false alarms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The specific error-cost tradeoff</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Performance at the deployed threshold</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Threshold-dependent</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No: summarizes across all thresholds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Best suited to</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Balanced classes, equal costs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One error type clearly costlier</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A single balanced number</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Comparing ranking before a threshold</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Reads as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Fraction correct overall</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Two separate ratios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One balanced ratio</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Probability of correct ranking</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5074920"/>
            <a:ext cx="11274552" cy="640080"/>
          </a:xfrm>
          <a:prstGeom prst="rect">
            <a:avLst/>
          </a:prstGeom>
          <a:noFill/>
          <a:ln/>
        </p:spPr>
        <p:txBody>
          <a:bodyPr wrap="square" lIns="0" tIns="0" rIns="0" bIns="0" rtlCol="0" anchor="ctr"/>
          <a:lstStyle/>
          <a:p>
            <a:pPr indent="0" marL="0">
              <a:lnSpc>
                <a:spcPts val="1800"/>
              </a:lnSpc>
              <a:buNone/>
            </a:pPr>
            <a:r>
              <a:rPr lang="en-US" sz="1300" i="1" dirty="0">
                <a:solidFill>
                  <a:srgbClr val="898781"/>
                </a:solidFill>
                <a:latin typeface="Calibri" pitchFamily="34" charset="0"/>
                <a:ea typeface="Calibri" pitchFamily="34" charset="-122"/>
                <a:cs typeface="Calibri" pitchFamily="34" charset="-120"/>
              </a:rPr>
              <a:t>No single metric is sufficient on its own; the decisive question is which failure mode a metric hides, not which one is "best."</a:t>
            </a:r>
            <a:endParaRPr lang="en-US" sz="1300" dirty="0"/>
          </a:p>
        </p:txBody>
      </p:sp>
      <p:sp>
        <p:nvSpPr>
          <p:cNvPr id="6" name="Text 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7" name="Text 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1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Finance</a:t>
            </a:r>
            <a:endParaRPr lang="en-US" sz="3000" dirty="0"/>
          </a:p>
        </p:txBody>
      </p:sp>
      <p:pic>
        <p:nvPicPr>
          <p:cNvPr id="4" name="Image 0" descr="/tmp/deck6/png/d6-usecases-financ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2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Healthcare</a:t>
            </a:r>
            <a:endParaRPr lang="en-US" sz="3000" dirty="0"/>
          </a:p>
        </p:txBody>
      </p:sp>
      <p:pic>
        <p:nvPicPr>
          <p:cNvPr id="4" name="Image 0" descr="/tmp/deck6/png/d7-usecases-healthcar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3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Telecom</a:t>
            </a:r>
            <a:endParaRPr lang="en-US" sz="3000" dirty="0"/>
          </a:p>
        </p:txBody>
      </p:sp>
      <p:pic>
        <p:nvPicPr>
          <p:cNvPr id="4" name="Image 0" descr="/tmp/deck6/png/d8-usecases-telecom.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DISCUSS AS A CLASS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Check Your Understanding</a:t>
            </a:r>
            <a:endParaRPr lang="en-US" sz="3000" dirty="0"/>
          </a:p>
        </p:txBody>
      </p:sp>
      <p:sp>
        <p:nvSpPr>
          <p:cNvPr id="4" name="Shape 2"/>
          <p:cNvSpPr/>
          <p:nvPr/>
        </p:nvSpPr>
        <p:spPr>
          <a:xfrm>
            <a:off x="457200" y="1508760"/>
            <a:ext cx="5486400" cy="1325880"/>
          </a:xfrm>
          <a:prstGeom prst="roundRect">
            <a:avLst>
              <a:gd name="adj" fmla="val 6897"/>
            </a:avLst>
          </a:prstGeom>
          <a:solidFill>
            <a:srgbClr val="F9F9F7"/>
          </a:solidFill>
          <a:ln w="12700">
            <a:solidFill>
              <a:srgbClr val="E1E0D9"/>
            </a:solidFill>
            <a:prstDash val="solid"/>
          </a:ln>
        </p:spPr>
      </p:sp>
      <p:sp>
        <p:nvSpPr>
          <p:cNvPr id="5" name="Shape 3"/>
          <p:cNvSpPr/>
          <p:nvPr/>
        </p:nvSpPr>
        <p:spPr>
          <a:xfrm>
            <a:off x="658368" y="1709928"/>
            <a:ext cx="384048" cy="384048"/>
          </a:xfrm>
          <a:prstGeom prst="ellipse">
            <a:avLst/>
          </a:prstGeom>
          <a:solidFill>
            <a:srgbClr val="2A78D6"/>
          </a:solidFill>
          <a:ln/>
        </p:spPr>
      </p:sp>
      <p:sp>
        <p:nvSpPr>
          <p:cNvPr id="6" name="Text 4"/>
          <p:cNvSpPr/>
          <p:nvPr/>
        </p:nvSpPr>
        <p:spPr>
          <a:xfrm>
            <a:off x="65836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1188720" y="161848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A dataset is 99% negative and 1% positive. Why can a model with 99% accuracy still be useless, and what would you check instead?</a:t>
            </a:r>
            <a:endParaRPr lang="en-US" sz="1100" dirty="0"/>
          </a:p>
        </p:txBody>
      </p:sp>
      <p:sp>
        <p:nvSpPr>
          <p:cNvPr id="8" name="Shape 6"/>
          <p:cNvSpPr/>
          <p:nvPr/>
        </p:nvSpPr>
        <p:spPr>
          <a:xfrm>
            <a:off x="6126480" y="1508760"/>
            <a:ext cx="5486400" cy="1325880"/>
          </a:xfrm>
          <a:prstGeom prst="roundRect">
            <a:avLst>
              <a:gd name="adj" fmla="val 6897"/>
            </a:avLst>
          </a:prstGeom>
          <a:solidFill>
            <a:srgbClr val="F9F9F7"/>
          </a:solidFill>
          <a:ln w="12700">
            <a:solidFill>
              <a:srgbClr val="E1E0D9"/>
            </a:solidFill>
            <a:prstDash val="solid"/>
          </a:ln>
        </p:spPr>
      </p:sp>
      <p:sp>
        <p:nvSpPr>
          <p:cNvPr id="9" name="Shape 7"/>
          <p:cNvSpPr/>
          <p:nvPr/>
        </p:nvSpPr>
        <p:spPr>
          <a:xfrm>
            <a:off x="6327648" y="1709928"/>
            <a:ext cx="384048" cy="384048"/>
          </a:xfrm>
          <a:prstGeom prst="ellipse">
            <a:avLst/>
          </a:prstGeom>
          <a:solidFill>
            <a:srgbClr val="2A78D6"/>
          </a:solidFill>
          <a:ln/>
        </p:spPr>
      </p:sp>
      <p:sp>
        <p:nvSpPr>
          <p:cNvPr id="10" name="Text 8"/>
          <p:cNvSpPr/>
          <p:nvPr/>
        </p:nvSpPr>
        <p:spPr>
          <a:xfrm>
            <a:off x="632764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p:nvPr/>
        </p:nvSpPr>
        <p:spPr>
          <a:xfrm>
            <a:off x="6858000" y="161848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What is the fundamental tradeoff between precision and recall, and what does F1 do about it?</a:t>
            </a:r>
            <a:endParaRPr lang="en-US" sz="1100" dirty="0"/>
          </a:p>
        </p:txBody>
      </p:sp>
      <p:sp>
        <p:nvSpPr>
          <p:cNvPr id="12" name="Shape 10"/>
          <p:cNvSpPr/>
          <p:nvPr/>
        </p:nvSpPr>
        <p:spPr>
          <a:xfrm>
            <a:off x="457200" y="2971800"/>
            <a:ext cx="5486400" cy="1325880"/>
          </a:xfrm>
          <a:prstGeom prst="roundRect">
            <a:avLst>
              <a:gd name="adj" fmla="val 6897"/>
            </a:avLst>
          </a:prstGeom>
          <a:solidFill>
            <a:srgbClr val="F9F9F7"/>
          </a:solidFill>
          <a:ln w="12700">
            <a:solidFill>
              <a:srgbClr val="E1E0D9"/>
            </a:solidFill>
            <a:prstDash val="solid"/>
          </a:ln>
        </p:spPr>
      </p:sp>
      <p:sp>
        <p:nvSpPr>
          <p:cNvPr id="13" name="Shape 11"/>
          <p:cNvSpPr/>
          <p:nvPr/>
        </p:nvSpPr>
        <p:spPr>
          <a:xfrm>
            <a:off x="658368" y="3172968"/>
            <a:ext cx="384048" cy="384048"/>
          </a:xfrm>
          <a:prstGeom prst="ellipse">
            <a:avLst/>
          </a:prstGeom>
          <a:solidFill>
            <a:srgbClr val="2A78D6"/>
          </a:solidFill>
          <a:ln/>
        </p:spPr>
      </p:sp>
      <p:sp>
        <p:nvSpPr>
          <p:cNvPr id="14" name="Text 12"/>
          <p:cNvSpPr/>
          <p:nvPr/>
        </p:nvSpPr>
        <p:spPr>
          <a:xfrm>
            <a:off x="65836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p:nvPr/>
        </p:nvSpPr>
        <p:spPr>
          <a:xfrm>
            <a:off x="1188720" y="308152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What does an AUC of 0.5 versus 0.9 actually mean, in terms of the model's predictions?</a:t>
            </a:r>
            <a:endParaRPr lang="en-US" sz="1100" dirty="0"/>
          </a:p>
        </p:txBody>
      </p:sp>
      <p:sp>
        <p:nvSpPr>
          <p:cNvPr id="16" name="Shape 14"/>
          <p:cNvSpPr/>
          <p:nvPr/>
        </p:nvSpPr>
        <p:spPr>
          <a:xfrm>
            <a:off x="6126480" y="2971800"/>
            <a:ext cx="5486400" cy="1325880"/>
          </a:xfrm>
          <a:prstGeom prst="roundRect">
            <a:avLst>
              <a:gd name="adj" fmla="val 6897"/>
            </a:avLst>
          </a:prstGeom>
          <a:solidFill>
            <a:srgbClr val="F9F9F7"/>
          </a:solidFill>
          <a:ln w="12700">
            <a:solidFill>
              <a:srgbClr val="E1E0D9"/>
            </a:solidFill>
            <a:prstDash val="solid"/>
          </a:ln>
        </p:spPr>
      </p:sp>
      <p:sp>
        <p:nvSpPr>
          <p:cNvPr id="17" name="Shape 15"/>
          <p:cNvSpPr/>
          <p:nvPr/>
        </p:nvSpPr>
        <p:spPr>
          <a:xfrm>
            <a:off x="6327648" y="3172968"/>
            <a:ext cx="384048" cy="384048"/>
          </a:xfrm>
          <a:prstGeom prst="ellipse">
            <a:avLst/>
          </a:prstGeom>
          <a:solidFill>
            <a:srgbClr val="2A78D6"/>
          </a:solidFill>
          <a:ln/>
        </p:spPr>
      </p:sp>
      <p:sp>
        <p:nvSpPr>
          <p:cNvPr id="18" name="Text 16"/>
          <p:cNvSpPr/>
          <p:nvPr/>
        </p:nvSpPr>
        <p:spPr>
          <a:xfrm>
            <a:off x="632764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19" name="Text 17"/>
          <p:cNvSpPr/>
          <p:nvPr/>
        </p:nvSpPr>
        <p:spPr>
          <a:xfrm>
            <a:off x="6858000" y="308152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Two regression models are compared, and one has lower MAE while the other has lower RMSE. What does that disagreement tell you?</a:t>
            </a:r>
            <a:endParaRPr lang="en-US" sz="1100" dirty="0"/>
          </a:p>
        </p:txBody>
      </p:sp>
      <p:sp>
        <p:nvSpPr>
          <p:cNvPr id="20" name="Shape 18"/>
          <p:cNvSpPr/>
          <p:nvPr/>
        </p:nvSpPr>
        <p:spPr>
          <a:xfrm>
            <a:off x="457200" y="4434840"/>
            <a:ext cx="11274552" cy="1325880"/>
          </a:xfrm>
          <a:prstGeom prst="roundRect">
            <a:avLst>
              <a:gd name="adj" fmla="val 6897"/>
            </a:avLst>
          </a:prstGeom>
          <a:solidFill>
            <a:srgbClr val="F9F9F7"/>
          </a:solidFill>
          <a:ln w="12700">
            <a:solidFill>
              <a:srgbClr val="E1E0D9"/>
            </a:solidFill>
            <a:prstDash val="solid"/>
          </a:ln>
        </p:spPr>
      </p:sp>
      <p:sp>
        <p:nvSpPr>
          <p:cNvPr id="21" name="Shape 19"/>
          <p:cNvSpPr/>
          <p:nvPr/>
        </p:nvSpPr>
        <p:spPr>
          <a:xfrm>
            <a:off x="658368" y="4636008"/>
            <a:ext cx="384048" cy="384048"/>
          </a:xfrm>
          <a:prstGeom prst="ellipse">
            <a:avLst/>
          </a:prstGeom>
          <a:solidFill>
            <a:srgbClr val="2A78D6"/>
          </a:solidFill>
          <a:ln/>
        </p:spPr>
      </p:sp>
      <p:sp>
        <p:nvSpPr>
          <p:cNvPr id="22" name="Text 20"/>
          <p:cNvSpPr/>
          <p:nvPr/>
        </p:nvSpPr>
        <p:spPr>
          <a:xfrm>
            <a:off x="658368" y="46360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3" name="Text 21"/>
          <p:cNvSpPr/>
          <p:nvPr/>
        </p:nvSpPr>
        <p:spPr>
          <a:xfrm>
            <a:off x="1188720" y="4544568"/>
            <a:ext cx="10314432"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A hospital is choosing an evaluation metric for a rare-disease screening test. Walk through the reasoning for which metric to prioritize.</a:t>
            </a:r>
            <a:endParaRPr lang="en-US" sz="1100" dirty="0"/>
          </a:p>
        </p:txBody>
      </p:sp>
      <p:sp>
        <p:nvSpPr>
          <p:cNvPr id="24" name="Text 22"/>
          <p:cNvSpPr/>
          <p:nvPr/>
        </p:nvSpPr>
        <p:spPr>
          <a:xfrm>
            <a:off x="457200" y="594360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Answers are in the speaker notes for this slide.</a:t>
            </a:r>
            <a:endParaRPr lang="en-US" sz="1200" dirty="0"/>
          </a:p>
        </p:txBody>
      </p:sp>
      <p:sp>
        <p:nvSpPr>
          <p:cNvPr id="26"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27" name="Text 2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35"/>
        </a:solidFill>
      </p:bgPr>
    </p:bg>
    <p:spTree>
      <p:nvGrpSpPr>
        <p:cNvPr id="1" name=""/>
        <p:cNvGrpSpPr/>
        <p:nvPr/>
      </p:nvGrpSpPr>
      <p:grpSpPr>
        <a:xfrm>
          <a:off x="0" y="0"/>
          <a:ext cx="0" cy="0"/>
          <a:chOff x="0" y="0"/>
          <a:chExt cx="0" cy="0"/>
        </a:xfrm>
      </p:grpSpPr>
      <p:pic>
        <p:nvPicPr>
          <p:cNvPr id="2" name="Image 0" descr="/tmp/deck6/png/d0-title-motif.png">    </p:cNvPr>
          <p:cNvPicPr>
            <a:picLocks noChangeAspect="1"/>
          </p:cNvPicPr>
          <p:nvPr/>
        </p:nvPicPr>
        <p:blipFill>
          <a:blip r:embed="rId1">
            <a:alphaModFix amt="85000"/>
          </a:blip>
          <a:stretch>
            <a:fillRect/>
          </a:stretch>
        </p:blipFill>
        <p:spPr>
          <a:xfrm>
            <a:off x="8595360" y="2103120"/>
            <a:ext cx="3840480" cy="3840480"/>
          </a:xfrm>
          <a:prstGeom prst="rect">
            <a:avLst/>
          </a:prstGeom>
        </p:spPr>
      </p:pic>
      <p:sp>
        <p:nvSpPr>
          <p:cNvPr id="3"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SUMMARY</a:t>
            </a:r>
            <a:endParaRPr lang="en-US" sz="1200" dirty="0"/>
          </a:p>
        </p:txBody>
      </p:sp>
      <p:sp>
        <p:nvSpPr>
          <p:cNvPr id="4" name="Text 1"/>
          <p:cNvSpPr/>
          <p:nvPr/>
        </p:nvSpPr>
        <p:spPr>
          <a:xfrm>
            <a:off x="548640" y="7315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2"/>
          <p:cNvSpPr/>
          <p:nvPr/>
        </p:nvSpPr>
        <p:spPr>
          <a:xfrm>
            <a:off x="548640" y="1719072"/>
            <a:ext cx="292608" cy="292608"/>
          </a:xfrm>
          <a:prstGeom prst="ellipse">
            <a:avLst/>
          </a:prstGeom>
          <a:solidFill>
            <a:srgbClr val="2A78D6"/>
          </a:solidFill>
          <a:ln/>
        </p:spPr>
      </p:sp>
      <p:sp>
        <p:nvSpPr>
          <p:cNvPr id="6" name="Text 3"/>
          <p:cNvSpPr/>
          <p:nvPr/>
        </p:nvSpPr>
        <p:spPr>
          <a:xfrm>
            <a:off x="548640" y="171907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4"/>
          <p:cNvSpPr/>
          <p:nvPr/>
        </p:nvSpPr>
        <p:spPr>
          <a:xfrm>
            <a:off x="1005840" y="169164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Every classification metric in this chapter is a ratio built from the confusion matrix's four counts.</a:t>
            </a:r>
            <a:endParaRPr lang="en-US" sz="1400" dirty="0"/>
          </a:p>
        </p:txBody>
      </p:sp>
      <p:sp>
        <p:nvSpPr>
          <p:cNvPr id="8" name="Shape 5"/>
          <p:cNvSpPr/>
          <p:nvPr/>
        </p:nvSpPr>
        <p:spPr>
          <a:xfrm>
            <a:off x="548640" y="2587752"/>
            <a:ext cx="292608" cy="292608"/>
          </a:xfrm>
          <a:prstGeom prst="ellipse">
            <a:avLst/>
          </a:prstGeom>
          <a:solidFill>
            <a:srgbClr val="2A78D6"/>
          </a:solidFill>
          <a:ln/>
        </p:spPr>
      </p:sp>
      <p:sp>
        <p:nvSpPr>
          <p:cNvPr id="9" name="Text 6"/>
          <p:cNvSpPr/>
          <p:nvPr/>
        </p:nvSpPr>
        <p:spPr>
          <a:xfrm>
            <a:off x="548640" y="2587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1005840" y="256032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Accuracy is dangerous on imbalanced data; a majority-class guess can score deceptively high.</a:t>
            </a:r>
            <a:endParaRPr lang="en-US" sz="1400" dirty="0"/>
          </a:p>
        </p:txBody>
      </p:sp>
      <p:sp>
        <p:nvSpPr>
          <p:cNvPr id="11" name="Shape 8"/>
          <p:cNvSpPr/>
          <p:nvPr/>
        </p:nvSpPr>
        <p:spPr>
          <a:xfrm>
            <a:off x="548640" y="3456432"/>
            <a:ext cx="292608" cy="292608"/>
          </a:xfrm>
          <a:prstGeom prst="ellipse">
            <a:avLst/>
          </a:prstGeom>
          <a:solidFill>
            <a:srgbClr val="2A78D6"/>
          </a:solidFill>
          <a:ln/>
        </p:spPr>
      </p:sp>
      <p:sp>
        <p:nvSpPr>
          <p:cNvPr id="12" name="Text 9"/>
          <p:cNvSpPr/>
          <p:nvPr/>
        </p:nvSpPr>
        <p:spPr>
          <a:xfrm>
            <a:off x="548640" y="3456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1005840" y="342900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Precision and recall trade off; F1 is the balanced default when neither error is clearly costlier.</a:t>
            </a:r>
            <a:endParaRPr lang="en-US" sz="1400" dirty="0"/>
          </a:p>
        </p:txBody>
      </p:sp>
      <p:sp>
        <p:nvSpPr>
          <p:cNvPr id="14" name="Shape 11"/>
          <p:cNvSpPr/>
          <p:nvPr/>
        </p:nvSpPr>
        <p:spPr>
          <a:xfrm>
            <a:off x="548640" y="4325112"/>
            <a:ext cx="292608" cy="292608"/>
          </a:xfrm>
          <a:prstGeom prst="ellipse">
            <a:avLst/>
          </a:prstGeom>
          <a:solidFill>
            <a:srgbClr val="2A78D6"/>
          </a:solidFill>
          <a:ln/>
        </p:spPr>
      </p:sp>
      <p:sp>
        <p:nvSpPr>
          <p:cNvPr id="15" name="Text 12"/>
          <p:cNvSpPr/>
          <p:nvPr/>
        </p:nvSpPr>
        <p:spPr>
          <a:xfrm>
            <a:off x="548640" y="432511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005840" y="429768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ROC-AUC summarizes ranking across thresholds, but a PR curve is safer when positives are rare.</a:t>
            </a:r>
            <a:endParaRPr lang="en-US" sz="1400" dirty="0"/>
          </a:p>
        </p:txBody>
      </p:sp>
      <p:sp>
        <p:nvSpPr>
          <p:cNvPr id="17" name="Shape 14"/>
          <p:cNvSpPr/>
          <p:nvPr/>
        </p:nvSpPr>
        <p:spPr>
          <a:xfrm>
            <a:off x="548640" y="5193792"/>
            <a:ext cx="292608" cy="292608"/>
          </a:xfrm>
          <a:prstGeom prst="ellipse">
            <a:avLst/>
          </a:prstGeom>
          <a:solidFill>
            <a:srgbClr val="2A78D6"/>
          </a:solidFill>
          <a:ln/>
        </p:spPr>
      </p:sp>
      <p:sp>
        <p:nvSpPr>
          <p:cNvPr id="18" name="Text 15"/>
          <p:cNvSpPr/>
          <p:nvPr/>
        </p:nvSpPr>
        <p:spPr>
          <a:xfrm>
            <a:off x="548640" y="51937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1005840" y="516636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RMSE and MAE can disagree; the disagreement itself reveals how errors are distributed.</a:t>
            </a:r>
            <a:endParaRPr lang="en-US" sz="1400" dirty="0"/>
          </a:p>
        </p:txBody>
      </p:sp>
      <p:sp>
        <p:nvSpPr>
          <p:cNvPr id="20" name="Text 1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21" name="Text 1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FURTHER READING</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Sources Cited in This Chapter</a:t>
            </a:r>
            <a:endParaRPr lang="en-US" sz="3000" dirty="0"/>
          </a:p>
        </p:txBody>
      </p:sp>
      <p:sp>
        <p:nvSpPr>
          <p:cNvPr id="4" name="Shape 2"/>
          <p:cNvSpPr/>
          <p:nvPr/>
        </p:nvSpPr>
        <p:spPr>
          <a:xfrm>
            <a:off x="457200" y="1700784"/>
            <a:ext cx="146304" cy="146304"/>
          </a:xfrm>
          <a:prstGeom prst="ellipse">
            <a:avLst/>
          </a:prstGeom>
          <a:solidFill>
            <a:srgbClr val="2A78D6"/>
          </a:solidFill>
          <a:ln/>
        </p:spPr>
      </p:sp>
      <p:sp>
        <p:nvSpPr>
          <p:cNvPr id="5" name="Text 3"/>
          <p:cNvSpPr/>
          <p:nvPr/>
        </p:nvSpPr>
        <p:spPr>
          <a:xfrm>
            <a:off x="777240" y="164592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van Rijsbergen, Information Retrieval, 2nd ed.</a:t>
            </a:r>
            <a:endParaRPr lang="en-US" sz="1500" dirty="0"/>
          </a:p>
        </p:txBody>
      </p:sp>
      <p:sp>
        <p:nvSpPr>
          <p:cNvPr id="6" name="Text 4"/>
          <p:cNvSpPr/>
          <p:nvPr/>
        </p:nvSpPr>
        <p:spPr>
          <a:xfrm>
            <a:off x="777240" y="195681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Butterworths, 1979</a:t>
            </a:r>
            <a:endParaRPr lang="en-US" sz="1200" dirty="0"/>
          </a:p>
        </p:txBody>
      </p:sp>
      <p:sp>
        <p:nvSpPr>
          <p:cNvPr id="7" name="Shape 5"/>
          <p:cNvSpPr/>
          <p:nvPr/>
        </p:nvSpPr>
        <p:spPr>
          <a:xfrm>
            <a:off x="457200" y="2478024"/>
            <a:ext cx="146304" cy="146304"/>
          </a:xfrm>
          <a:prstGeom prst="ellipse">
            <a:avLst/>
          </a:prstGeom>
          <a:solidFill>
            <a:srgbClr val="2A78D6"/>
          </a:solidFill>
          <a:ln/>
        </p:spPr>
      </p:sp>
      <p:sp>
        <p:nvSpPr>
          <p:cNvPr id="8" name="Text 6"/>
          <p:cNvSpPr/>
          <p:nvPr/>
        </p:nvSpPr>
        <p:spPr>
          <a:xfrm>
            <a:off x="777240" y="242316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Hanley &amp; McNeil, The Meaning and Use of the Area Under a ROC Curve</a:t>
            </a:r>
            <a:endParaRPr lang="en-US" sz="1500" dirty="0"/>
          </a:p>
        </p:txBody>
      </p:sp>
      <p:sp>
        <p:nvSpPr>
          <p:cNvPr id="9" name="Text 7"/>
          <p:cNvSpPr/>
          <p:nvPr/>
        </p:nvSpPr>
        <p:spPr>
          <a:xfrm>
            <a:off x="777240" y="273405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Radiology, 1982</a:t>
            </a:r>
            <a:endParaRPr lang="en-US" sz="1200" dirty="0"/>
          </a:p>
        </p:txBody>
      </p:sp>
      <p:sp>
        <p:nvSpPr>
          <p:cNvPr id="10" name="Shape 8"/>
          <p:cNvSpPr/>
          <p:nvPr/>
        </p:nvSpPr>
        <p:spPr>
          <a:xfrm>
            <a:off x="457200" y="3255264"/>
            <a:ext cx="146304" cy="146304"/>
          </a:xfrm>
          <a:prstGeom prst="ellipse">
            <a:avLst/>
          </a:prstGeom>
          <a:solidFill>
            <a:srgbClr val="2A78D6"/>
          </a:solidFill>
          <a:ln/>
        </p:spPr>
      </p:sp>
      <p:sp>
        <p:nvSpPr>
          <p:cNvPr id="11" name="Text 9"/>
          <p:cNvSpPr/>
          <p:nvPr/>
        </p:nvSpPr>
        <p:spPr>
          <a:xfrm>
            <a:off x="777240" y="320040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Davis &amp; Goadrich, The Relationship Between Precision-Recall and ROC Curves</a:t>
            </a:r>
            <a:endParaRPr lang="en-US" sz="1500" dirty="0"/>
          </a:p>
        </p:txBody>
      </p:sp>
      <p:sp>
        <p:nvSpPr>
          <p:cNvPr id="12" name="Text 10"/>
          <p:cNvSpPr/>
          <p:nvPr/>
        </p:nvSpPr>
        <p:spPr>
          <a:xfrm>
            <a:off x="777240" y="351129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ICML, 2006</a:t>
            </a:r>
            <a:endParaRPr lang="en-US" sz="1200" dirty="0"/>
          </a:p>
        </p:txBody>
      </p:sp>
      <p:sp>
        <p:nvSpPr>
          <p:cNvPr id="13" name="Shape 11"/>
          <p:cNvSpPr/>
          <p:nvPr/>
        </p:nvSpPr>
        <p:spPr>
          <a:xfrm>
            <a:off x="457200" y="4032504"/>
            <a:ext cx="146304" cy="146304"/>
          </a:xfrm>
          <a:prstGeom prst="ellipse">
            <a:avLst/>
          </a:prstGeom>
          <a:solidFill>
            <a:srgbClr val="2A78D6"/>
          </a:solidFill>
          <a:ln/>
        </p:spPr>
      </p:sp>
      <p:sp>
        <p:nvSpPr>
          <p:cNvPr id="14" name="Text 12"/>
          <p:cNvSpPr/>
          <p:nvPr/>
        </p:nvSpPr>
        <p:spPr>
          <a:xfrm>
            <a:off x="777240" y="397764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Chapter 1.3</a:t>
            </a:r>
            <a:endParaRPr lang="en-US" sz="1500" dirty="0"/>
          </a:p>
        </p:txBody>
      </p:sp>
      <p:sp>
        <p:nvSpPr>
          <p:cNvPr id="15" name="Text 13"/>
          <p:cNvSpPr/>
          <p:nvPr/>
        </p:nvSpPr>
        <p:spPr>
          <a:xfrm>
            <a:off x="777240" y="428853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docs/01-ai-ml-foundations/1-3-ml-foundations.mdx</a:t>
            </a:r>
            <a:endParaRPr lang="en-US" sz="1200" dirty="0"/>
          </a:p>
        </p:txBody>
      </p:sp>
      <p:sp>
        <p:nvSpPr>
          <p:cNvPr id="16" name="Shape 14"/>
          <p:cNvSpPr/>
          <p:nvPr/>
        </p:nvSpPr>
        <p:spPr>
          <a:xfrm>
            <a:off x="457200" y="4809744"/>
            <a:ext cx="146304" cy="146304"/>
          </a:xfrm>
          <a:prstGeom prst="ellipse">
            <a:avLst/>
          </a:prstGeom>
          <a:solidFill>
            <a:srgbClr val="2A78D6"/>
          </a:solidFill>
          <a:ln/>
        </p:spPr>
      </p:sp>
      <p:sp>
        <p:nvSpPr>
          <p:cNvPr id="17" name="Text 15"/>
          <p:cNvSpPr/>
          <p:nvPr/>
        </p:nvSpPr>
        <p:spPr>
          <a:xfrm>
            <a:off x="777240" y="475488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Chapter 1.4</a:t>
            </a:r>
            <a:endParaRPr lang="en-US" sz="1500" dirty="0"/>
          </a:p>
        </p:txBody>
      </p:sp>
      <p:sp>
        <p:nvSpPr>
          <p:cNvPr id="18" name="Text 16"/>
          <p:cNvSpPr/>
          <p:nvPr/>
        </p:nvSpPr>
        <p:spPr>
          <a:xfrm>
            <a:off x="777240" y="506577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docs/01-ai-ml-foundations/1-4-core-ml-concepts.mdx</a:t>
            </a:r>
            <a:endParaRPr lang="en-US" sz="1200" dirty="0"/>
          </a:p>
        </p:txBody>
      </p:sp>
      <p:sp>
        <p:nvSpPr>
          <p:cNvPr id="19" name="Text 17"/>
          <p:cNvSpPr/>
          <p:nvPr/>
        </p:nvSpPr>
        <p:spPr>
          <a:xfrm>
            <a:off x="457200" y="603504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Full chapter with inline links: docs/01-ai-ml-foundations/1-6-evaluation-metrics.mdx</a:t>
            </a:r>
            <a:endParaRPr lang="en-US" sz="1200" dirty="0"/>
          </a:p>
        </p:txBody>
      </p:sp>
      <p:sp>
        <p:nvSpPr>
          <p:cNvPr id="20"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1.6  |  Phase 1 - AI &amp; Machine Learning Foundations</a:t>
            </a:r>
            <a:endParaRPr lang="en-US" sz="1000" dirty="0"/>
          </a:p>
        </p:txBody>
      </p:sp>
      <p:sp>
        <p:nvSpPr>
          <p:cNvPr id="21" name="Text 19"/>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2026-08-19T22:10:24Z</dcterms:created>
  <dcterms:modified xsi:type="dcterms:W3CDTF">2026-08-19T22:10:24Z</dcterms:modified>
</cp:coreProperties>
</file>