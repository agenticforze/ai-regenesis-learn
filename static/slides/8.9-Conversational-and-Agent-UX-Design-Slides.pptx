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D3D"/>
                </a:solidFill>
              </a:rPr>
              <a:t>Conversational and Agent</a:t>
            </a:r>
          </a:p>
          <a:p>
            <a:pPr>
              <a:spcBef>
                <a:spcPts val="1000"/>
              </a:spcBef>
            </a:pPr>
            <a:r>
              <a:rPr sz="3000">
                <a:solidFill>
                  <a:srgbClr val="5B8FC9"/>
                </a:solidFill>
              </a:rPr>
              <a:t>UX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8.9  ·  PHASE 8: AI AGENTS —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 /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great agent can still fail at the interface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Two evidence-based foundations:</a:t>
            </a:r>
            <a:r>
              <a:rPr sz="1400">
                <a:solidFill>
                  <a:srgbClr val="6B7280"/>
                </a:solidFill>
              </a:rPr>
              <a:t>  Nielsen's 'visibility of system status' heuristic, and Amershi et al.'s 18 guidelines for human-AI interaction.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Four organizing moments:</a:t>
            </a:r>
            <a:r>
              <a:rPr sz="1400">
                <a:solidFill>
                  <a:srgbClr val="6B7280"/>
                </a:solidFill>
              </a:rPr>
              <a:t>  Initially, During, When Wrong, Over Time - the guidelines' own categories.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What's new for an acting agent:</a:t>
            </a:r>
            <a:r>
              <a:rPr sz="1400">
                <a:solidFill>
                  <a:srgbClr val="6B7280"/>
                </a:solidFill>
              </a:rPr>
              <a:t>  one question a text-only chatbot never faced - should this action auto-proceed, or pause for a human?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Anthropic's own finding:</a:t>
            </a:r>
            <a:r>
              <a:rPr sz="1400">
                <a:solidFill>
                  <a:srgbClr val="6B7280"/>
                </a:solidFill>
              </a:rPr>
              <a:t>  requiring approval for every action creates friction without reliably improving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Four moments, one new question for agents</a:t>
            </a:r>
          </a:p>
        </p:txBody>
      </p:sp>
      <p:pic>
        <p:nvPicPr>
          <p:cNvPr id="5" name="Picture 4" descr="8-9-four-moments-of-agent-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051560"/>
            <a:ext cx="11521440" cy="4726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Before the First Message: Setting Accurate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G1 and G2 (Amershi et al.):</a:t>
            </a:r>
            <a:r>
              <a:rPr sz="1300">
                <a:solidFill>
                  <a:srgbClr val="6B7280"/>
                </a:solidFill>
              </a:rPr>
              <a:t>  "Make clear what the system can do" and "how often the AI system may make mistakes" - validated against 49 practitioners, 20 products.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Ch. 8.8 connection:</a:t>
            </a:r>
            <a:r>
              <a:rPr sz="1300">
                <a:solidFill>
                  <a:srgbClr val="6B7280"/>
                </a:solidFill>
              </a:rPr>
              <a:t>  the label itself sets expectations - calling a system 'agent' primes autonomy; calling it 'assistant' primes narrower help.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NN/g on chatbots:</a:t>
            </a:r>
            <a:r>
              <a:rPr sz="1300">
                <a:solidFill>
                  <a:srgbClr val="6B7280"/>
                </a:solidFill>
              </a:rPr>
              <a:t>  tailor the opening message to context - "users won't assume a chatbot knows what they're looking at" otherwise.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harder guideline:</a:t>
            </a:r>
            <a:r>
              <a:rPr sz="1300">
                <a:solidFill>
                  <a:srgbClr val="6B7280"/>
                </a:solidFill>
              </a:rPr>
              <a:t>  communicating error rate isn't a number bolted on - it's whether the interface's confidence tracks actual task difficulty.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During the Interaction: Status, Timing, and the New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Nielsen's heuristic:</a:t>
            </a:r>
            <a:r>
              <a:rPr sz="1300">
                <a:solidFill>
                  <a:srgbClr val="6B7280"/>
                </a:solidFill>
              </a:rPr>
              <a:t>  "systems should always keep users informed... through appropriate feedback within reasonable time."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Concrete thresholds (NN/g):</a:t>
            </a:r>
            <a:r>
              <a:rPr sz="1300">
                <a:solidFill>
                  <a:srgbClr val="6B7280"/>
                </a:solidFill>
              </a:rPr>
              <a:t>  feedback past 1.0s; indeterminate spinner for 2-10s; determinate progress for 10s+.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Mapped to the agent loop:</a:t>
            </a:r>
            <a:r>
              <a:rPr sz="1300">
                <a:solidFill>
                  <a:srgbClr val="6B7280"/>
                </a:solidFill>
              </a:rPr>
              <a:t>  each Plan-Act-Observe step (Ch. 8.3) is its own status unit, not one generic spinner for the whole task.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new question:</a:t>
            </a:r>
            <a:r>
              <a:rPr sz="1300">
                <a:solidFill>
                  <a:srgbClr val="6B7280"/>
                </a:solidFill>
              </a:rPr>
              <a:t>  Anthropic's own data - only 0.8% of actions are irreversible - argues for gating the tail, not every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When the Agent Is Wrong: Explanation, Correction, 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G11:</a:t>
            </a:r>
            <a:r>
              <a:rPr sz="1300">
                <a:solidFill>
                  <a:srgbClr val="6B7280"/>
                </a:solidFill>
              </a:rPr>
              <a:t>  "Make clear why the system did what it did" - NN/g's Qwen Agent case study shows what happens when this is skipped: a price changed with no explanation.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Silent re-planning is the same failure:</a:t>
            </a:r>
            <a:r>
              <a:rPr sz="1300">
                <a:solidFill>
                  <a:srgbClr val="6B7280"/>
                </a:solidFill>
              </a:rPr>
              <a:t>  Ch. 8.7's re-planning is a feature architecturally, but invisible re-planning is a UX failure.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G9 and G10:</a:t>
            </a:r>
            <a:r>
              <a:rPr sz="1300">
                <a:solidFill>
                  <a:srgbClr val="6B7280"/>
                </a:solidFill>
              </a:rPr>
              <a:t>  efficient correction, and graceful degradation - both beat confidently guessing wrong and forcing the user to detect it.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fix costs nothing architecturally:</a:t>
            </a:r>
            <a:r>
              <a:rPr sz="1300">
                <a:solidFill>
                  <a:srgbClr val="6B7280"/>
                </a:solidFill>
              </a:rPr>
              <a:t>  surface the re-plan event with the same status treatment as any other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Over Time: Memory, Adaptation, and Not Surprising the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G12:</a:t>
            </a:r>
            <a:r>
              <a:rPr sz="1300">
                <a:solidFill>
                  <a:srgbClr val="6B7280"/>
                </a:solidFill>
              </a:rPr>
              <a:t>  "Maintain short term memory" - the UX-facing requirement Ch. 8.5's entire memory-systems chapter is built underneath.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Ch. 8.6 connection:</a:t>
            </a:r>
            <a:r>
              <a:rPr sz="1300">
                <a:solidFill>
                  <a:srgbClr val="6B7280"/>
                </a:solidFill>
              </a:rPr>
              <a:t>  a bad compaction pass is invisible infrastructure until it produces a visible symptom - the system forgetting a constraint.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G14, G16, G18:</a:t>
            </a:r>
            <a:r>
              <a:rPr sz="1300">
                <a:solidFill>
                  <a:srgbClr val="6B7280"/>
                </a:solidFill>
              </a:rPr>
              <a:t>  update cautiously, convey consequences of user actions, notify of capability changes - all protect one thing: the user's mental model.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Why it's sharper for agents:</a:t>
            </a:r>
            <a:r>
              <a:rPr sz="1300">
                <a:solidFill>
                  <a:srgbClr val="6B7280"/>
                </a:solidFill>
              </a:rPr>
              <a:t>  a silently changed confirmation gate isn't a minor annoyance - it's a change to what the system does without asking.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Designing the Whole System, Not Isolated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One session, four moments:</a:t>
            </a:r>
            <a:r>
              <a:rPr sz="1300">
                <a:solidFill>
                  <a:srgbClr val="6B7280"/>
                </a:solidFill>
              </a:rPr>
              <a:t>  a returning user (Over Time) triggers a multi-step task (During), hits a re-plan (When Wrong) - all in one sitting.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Guidelines aren't separable features:</a:t>
            </a:r>
            <a:r>
              <a:rPr sz="1300">
                <a:solidFill>
                  <a:srgbClr val="6B7280"/>
                </a:solidFill>
              </a:rPr>
              <a:t>  a status update should already reflect onboarding's capability claims; an explanation should draw on accumulated memory.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gate belongs inside the loop:</a:t>
            </a:r>
            <a:r>
              <a:rPr sz="1300">
                <a:solidFill>
                  <a:srgbClr val="6B7280"/>
                </a:solidFill>
              </a:rPr>
              <a:t>  middleware bolted on after the fact either over-fires on safe actions or misses context-dependent risk.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Worked example:</a:t>
            </a:r>
            <a:r>
              <a:rPr sz="1300">
                <a:solidFill>
                  <a:srgbClr val="6B7280"/>
                </a:solidFill>
              </a:rPr>
              <a:t>  a spreadsheet-reconciliation task shows a re-plan surfaced, a confirmation gate fired, and a denial routed back into re-planning - not a special escape hatch.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Same 18 guidelines, different stakes across the spectrum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1430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Assistant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Default confirmation posture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Confirms after every single action, by definition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Confirms before a chained sequence finalizes, by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Confirms only for the reversibility-gated minority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What a status update must convey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Which one action is happening now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Which step of a short chain, and what remains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Which step of a longer plan, and whether a re-plan occurred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Cost of a silent behavior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Low: the next action just looks different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Moderate: a reviewed sequence may finalize differently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High: the reversibility gate itself may have shifted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All 18 guidelines apply across all three; what changes is how much is at stake when any one of them is skipped.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confirmation gate wired into the agent's own loop</a:t>
            </a:r>
          </a:p>
        </p:txBody>
      </p:sp>
      <p:pic>
        <p:nvPicPr>
          <p:cNvPr id="5" name="Picture 4" descr="refarch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3773244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46304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2D3D"/>
                </a:solidFill>
              </a:rPr>
              <a:t>Agent loop</a:t>
            </a:r>
            <a:r>
              <a:rPr sz="1300">
                <a:solidFill>
                  <a:srgbClr val="6B7280"/>
                </a:solidFill>
              </a:rPr>
              <a:t>: Ch. 8.3's Plan, Act, Observe cycle - the source of every step this architecture makes visible or gates.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D3D"/>
                </a:solidFill>
              </a:rPr>
              <a:t>Status emitter</a:t>
            </a:r>
            <a:r>
              <a:rPr sz="1300">
                <a:solidFill>
                  <a:srgbClr val="6B7280"/>
                </a:solidFill>
              </a:rPr>
              <a:t>: converts each step into a status update sized to its own estimated duration.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D3D"/>
                </a:solidFill>
              </a:rPr>
              <a:t>Reversibility check</a:t>
            </a:r>
            <a:r>
              <a:rPr sz="1300">
                <a:solidFill>
                  <a:srgbClr val="6B7280"/>
                </a:solidFill>
              </a:rPr>
              <a:t>: the one question a chatbot never had to ask: does this action need approval first?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D3D"/>
                </a:solidFill>
              </a:rPr>
              <a:t>Auto-proceed</a:t>
            </a:r>
            <a:r>
              <a:rPr sz="1300">
                <a:solidFill>
                  <a:srgbClr val="6B7280"/>
                </a:solidFill>
              </a:rPr>
              <a:t>: runs a reversible, low-stakes action immediately, with only a status update.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D3D"/>
                </a:solidFill>
              </a:rPr>
              <a:t>Confirmation gate</a:t>
            </a:r>
            <a:r>
              <a:rPr sz="1300">
                <a:solidFill>
                  <a:srgbClr val="6B7280"/>
                </a:solidFill>
              </a:rPr>
              <a:t>: pauses an irreversible or high-stakes action for explicit human approval.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D3D"/>
                </a:solidFill>
              </a:rPr>
              <a:t>Result explanation</a:t>
            </a:r>
            <a:r>
              <a:rPr sz="1300">
                <a:solidFill>
                  <a:srgbClr val="6B7280"/>
                </a:solidFill>
              </a:rPr>
              <a:t>: surfaces the outcome in plain language, including a visible note when a re-plan occurred.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D3D"/>
                </a:solidFill>
              </a:rPr>
              <a:t>Revise</a:t>
            </a:r>
            <a:r>
              <a:rPr sz="1300">
                <a:solidFill>
                  <a:srgbClr val="6B7280"/>
                </a:solidFill>
              </a:rPr>
              <a:t>: a denial feeds back into Ch. 8.7's own re-planning mechanism, not a separate escape hatch.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status and confirmation policy from two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function:</a:t>
            </a:r>
            <a:r>
              <a:rPr sz="1300">
                <a:solidFill>
                  <a:srgbClr val="6B7280"/>
                </a:solidFill>
              </a:rPr>
              <a:t>  ux_policy() maps est_seconds to a status tier and reversible/high_stakes to a gate decision.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Six straightforward cases:</a:t>
            </a:r>
            <a:r>
              <a:rPr sz="1300">
                <a:solidFill>
                  <a:srgbClr val="6B7280"/>
                </a:solidFill>
              </a:rPr>
              <a:t>  instant lookups and private edits auto-proceed with no indicator; a 25s report draft gets step-by-step progress and still auto-proceeds.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Duration doesn't decide the gate:</a:t>
            </a:r>
            <a:r>
              <a:rPr sz="1300">
                <a:solidFill>
                  <a:srgbClr val="6B7280"/>
                </a:solidFill>
              </a:rPr>
              <a:t>  a 2-second email send still requires confirmation, because gating depends on reversibility, not speed.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case that matters most:</a:t>
            </a:r>
            <a:r>
              <a:rPr sz="1300">
                <a:solidFill>
                  <a:srgbClr val="6B7280"/>
                </a:solidFill>
              </a:rPr>
              <a:t>  a technically reversible public post still gates, because high_stakes overrides reversibility - the same policy choice that separates a copilot from an agent in Ch. 8.8.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