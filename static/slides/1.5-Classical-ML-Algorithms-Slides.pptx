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Why does a single, unconstrained decision tree tend to have low bias but high variance, and how does bagging address that?
A1: An unconstrained tree can split down to individual points, so it can represent almost any relationship (low bias) but is highly sensitive to which specific points it saw (high variance). Bagging trains many trees on different bootstrap samples and averages predictions, and because their errors are only partly correlated, averaging cancels out much of that variance.
Q2: Why does gradient boosting reduce bias rather than variance?
A2: Each new tree in a boosted ensemble is trained specifically to correct the errors the ensemble so far is still making, rather than trained independently like in bagging. That sequential error-correction lets the ensemble represent relationships no single shallow tree could capture, which is what reducing bias means.
Q3: Why does k-NN performance degrade as the number of features grows, even when k is chosen well?
A3: In high-dimensional space, the distance between a query point and its nearest neighbor and the distance to a typical random point converge, so the closest points stop being meaningfully more similar than arbitrary ones. No choice of k fixes this, because the problem is the distance metric itself becoming uninformative.
Q4: A regulator requires that a credit decision be explainable in terms of which specific factors drove it. Which algorithm family is the safest default, and why?
A4: Linear or logistic regression, because each prediction decomposes into an explicit, quantified contribution from each feature's weight. Tree ensembles and k-NN can be more accurate but are far harder to reduce to a specific, defensible per-decision explanation.
Q5: Naive Bayes assumes features are conditionally independent given the class, which is almost always false. Why does the algorithm still work well?
A5: The algorithm only needs to rank or threshold classes correctly, not produce perfectly calibrated probabilities. Even when the independence assumption distorts the exact probability values, the relative ranking across classes is often still correct, which is enough for classification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pic>
        <p:nvPicPr>
          <p:cNvPr id="2" name="Image 0" descr="/tmp/deck5/png/d0-title-motif.png">    </p:cNvPr>
          <p:cNvPicPr>
            <a:picLocks noChangeAspect="1"/>
          </p:cNvPicPr>
          <p:nvPr/>
        </p:nvPicPr>
        <p:blipFill>
          <a:blip r:embed="rId1">
            <a:alphaModFix amt="95000"/>
          </a:blip>
          <a:stretch>
            <a:fillRect/>
          </a:stretch>
        </p:blipFill>
        <p:spPr>
          <a:xfrm>
            <a:off x="6949440" y="548640"/>
            <a:ext cx="5760720" cy="5760720"/>
          </a:xfrm>
          <a:prstGeom prst="rect">
            <a:avLst/>
          </a:prstGeom>
        </p:spPr>
      </p:pic>
      <p:sp>
        <p:nvSpPr>
          <p:cNvPr id="3" name="Text 0"/>
          <p:cNvSpPr/>
          <p:nvPr/>
        </p:nvSpPr>
        <p:spPr>
          <a:xfrm>
            <a:off x="640080" y="640080"/>
            <a:ext cx="8229600" cy="32004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REGAITRAINING  ·  PHASE 1 -- AI &amp; MACHINE LEARNING FOUNDATIONS</a:t>
            </a:r>
            <a:endParaRPr lang="en-US" sz="1200" dirty="0"/>
          </a:p>
        </p:txBody>
      </p:sp>
      <p:sp>
        <p:nvSpPr>
          <p:cNvPr id="4" name="Shape 1"/>
          <p:cNvSpPr/>
          <p:nvPr/>
        </p:nvSpPr>
        <p:spPr>
          <a:xfrm>
            <a:off x="640080" y="1234440"/>
            <a:ext cx="1417320" cy="384048"/>
          </a:xfrm>
          <a:prstGeom prst="roundRect">
            <a:avLst>
              <a:gd name="adj" fmla="val 19048"/>
            </a:avLst>
          </a:prstGeom>
          <a:solidFill>
            <a:srgbClr val="104281"/>
          </a:solidFill>
          <a:ln/>
        </p:spPr>
      </p:sp>
      <p:sp>
        <p:nvSpPr>
          <p:cNvPr id="5" name="Text 2"/>
          <p:cNvSpPr/>
          <p:nvPr/>
        </p:nvSpPr>
        <p:spPr>
          <a:xfrm>
            <a:off x="640080" y="12344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CHAPTER 1.5</a:t>
            </a:r>
            <a:endParaRPr lang="en-US" sz="1200" dirty="0"/>
          </a:p>
        </p:txBody>
      </p:sp>
      <p:sp>
        <p:nvSpPr>
          <p:cNvPr id="6" name="Text 3"/>
          <p:cNvSpPr/>
          <p:nvPr/>
        </p:nvSpPr>
        <p:spPr>
          <a:xfrm>
            <a:off x="594360" y="192024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Classical ML Algorithms Landscape</a:t>
            </a:r>
            <a:endParaRPr lang="en-US" sz="4000" dirty="0"/>
          </a:p>
        </p:txBody>
      </p:sp>
      <p:sp>
        <p:nvSpPr>
          <p:cNvPr id="7" name="Text 4"/>
          <p:cNvSpPr/>
          <p:nvPr/>
        </p:nvSpPr>
        <p:spPr>
          <a:xfrm>
            <a:off x="640080" y="2880360"/>
            <a:ext cx="8138160" cy="822960"/>
          </a:xfrm>
          <a:prstGeom prst="rect">
            <a:avLst/>
          </a:prstGeom>
          <a:noFill/>
          <a:ln/>
        </p:spPr>
        <p:txBody>
          <a:bodyPr wrap="square" lIns="0" tIns="0" rIns="0" bIns="0" rtlCol="0" anchor="ctr"/>
          <a:lstStyle/>
          <a:p>
            <a:pPr indent="0" marL="0">
              <a:lnSpc>
                <a:spcPts val="2400"/>
              </a:lnSpc>
              <a:buNone/>
            </a:pPr>
            <a:r>
              <a:rPr lang="en-US" sz="1900" dirty="0">
                <a:solidFill>
                  <a:srgbClr val="CDE2FB"/>
                </a:solidFill>
                <a:latin typeface="Calibri" pitchFamily="34" charset="0"/>
                <a:ea typeface="Calibri" pitchFamily="34" charset="-122"/>
                <a:cs typeface="Calibri" pitchFamily="34" charset="-120"/>
              </a:rPr>
              <a:t>A Comparison of Linear Models, Trees, Ensembles, k-NN, SVM, and Naive Bayes</a:t>
            </a:r>
            <a:endParaRPr lang="en-US" sz="1900" dirty="0"/>
          </a:p>
        </p:txBody>
      </p:sp>
      <p:sp>
        <p:nvSpPr>
          <p:cNvPr id="8" name="Text 5"/>
          <p:cNvSpPr/>
          <p:nvPr/>
        </p:nvSpPr>
        <p:spPr>
          <a:xfrm>
            <a:off x="640080" y="3931920"/>
            <a:ext cx="6766560" cy="822960"/>
          </a:xfrm>
          <a:prstGeom prst="rect">
            <a:avLst/>
          </a:prstGeom>
          <a:noFill/>
          <a:ln/>
        </p:spPr>
        <p:txBody>
          <a:bodyPr wrap="square" lIns="0" tIns="0" rIns="0" bIns="0" rtlCol="0" anchor="ctr"/>
          <a:lstStyle/>
          <a:p>
            <a:pPr indent="0" marL="0">
              <a:lnSpc>
                <a:spcPts val="2000"/>
              </a:lnSpc>
              <a:buNone/>
            </a:pPr>
            <a:r>
              <a:rPr lang="en-US" sz="1400" dirty="0">
                <a:solidFill>
                  <a:srgbClr val="C3C2B7"/>
                </a:solidFill>
                <a:latin typeface="Calibri" pitchFamily="34" charset="0"/>
                <a:ea typeface="Calibri" pitchFamily="34" charset="-122"/>
                <a:cs typeface="Calibri" pitchFamily="34" charset="-120"/>
              </a:rPr>
              <a:t>A teaching-slide walkthrough of the chapter: what inductive bias means, how six classical families differ, and how to choose among them with the tools from chapter 1.4.</a:t>
            </a:r>
            <a:endParaRPr lang="en-US" sz="1400" dirty="0"/>
          </a:p>
        </p:txBody>
      </p:sp>
      <p:sp>
        <p:nvSpPr>
          <p:cNvPr id="9" name="Text 6"/>
          <p:cNvSpPr/>
          <p:nvPr/>
        </p:nvSpPr>
        <p:spPr>
          <a:xfrm>
            <a:off x="640080" y="6263640"/>
            <a:ext cx="82296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Instructor deck  ·  15 slides  ·  based on docs/01-ai-ml-foundations/1-5-classical-ml-algorithms.mdx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508760"/>
            <a:ext cx="502920" cy="502920"/>
          </a:xfrm>
          <a:prstGeom prst="ellipse">
            <a:avLst/>
          </a:prstGeom>
          <a:solidFill>
            <a:srgbClr val="104281"/>
          </a:solidFill>
          <a:ln/>
        </p:spPr>
      </p:sp>
      <p:sp>
        <p:nvSpPr>
          <p:cNvPr id="5" name="Text 3"/>
          <p:cNvSpPr/>
          <p:nvPr/>
        </p:nvSpPr>
        <p:spPr>
          <a:xfrm>
            <a:off x="45720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1556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Inductive bias</a:t>
            </a:r>
            <a:endParaRPr lang="en-US" sz="1550" dirty="0"/>
          </a:p>
        </p:txBody>
      </p:sp>
      <p:sp>
        <p:nvSpPr>
          <p:cNvPr id="7" name="Text 5"/>
          <p:cNvSpPr/>
          <p:nvPr/>
        </p:nvSpPr>
        <p:spPr>
          <a:xfrm>
            <a:off x="111556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The one question every algorithm family answers differently</a:t>
            </a:r>
            <a:endParaRPr lang="en-US" sz="1250" dirty="0"/>
          </a:p>
        </p:txBody>
      </p:sp>
      <p:sp>
        <p:nvSpPr>
          <p:cNvPr id="8" name="Shape 6"/>
          <p:cNvSpPr/>
          <p:nvPr/>
        </p:nvSpPr>
        <p:spPr>
          <a:xfrm>
            <a:off x="457200" y="2679192"/>
            <a:ext cx="502920" cy="502920"/>
          </a:xfrm>
          <a:prstGeom prst="ellipse">
            <a:avLst/>
          </a:prstGeom>
          <a:solidFill>
            <a:srgbClr val="104281"/>
          </a:solidFill>
          <a:ln/>
        </p:spPr>
      </p:sp>
      <p:sp>
        <p:nvSpPr>
          <p:cNvPr id="9" name="Text 7"/>
          <p:cNvSpPr/>
          <p:nvPr/>
        </p:nvSpPr>
        <p:spPr>
          <a:xfrm>
            <a:off x="45720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1556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Decision trees, mechanism</a:t>
            </a:r>
            <a:endParaRPr lang="en-US" sz="1550" dirty="0"/>
          </a:p>
        </p:txBody>
      </p:sp>
      <p:sp>
        <p:nvSpPr>
          <p:cNvPr id="11" name="Text 9"/>
          <p:cNvSpPr/>
          <p:nvPr/>
        </p:nvSpPr>
        <p:spPr>
          <a:xfrm>
            <a:off x="111556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CART, purity gain, and stopping conditions</a:t>
            </a:r>
            <a:endParaRPr lang="en-US" sz="1250" dirty="0"/>
          </a:p>
        </p:txBody>
      </p:sp>
      <p:sp>
        <p:nvSpPr>
          <p:cNvPr id="12" name="Shape 10"/>
          <p:cNvSpPr/>
          <p:nvPr/>
        </p:nvSpPr>
        <p:spPr>
          <a:xfrm>
            <a:off x="457200" y="3849624"/>
            <a:ext cx="502920" cy="502920"/>
          </a:xfrm>
          <a:prstGeom prst="ellipse">
            <a:avLst/>
          </a:prstGeom>
          <a:solidFill>
            <a:srgbClr val="104281"/>
          </a:solidFill>
          <a:ln/>
        </p:spPr>
      </p:sp>
      <p:sp>
        <p:nvSpPr>
          <p:cNvPr id="13" name="Text 11"/>
          <p:cNvSpPr/>
          <p:nvPr/>
        </p:nvSpPr>
        <p:spPr>
          <a:xfrm>
            <a:off x="45720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1556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Bagging vs boosting</a:t>
            </a:r>
            <a:endParaRPr lang="en-US" sz="1550" dirty="0"/>
          </a:p>
        </p:txBody>
      </p:sp>
      <p:sp>
        <p:nvSpPr>
          <p:cNvPr id="15" name="Text 13"/>
          <p:cNvSpPr/>
          <p:nvPr/>
        </p:nvSpPr>
        <p:spPr>
          <a:xfrm>
            <a:off x="111556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Two ways to combine trees, two different fixes</a:t>
            </a:r>
            <a:endParaRPr lang="en-US" sz="1250" dirty="0"/>
          </a:p>
        </p:txBody>
      </p:sp>
      <p:sp>
        <p:nvSpPr>
          <p:cNvPr id="16" name="Shape 14"/>
          <p:cNvSpPr/>
          <p:nvPr/>
        </p:nvSpPr>
        <p:spPr>
          <a:xfrm>
            <a:off x="457200" y="5020056"/>
            <a:ext cx="502920" cy="502920"/>
          </a:xfrm>
          <a:prstGeom prst="ellipse">
            <a:avLst/>
          </a:prstGeom>
          <a:solidFill>
            <a:srgbClr val="104281"/>
          </a:solidFill>
          <a:ln/>
        </p:spPr>
      </p:sp>
      <p:sp>
        <p:nvSpPr>
          <p:cNvPr id="17" name="Text 15"/>
          <p:cNvSpPr/>
          <p:nvPr/>
        </p:nvSpPr>
        <p:spPr>
          <a:xfrm>
            <a:off x="457200" y="50200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15568" y="4965192"/>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k-NN and the curse of dimensionality</a:t>
            </a:r>
            <a:endParaRPr lang="en-US" sz="1550" dirty="0"/>
          </a:p>
        </p:txBody>
      </p:sp>
      <p:sp>
        <p:nvSpPr>
          <p:cNvPr id="19" name="Text 17"/>
          <p:cNvSpPr/>
          <p:nvPr/>
        </p:nvSpPr>
        <p:spPr>
          <a:xfrm>
            <a:off x="1115568" y="5312664"/>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Why nearest stops meaning much</a:t>
            </a:r>
            <a:endParaRPr lang="en-US" sz="1250" dirty="0"/>
          </a:p>
        </p:txBody>
      </p:sp>
      <p:sp>
        <p:nvSpPr>
          <p:cNvPr id="20" name="Shape 18"/>
          <p:cNvSpPr/>
          <p:nvPr/>
        </p:nvSpPr>
        <p:spPr>
          <a:xfrm>
            <a:off x="6355080" y="1508760"/>
            <a:ext cx="502920" cy="502920"/>
          </a:xfrm>
          <a:prstGeom prst="ellipse">
            <a:avLst/>
          </a:prstGeom>
          <a:solidFill>
            <a:srgbClr val="104281"/>
          </a:solidFill>
          <a:ln/>
        </p:spPr>
      </p:sp>
      <p:sp>
        <p:nvSpPr>
          <p:cNvPr id="21" name="Text 19"/>
          <p:cNvSpPr/>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701344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A model-selection pipeline</a:t>
            </a:r>
            <a:endParaRPr lang="en-US" sz="1550" dirty="0"/>
          </a:p>
        </p:txBody>
      </p:sp>
      <p:sp>
        <p:nvSpPr>
          <p:cNvPr id="23" name="Text 21"/>
          <p:cNvSpPr/>
          <p:nvPr/>
        </p:nvSpPr>
        <p:spPr>
          <a:xfrm>
            <a:off x="701344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Choosing a family honestly with cross-validation</a:t>
            </a:r>
            <a:endParaRPr lang="en-US" sz="1250" dirty="0"/>
          </a:p>
        </p:txBody>
      </p:sp>
      <p:sp>
        <p:nvSpPr>
          <p:cNvPr id="24" name="Shape 22"/>
          <p:cNvSpPr/>
          <p:nvPr/>
        </p:nvSpPr>
        <p:spPr>
          <a:xfrm>
            <a:off x="6355080" y="2679192"/>
            <a:ext cx="502920" cy="502920"/>
          </a:xfrm>
          <a:prstGeom prst="ellipse">
            <a:avLst/>
          </a:prstGeom>
          <a:solidFill>
            <a:srgbClr val="104281"/>
          </a:solidFill>
          <a:ln/>
        </p:spPr>
      </p:sp>
      <p:sp>
        <p:nvSpPr>
          <p:cNvPr id="25" name="Text 23"/>
          <p:cNvSpPr/>
          <p:nvPr/>
        </p:nvSpPr>
        <p:spPr>
          <a:xfrm>
            <a:off x="635508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701344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Comparison table</a:t>
            </a:r>
            <a:endParaRPr lang="en-US" sz="1550" dirty="0"/>
          </a:p>
        </p:txBody>
      </p:sp>
      <p:sp>
        <p:nvSpPr>
          <p:cNvPr id="27" name="Text 25"/>
          <p:cNvSpPr/>
          <p:nvPr/>
        </p:nvSpPr>
        <p:spPr>
          <a:xfrm>
            <a:off x="701344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Bias-variance profile, boundary shape, interpretability, cost</a:t>
            </a:r>
            <a:endParaRPr lang="en-US" sz="1250" dirty="0"/>
          </a:p>
        </p:txBody>
      </p:sp>
      <p:sp>
        <p:nvSpPr>
          <p:cNvPr id="28" name="Shape 26"/>
          <p:cNvSpPr/>
          <p:nvPr/>
        </p:nvSpPr>
        <p:spPr>
          <a:xfrm>
            <a:off x="6355080" y="3849624"/>
            <a:ext cx="502920" cy="502920"/>
          </a:xfrm>
          <a:prstGeom prst="ellipse">
            <a:avLst/>
          </a:prstGeom>
          <a:solidFill>
            <a:srgbClr val="104281"/>
          </a:solidFill>
          <a:ln/>
        </p:spPr>
      </p:sp>
      <p:sp>
        <p:nvSpPr>
          <p:cNvPr id="29" name="Text 27"/>
          <p:cNvSpPr/>
          <p:nvPr/>
        </p:nvSpPr>
        <p:spPr>
          <a:xfrm>
            <a:off x="635508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701344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Industry use cases</a:t>
            </a:r>
            <a:endParaRPr lang="en-US" sz="1550" dirty="0"/>
          </a:p>
        </p:txBody>
      </p:sp>
      <p:sp>
        <p:nvSpPr>
          <p:cNvPr id="31" name="Text 29"/>
          <p:cNvSpPr/>
          <p:nvPr/>
        </p:nvSpPr>
        <p:spPr>
          <a:xfrm>
            <a:off x="701344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Finance, Healthcare, and Telecom - 4 each</a:t>
            </a:r>
            <a:endParaRPr lang="en-US" sz="12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TL;DR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No Algorithm Is Universally Best</a:t>
            </a:r>
            <a:endParaRPr lang="en-US" sz="3000" dirty="0"/>
          </a:p>
        </p:txBody>
      </p:sp>
      <p:sp>
        <p:nvSpPr>
          <p:cNvPr id="4" name="Shape 2"/>
          <p:cNvSpPr/>
          <p:nvPr/>
        </p:nvSpPr>
        <p:spPr>
          <a:xfrm>
            <a:off x="457200" y="1417320"/>
            <a:ext cx="11274552" cy="2103120"/>
          </a:xfrm>
          <a:prstGeom prst="roundRect">
            <a:avLst>
              <a:gd name="adj" fmla="val 5217"/>
            </a:avLst>
          </a:prstGeom>
          <a:solidFill>
            <a:srgbClr val="F9F9F7"/>
          </a:solidFill>
          <a:ln/>
        </p:spPr>
      </p:sp>
      <p:sp>
        <p:nvSpPr>
          <p:cNvPr id="5" name="Text 3"/>
          <p:cNvSpPr/>
          <p:nvPr/>
        </p:nvSpPr>
        <p:spPr>
          <a:xfrm>
            <a:off x="822960" y="1645920"/>
            <a:ext cx="10515600" cy="1005840"/>
          </a:xfrm>
          <a:prstGeom prst="rect">
            <a:avLst/>
          </a:prstGeom>
          <a:noFill/>
          <a:ln/>
        </p:spPr>
        <p:txBody>
          <a:bodyPr wrap="square" lIns="0" tIns="0" rIns="0" bIns="0" rtlCol="0" anchor="ctr"/>
          <a:lstStyle/>
          <a:p>
            <a:pPr indent="0" marL="0">
              <a:lnSpc>
                <a:spcPts val="2700"/>
              </a:lnSpc>
              <a:buNone/>
            </a:pPr>
            <a:r>
              <a:rPr lang="en-US" sz="2100" i="1" dirty="0">
                <a:solidFill>
                  <a:srgbClr val="104281"/>
                </a:solidFill>
                <a:latin typeface="Cambria" pitchFamily="34" charset="0"/>
                <a:ea typeface="Cambria" pitchFamily="34" charset="-122"/>
                <a:cs typeface="Cambria" pitchFamily="34" charset="-120"/>
              </a:rPr>
              <a:t>A handful of classical algorithm families cover most tabular ML problems. Each makes a different structural assumption, called an inductive bias, about how inputs map to outputs.</a:t>
            </a:r>
            <a:endParaRPr lang="en-US" sz="2100" dirty="0"/>
          </a:p>
        </p:txBody>
      </p:sp>
      <p:sp>
        <p:nvSpPr>
          <p:cNvPr id="6" name="Text 4"/>
          <p:cNvSpPr/>
          <p:nvPr/>
        </p:nvSpPr>
        <p:spPr>
          <a:xfrm>
            <a:off x="822960" y="2743200"/>
            <a:ext cx="10515600" cy="640080"/>
          </a:xfrm>
          <a:prstGeom prst="rect">
            <a:avLst/>
          </a:prstGeom>
          <a:noFill/>
          <a:ln/>
        </p:spPr>
        <p:txBody>
          <a:bodyPr wrap="square" lIns="0" tIns="0" rIns="0" bIns="0" rtlCol="0" anchor="ctr"/>
          <a:lstStyle/>
          <a:p>
            <a:pPr indent="0" marL="0">
              <a:lnSpc>
                <a:spcPts val="2100"/>
              </a:lnSpc>
              <a:buNone/>
            </a:pPr>
            <a:r>
              <a:rPr lang="en-US" sz="1500" dirty="0">
                <a:solidFill>
                  <a:srgbClr val="52514E"/>
                </a:solidFill>
                <a:latin typeface="Calibri" pitchFamily="34" charset="0"/>
                <a:ea typeface="Calibri" pitchFamily="34" charset="-122"/>
                <a:cs typeface="Calibri" pitchFamily="34" charset="-120"/>
              </a:rPr>
              <a:t>Linear models, decision trees, ensembles, k-NN, SVMs, and Naive Bayes each sit differently on chapter 1.4's bias-variance spectrum. That is what determines fit, interpretability, and cost.</a:t>
            </a:r>
            <a:endParaRPr lang="en-US" sz="1500" dirty="0"/>
          </a:p>
        </p:txBody>
      </p:sp>
      <p:sp>
        <p:nvSpPr>
          <p:cNvPr id="7" name="Text 5"/>
          <p:cNvSpPr/>
          <p:nvPr/>
        </p:nvSpPr>
        <p:spPr>
          <a:xfrm>
            <a:off x="457200" y="3840480"/>
            <a:ext cx="5486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THE PRACTICAL TAKEAWAY</a:t>
            </a:r>
            <a:endParaRPr lang="en-US" sz="1200" dirty="0"/>
          </a:p>
        </p:txBody>
      </p:sp>
      <p:sp>
        <p:nvSpPr>
          <p:cNvPr id="8" name="Text 6"/>
          <p:cNvSpPr/>
          <p:nvPr/>
        </p:nvSpPr>
        <p:spPr>
          <a:xfrm>
            <a:off x="457200" y="4160520"/>
            <a:ext cx="10972800" cy="1188720"/>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Choosing among them is a practical decision driven by data size, feature types, interpretability requirements, and how much non-linearity the true relationship actually has.</a:t>
            </a:r>
            <a:endParaRPr lang="en-US" sz="1500" dirty="0"/>
          </a:p>
        </p:txBody>
      </p:sp>
      <p:sp>
        <p:nvSpPr>
          <p:cNvPr id="9" name="Text 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10" name="Text 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HIGH-LEVEL</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Families, Four Decision Boundaries</a:t>
            </a:r>
            <a:endParaRPr lang="en-US" sz="3000" dirty="0"/>
          </a:p>
        </p:txBody>
      </p:sp>
      <p:pic>
        <p:nvPicPr>
          <p:cNvPr id="4" name="Image 0" descr="/tmp/deck5/png/d1-algorithm-boundaries.png">    </p:cNvPr>
          <p:cNvPicPr>
            <a:picLocks noChangeAspect="1"/>
          </p:cNvPicPr>
          <p:nvPr/>
        </p:nvPicPr>
        <p:blipFill>
          <a:blip r:embed="rId1"/>
          <a:stretch>
            <a:fillRect/>
          </a:stretch>
        </p:blipFill>
        <p:spPr>
          <a:xfrm>
            <a:off x="790956" y="1280160"/>
            <a:ext cx="10607040" cy="318211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CART: Recursive Splitting on Purity Gain</a:t>
            </a:r>
            <a:endParaRPr lang="en-US" sz="3000" dirty="0"/>
          </a:p>
        </p:txBody>
      </p:sp>
      <p:pic>
        <p:nvPicPr>
          <p:cNvPr id="4" name="Image 0" descr="/tmp/deck5/png/d2-decision-tree-mechanism.png">    </p:cNvPr>
          <p:cNvPicPr>
            <a:picLocks noChangeAspect="1"/>
          </p:cNvPicPr>
          <p:nvPr/>
        </p:nvPicPr>
        <p:blipFill>
          <a:blip r:embed="rId1"/>
          <a:stretch>
            <a:fillRect/>
          </a:stretch>
        </p:blipFill>
        <p:spPr>
          <a:xfrm>
            <a:off x="1065276" y="1280160"/>
            <a:ext cx="10058400" cy="432511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Bagging Reduces Variance, Boosting Reduces Bias</a:t>
            </a:r>
            <a:endParaRPr lang="en-US" sz="3000" dirty="0"/>
          </a:p>
        </p:txBody>
      </p:sp>
      <p:pic>
        <p:nvPicPr>
          <p:cNvPr id="4" name="Image 0" descr="/tmp/deck5/png/d3-bagging-boosting.png">    </p:cNvPr>
          <p:cNvPicPr>
            <a:picLocks noChangeAspect="1"/>
          </p:cNvPicPr>
          <p:nvPr/>
        </p:nvPicPr>
        <p:blipFill>
          <a:blip r:embed="rId1"/>
          <a:stretch>
            <a:fillRect/>
          </a:stretch>
        </p:blipFill>
        <p:spPr>
          <a:xfrm>
            <a:off x="1339596" y="1280160"/>
            <a:ext cx="9509760" cy="409651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k-NN and the Curse of Dimensionality</a:t>
            </a:r>
            <a:endParaRPr lang="en-US" sz="3000" dirty="0"/>
          </a:p>
        </p:txBody>
      </p:sp>
      <p:pic>
        <p:nvPicPr>
          <p:cNvPr id="4" name="Image 0" descr="/tmp/deck5/png/d4-knn-curse.png">    </p:cNvPr>
          <p:cNvPicPr>
            <a:picLocks noChangeAspect="1"/>
          </p:cNvPicPr>
          <p:nvPr/>
        </p:nvPicPr>
        <p:blipFill>
          <a:blip r:embed="rId1"/>
          <a:stretch>
            <a:fillRect/>
          </a:stretch>
        </p:blipFill>
        <p:spPr>
          <a:xfrm>
            <a:off x="1065276" y="1280160"/>
            <a:ext cx="10058400" cy="402336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REFERENCE ARCHITECTURE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Choosing an Algorithm Family with Cross-Validation</a:t>
            </a:r>
            <a:endParaRPr lang="en-US" sz="3000" dirty="0"/>
          </a:p>
        </p:txBody>
      </p:sp>
      <p:pic>
        <p:nvPicPr>
          <p:cNvPr id="4" name="Image 0" descr="/tmp/deck5/png/d5-reference-architecture.png">    </p:cNvPr>
          <p:cNvPicPr>
            <a:picLocks noChangeAspect="1"/>
          </p:cNvPicPr>
          <p:nvPr/>
        </p:nvPicPr>
        <p:blipFill>
          <a:blip r:embed="rId1"/>
          <a:stretch>
            <a:fillRect/>
          </a:stretch>
        </p:blipFill>
        <p:spPr>
          <a:xfrm>
            <a:off x="790956" y="1280160"/>
            <a:ext cx="10607040" cy="391363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COMPARISON &amp; RELATED CONCEPTS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Families, Side by Side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3291840"/>
        </p:xfrm>
        <a:graphic>
          <a:graphicData uri="http://schemas.openxmlformats.org/drawingml/2006/table">
            <a:tbl>
              <a:tblPr/>
              <a:tblGrid>
                <a:gridCol w="1947672"/>
                <a:gridCol w="2331720"/>
                <a:gridCol w="2331720"/>
                <a:gridCol w="2331720"/>
                <a:gridCol w="2331720"/>
              </a:tblGrid>
              <a:tr h="658368">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Linear / Logistic</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Decision Trees</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k-Nearest Neighbors</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Ensembles</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Bias-variance profile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High bias, low variance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Low bias, high variance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Tunable via k</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Bagging lowers variance; boosting lowers bias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Boundary shape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Straight line or plane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Axis-aligned rectangles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Irregular, local</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Finely stepped, near-arbitrary shape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Interpretability</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High: explicit weights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High if shallow; rule-like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Low: no explicit model</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Low: hundreds of trees combined</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Training cost</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Low to moderate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Near zero (expensive at query)</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Higher; sequential for boosting</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5074920"/>
            <a:ext cx="11274552" cy="640080"/>
          </a:xfrm>
          <a:prstGeom prst="rect">
            <a:avLst/>
          </a:prstGeom>
          <a:noFill/>
          <a:ln/>
        </p:spPr>
        <p:txBody>
          <a:bodyPr wrap="square" lIns="0" tIns="0" rIns="0" bIns="0" rtlCol="0" anchor="ctr"/>
          <a:lstStyle/>
          <a:p>
            <a:pPr indent="0" marL="0">
              <a:lnSpc>
                <a:spcPts val="1800"/>
              </a:lnSpc>
              <a:buNone/>
            </a:pPr>
            <a:r>
              <a:rPr lang="en-US" sz="1300" i="1" dirty="0">
                <a:solidFill>
                  <a:srgbClr val="898781"/>
                </a:solidFill>
                <a:latin typeface="Calibri" pitchFamily="34" charset="0"/>
                <a:ea typeface="Calibri" pitchFamily="34" charset="-122"/>
                <a:cs typeface="Calibri" pitchFamily="34" charset="-120"/>
              </a:rPr>
              <a:t>The decisive difference is where each family sits on the bias-variance spectrum from chapter 1.4, because that determines how it fails, not just how it succeeds.</a:t>
            </a:r>
            <a:endParaRPr lang="en-US" sz="1300" dirty="0"/>
          </a:p>
        </p:txBody>
      </p:sp>
      <p:sp>
        <p:nvSpPr>
          <p:cNvPr id="6" name="Text 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7" name="Text 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1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Finance</a:t>
            </a:r>
            <a:endParaRPr lang="en-US" sz="3000" dirty="0"/>
          </a:p>
        </p:txBody>
      </p:sp>
      <p:pic>
        <p:nvPicPr>
          <p:cNvPr id="4" name="Image 0" descr="/tmp/deck5/png/d6-usecases-financ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2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Healthcare</a:t>
            </a:r>
            <a:endParaRPr lang="en-US" sz="3000" dirty="0"/>
          </a:p>
        </p:txBody>
      </p:sp>
      <p:pic>
        <p:nvPicPr>
          <p:cNvPr id="4" name="Image 0" descr="/tmp/deck5/png/d7-usecases-healthcar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3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Telecom</a:t>
            </a:r>
            <a:endParaRPr lang="en-US" sz="3000" dirty="0"/>
          </a:p>
        </p:txBody>
      </p:sp>
      <p:pic>
        <p:nvPicPr>
          <p:cNvPr id="4" name="Image 0" descr="/tmp/deck5/png/d8-usecases-telecom.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DISCUSS AS A CLASS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Check Your Understanding</a:t>
            </a:r>
            <a:endParaRPr lang="en-US" sz="3000" dirty="0"/>
          </a:p>
        </p:txBody>
      </p:sp>
      <p:sp>
        <p:nvSpPr>
          <p:cNvPr id="4" name="Shape 2"/>
          <p:cNvSpPr/>
          <p:nvPr/>
        </p:nvSpPr>
        <p:spPr>
          <a:xfrm>
            <a:off x="457200" y="1508760"/>
            <a:ext cx="5486400" cy="1325880"/>
          </a:xfrm>
          <a:prstGeom prst="roundRect">
            <a:avLst>
              <a:gd name="adj" fmla="val 6897"/>
            </a:avLst>
          </a:prstGeom>
          <a:solidFill>
            <a:srgbClr val="F9F9F7"/>
          </a:solidFill>
          <a:ln w="12700">
            <a:solidFill>
              <a:srgbClr val="E1E0D9"/>
            </a:solidFill>
            <a:prstDash val="solid"/>
          </a:ln>
        </p:spPr>
      </p:sp>
      <p:sp>
        <p:nvSpPr>
          <p:cNvPr id="5" name="Shape 3"/>
          <p:cNvSpPr/>
          <p:nvPr/>
        </p:nvSpPr>
        <p:spPr>
          <a:xfrm>
            <a:off x="658368" y="1709928"/>
            <a:ext cx="384048" cy="384048"/>
          </a:xfrm>
          <a:prstGeom prst="ellipse">
            <a:avLst/>
          </a:prstGeom>
          <a:solidFill>
            <a:srgbClr val="2A78D6"/>
          </a:solidFill>
          <a:ln/>
        </p:spPr>
      </p:sp>
      <p:sp>
        <p:nvSpPr>
          <p:cNvPr id="6" name="Text 4"/>
          <p:cNvSpPr/>
          <p:nvPr/>
        </p:nvSpPr>
        <p:spPr>
          <a:xfrm>
            <a:off x="65836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188720" y="1618488"/>
            <a:ext cx="4526280" cy="1097280"/>
          </a:xfrm>
          <a:prstGeom prst="rect">
            <a:avLst/>
          </a:prstGeom>
          <a:noFill/>
          <a:ln/>
        </p:spPr>
        <p:txBody>
          <a:bodyPr wrap="square" lIns="0" tIns="0" rIns="0" bIns="0" rtlCol="0" anchor="ctr"/>
          <a:lstStyle/>
          <a:p>
            <a:pPr indent="0" marL="0">
              <a:lnSpc>
                <a:spcPts val="1400"/>
              </a:lnSpc>
              <a:buNone/>
            </a:pPr>
            <a:r>
              <a:rPr lang="en-US" sz="1150" dirty="0">
                <a:solidFill>
                  <a:srgbClr val="0B0B0B"/>
                </a:solidFill>
                <a:latin typeface="Calibri" pitchFamily="34" charset="0"/>
                <a:ea typeface="Calibri" pitchFamily="34" charset="-122"/>
                <a:cs typeface="Calibri" pitchFamily="34" charset="-120"/>
              </a:rPr>
              <a:t>Why does a single, unconstrained decision tree tend to have low bias but high variance, and how does bagging address that?</a:t>
            </a:r>
            <a:endParaRPr lang="en-US" sz="1150" dirty="0"/>
          </a:p>
        </p:txBody>
      </p:sp>
      <p:sp>
        <p:nvSpPr>
          <p:cNvPr id="8" name="Shape 6"/>
          <p:cNvSpPr/>
          <p:nvPr/>
        </p:nvSpPr>
        <p:spPr>
          <a:xfrm>
            <a:off x="6126480" y="1508760"/>
            <a:ext cx="5486400" cy="1325880"/>
          </a:xfrm>
          <a:prstGeom prst="roundRect">
            <a:avLst>
              <a:gd name="adj" fmla="val 6897"/>
            </a:avLst>
          </a:prstGeom>
          <a:solidFill>
            <a:srgbClr val="F9F9F7"/>
          </a:solidFill>
          <a:ln w="12700">
            <a:solidFill>
              <a:srgbClr val="E1E0D9"/>
            </a:solidFill>
            <a:prstDash val="solid"/>
          </a:ln>
        </p:spPr>
      </p:sp>
      <p:sp>
        <p:nvSpPr>
          <p:cNvPr id="9" name="Shape 7"/>
          <p:cNvSpPr/>
          <p:nvPr/>
        </p:nvSpPr>
        <p:spPr>
          <a:xfrm>
            <a:off x="6327648" y="1709928"/>
            <a:ext cx="384048" cy="384048"/>
          </a:xfrm>
          <a:prstGeom prst="ellipse">
            <a:avLst/>
          </a:prstGeom>
          <a:solidFill>
            <a:srgbClr val="2A78D6"/>
          </a:solidFill>
          <a:ln/>
        </p:spPr>
      </p:sp>
      <p:sp>
        <p:nvSpPr>
          <p:cNvPr id="10" name="Text 8"/>
          <p:cNvSpPr/>
          <p:nvPr/>
        </p:nvSpPr>
        <p:spPr>
          <a:xfrm>
            <a:off x="632764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6858000" y="1618488"/>
            <a:ext cx="4526280" cy="1097280"/>
          </a:xfrm>
          <a:prstGeom prst="rect">
            <a:avLst/>
          </a:prstGeom>
          <a:noFill/>
          <a:ln/>
        </p:spPr>
        <p:txBody>
          <a:bodyPr wrap="square" lIns="0" tIns="0" rIns="0" bIns="0" rtlCol="0" anchor="ctr"/>
          <a:lstStyle/>
          <a:p>
            <a:pPr indent="0" marL="0">
              <a:lnSpc>
                <a:spcPts val="1400"/>
              </a:lnSpc>
              <a:buNone/>
            </a:pPr>
            <a:r>
              <a:rPr lang="en-US" sz="1150" dirty="0">
                <a:solidFill>
                  <a:srgbClr val="0B0B0B"/>
                </a:solidFill>
                <a:latin typeface="Calibri" pitchFamily="34" charset="0"/>
                <a:ea typeface="Calibri" pitchFamily="34" charset="-122"/>
                <a:cs typeface="Calibri" pitchFamily="34" charset="-120"/>
              </a:rPr>
              <a:t>Why does gradient boosting reduce bias rather than variance?</a:t>
            </a:r>
            <a:endParaRPr lang="en-US" sz="1150" dirty="0"/>
          </a:p>
        </p:txBody>
      </p:sp>
      <p:sp>
        <p:nvSpPr>
          <p:cNvPr id="12" name="Shape 10"/>
          <p:cNvSpPr/>
          <p:nvPr/>
        </p:nvSpPr>
        <p:spPr>
          <a:xfrm>
            <a:off x="457200" y="2971800"/>
            <a:ext cx="5486400" cy="1325880"/>
          </a:xfrm>
          <a:prstGeom prst="roundRect">
            <a:avLst>
              <a:gd name="adj" fmla="val 6897"/>
            </a:avLst>
          </a:prstGeom>
          <a:solidFill>
            <a:srgbClr val="F9F9F7"/>
          </a:solidFill>
          <a:ln w="12700">
            <a:solidFill>
              <a:srgbClr val="E1E0D9"/>
            </a:solidFill>
            <a:prstDash val="solid"/>
          </a:ln>
        </p:spPr>
      </p:sp>
      <p:sp>
        <p:nvSpPr>
          <p:cNvPr id="13" name="Shape 11"/>
          <p:cNvSpPr/>
          <p:nvPr/>
        </p:nvSpPr>
        <p:spPr>
          <a:xfrm>
            <a:off x="658368" y="3172968"/>
            <a:ext cx="384048" cy="384048"/>
          </a:xfrm>
          <a:prstGeom prst="ellipse">
            <a:avLst/>
          </a:prstGeom>
          <a:solidFill>
            <a:srgbClr val="2A78D6"/>
          </a:solidFill>
          <a:ln/>
        </p:spPr>
      </p:sp>
      <p:sp>
        <p:nvSpPr>
          <p:cNvPr id="14" name="Text 12"/>
          <p:cNvSpPr/>
          <p:nvPr/>
        </p:nvSpPr>
        <p:spPr>
          <a:xfrm>
            <a:off x="65836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p:nvPr/>
        </p:nvSpPr>
        <p:spPr>
          <a:xfrm>
            <a:off x="1188720" y="3081528"/>
            <a:ext cx="4526280" cy="1097280"/>
          </a:xfrm>
          <a:prstGeom prst="rect">
            <a:avLst/>
          </a:prstGeom>
          <a:noFill/>
          <a:ln/>
        </p:spPr>
        <p:txBody>
          <a:bodyPr wrap="square" lIns="0" tIns="0" rIns="0" bIns="0" rtlCol="0" anchor="ctr"/>
          <a:lstStyle/>
          <a:p>
            <a:pPr indent="0" marL="0">
              <a:lnSpc>
                <a:spcPts val="1400"/>
              </a:lnSpc>
              <a:buNone/>
            </a:pPr>
            <a:r>
              <a:rPr lang="en-US" sz="1150" dirty="0">
                <a:solidFill>
                  <a:srgbClr val="0B0B0B"/>
                </a:solidFill>
                <a:latin typeface="Calibri" pitchFamily="34" charset="0"/>
                <a:ea typeface="Calibri" pitchFamily="34" charset="-122"/>
                <a:cs typeface="Calibri" pitchFamily="34" charset="-120"/>
              </a:rPr>
              <a:t>Why does k-NN performance degrade as the number of features grows, even when k is chosen well?</a:t>
            </a:r>
            <a:endParaRPr lang="en-US" sz="1150" dirty="0"/>
          </a:p>
        </p:txBody>
      </p:sp>
      <p:sp>
        <p:nvSpPr>
          <p:cNvPr id="16" name="Shape 14"/>
          <p:cNvSpPr/>
          <p:nvPr/>
        </p:nvSpPr>
        <p:spPr>
          <a:xfrm>
            <a:off x="6126480" y="2971800"/>
            <a:ext cx="5486400" cy="1325880"/>
          </a:xfrm>
          <a:prstGeom prst="roundRect">
            <a:avLst>
              <a:gd name="adj" fmla="val 6897"/>
            </a:avLst>
          </a:prstGeom>
          <a:solidFill>
            <a:srgbClr val="F9F9F7"/>
          </a:solidFill>
          <a:ln w="12700">
            <a:solidFill>
              <a:srgbClr val="E1E0D9"/>
            </a:solidFill>
            <a:prstDash val="solid"/>
          </a:ln>
        </p:spPr>
      </p:sp>
      <p:sp>
        <p:nvSpPr>
          <p:cNvPr id="17" name="Shape 15"/>
          <p:cNvSpPr/>
          <p:nvPr/>
        </p:nvSpPr>
        <p:spPr>
          <a:xfrm>
            <a:off x="6327648" y="3172968"/>
            <a:ext cx="384048" cy="384048"/>
          </a:xfrm>
          <a:prstGeom prst="ellipse">
            <a:avLst/>
          </a:prstGeom>
          <a:solidFill>
            <a:srgbClr val="2A78D6"/>
          </a:solidFill>
          <a:ln/>
        </p:spPr>
      </p:sp>
      <p:sp>
        <p:nvSpPr>
          <p:cNvPr id="18" name="Text 16"/>
          <p:cNvSpPr/>
          <p:nvPr/>
        </p:nvSpPr>
        <p:spPr>
          <a:xfrm>
            <a:off x="632764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9" name="Text 17"/>
          <p:cNvSpPr/>
          <p:nvPr/>
        </p:nvSpPr>
        <p:spPr>
          <a:xfrm>
            <a:off x="6858000" y="3081528"/>
            <a:ext cx="4526280" cy="1097280"/>
          </a:xfrm>
          <a:prstGeom prst="rect">
            <a:avLst/>
          </a:prstGeom>
          <a:noFill/>
          <a:ln/>
        </p:spPr>
        <p:txBody>
          <a:bodyPr wrap="square" lIns="0" tIns="0" rIns="0" bIns="0" rtlCol="0" anchor="ctr"/>
          <a:lstStyle/>
          <a:p>
            <a:pPr indent="0" marL="0">
              <a:lnSpc>
                <a:spcPts val="1400"/>
              </a:lnSpc>
              <a:buNone/>
            </a:pPr>
            <a:r>
              <a:rPr lang="en-US" sz="1150" dirty="0">
                <a:solidFill>
                  <a:srgbClr val="0B0B0B"/>
                </a:solidFill>
                <a:latin typeface="Calibri" pitchFamily="34" charset="0"/>
                <a:ea typeface="Calibri" pitchFamily="34" charset="-122"/>
                <a:cs typeface="Calibri" pitchFamily="34" charset="-120"/>
              </a:rPr>
              <a:t>A regulator requires that a credit decision be explainable in terms of which specific factors drove it. Which algorithm family is the safest default, and why?</a:t>
            </a:r>
            <a:endParaRPr lang="en-US" sz="1150" dirty="0"/>
          </a:p>
        </p:txBody>
      </p:sp>
      <p:sp>
        <p:nvSpPr>
          <p:cNvPr id="20" name="Shape 18"/>
          <p:cNvSpPr/>
          <p:nvPr/>
        </p:nvSpPr>
        <p:spPr>
          <a:xfrm>
            <a:off x="457200" y="4434840"/>
            <a:ext cx="11274552" cy="1325880"/>
          </a:xfrm>
          <a:prstGeom prst="roundRect">
            <a:avLst>
              <a:gd name="adj" fmla="val 6897"/>
            </a:avLst>
          </a:prstGeom>
          <a:solidFill>
            <a:srgbClr val="F9F9F7"/>
          </a:solidFill>
          <a:ln w="12700">
            <a:solidFill>
              <a:srgbClr val="E1E0D9"/>
            </a:solidFill>
            <a:prstDash val="solid"/>
          </a:ln>
        </p:spPr>
      </p:sp>
      <p:sp>
        <p:nvSpPr>
          <p:cNvPr id="21" name="Shape 19"/>
          <p:cNvSpPr/>
          <p:nvPr/>
        </p:nvSpPr>
        <p:spPr>
          <a:xfrm>
            <a:off x="658368" y="4636008"/>
            <a:ext cx="384048" cy="384048"/>
          </a:xfrm>
          <a:prstGeom prst="ellipse">
            <a:avLst/>
          </a:prstGeom>
          <a:solidFill>
            <a:srgbClr val="2A78D6"/>
          </a:solidFill>
          <a:ln/>
        </p:spPr>
      </p:sp>
      <p:sp>
        <p:nvSpPr>
          <p:cNvPr id="22" name="Text 20"/>
          <p:cNvSpPr/>
          <p:nvPr/>
        </p:nvSpPr>
        <p:spPr>
          <a:xfrm>
            <a:off x="658368" y="4636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3" name="Text 21"/>
          <p:cNvSpPr/>
          <p:nvPr/>
        </p:nvSpPr>
        <p:spPr>
          <a:xfrm>
            <a:off x="1188720" y="4544568"/>
            <a:ext cx="10314432" cy="1097280"/>
          </a:xfrm>
          <a:prstGeom prst="rect">
            <a:avLst/>
          </a:prstGeom>
          <a:noFill/>
          <a:ln/>
        </p:spPr>
        <p:txBody>
          <a:bodyPr wrap="square" lIns="0" tIns="0" rIns="0" bIns="0" rtlCol="0" anchor="ctr"/>
          <a:lstStyle/>
          <a:p>
            <a:pPr indent="0" marL="0">
              <a:lnSpc>
                <a:spcPts val="1400"/>
              </a:lnSpc>
              <a:buNone/>
            </a:pPr>
            <a:r>
              <a:rPr lang="en-US" sz="1150" dirty="0">
                <a:solidFill>
                  <a:srgbClr val="0B0B0B"/>
                </a:solidFill>
                <a:latin typeface="Calibri" pitchFamily="34" charset="0"/>
                <a:ea typeface="Calibri" pitchFamily="34" charset="-122"/>
                <a:cs typeface="Calibri" pitchFamily="34" charset="-120"/>
              </a:rPr>
              <a:t>Naive Bayes assumes features are conditionally independent given the class, which is almost always false. Why does the algorithm still work well?</a:t>
            </a:r>
            <a:endParaRPr lang="en-US" sz="1150" dirty="0"/>
          </a:p>
        </p:txBody>
      </p:sp>
      <p:sp>
        <p:nvSpPr>
          <p:cNvPr id="24" name="Text 22"/>
          <p:cNvSpPr/>
          <p:nvPr/>
        </p:nvSpPr>
        <p:spPr>
          <a:xfrm>
            <a:off x="457200" y="594360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Answers are in the speaker notes for this slide.</a:t>
            </a:r>
            <a:endParaRPr lang="en-US" sz="120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27" name="Text 2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5"/>
        </a:solidFill>
      </p:bgPr>
    </p:bg>
    <p:spTree>
      <p:nvGrpSpPr>
        <p:cNvPr id="1" name=""/>
        <p:cNvGrpSpPr/>
        <p:nvPr/>
      </p:nvGrpSpPr>
      <p:grpSpPr>
        <a:xfrm>
          <a:off x="0" y="0"/>
          <a:ext cx="0" cy="0"/>
          <a:chOff x="0" y="0"/>
          <a:chExt cx="0" cy="0"/>
        </a:xfrm>
      </p:grpSpPr>
      <p:pic>
        <p:nvPicPr>
          <p:cNvPr id="2" name="Image 0" descr="/tmp/deck5/png/d0-title-motif.png">    </p:cNvPr>
          <p:cNvPicPr>
            <a:picLocks noChangeAspect="1"/>
          </p:cNvPicPr>
          <p:nvPr/>
        </p:nvPicPr>
        <p:blipFill>
          <a:blip r:embed="rId1">
            <a:alphaModFix amt="85000"/>
          </a:blip>
          <a:stretch>
            <a:fillRect/>
          </a:stretch>
        </p:blipFill>
        <p:spPr>
          <a:xfrm>
            <a:off x="8595360" y="2103120"/>
            <a:ext cx="3840480" cy="3840480"/>
          </a:xfrm>
          <a:prstGeom prst="rect">
            <a:avLst/>
          </a:prstGeom>
        </p:spPr>
      </p:pic>
      <p:sp>
        <p:nvSpPr>
          <p:cNvPr id="3"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SUMMARY</a:t>
            </a:r>
            <a:endParaRPr lang="en-US" sz="1200" dirty="0"/>
          </a:p>
        </p:txBody>
      </p:sp>
      <p:sp>
        <p:nvSpPr>
          <p:cNvPr id="4" name="Text 1"/>
          <p:cNvSpPr/>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2"/>
          <p:cNvSpPr/>
          <p:nvPr/>
        </p:nvSpPr>
        <p:spPr>
          <a:xfrm>
            <a:off x="548640" y="1719072"/>
            <a:ext cx="292608" cy="292608"/>
          </a:xfrm>
          <a:prstGeom prst="ellipse">
            <a:avLst/>
          </a:prstGeom>
          <a:solidFill>
            <a:srgbClr val="2A78D6"/>
          </a:solidFill>
          <a:ln/>
        </p:spPr>
      </p:sp>
      <p:sp>
        <p:nvSpPr>
          <p:cNvPr id="6" name="Text 3"/>
          <p:cNvSpPr/>
          <p:nvPr/>
        </p:nvSpPr>
        <p:spPr>
          <a:xfrm>
            <a:off x="548640" y="171907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1005840" y="169164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Inductive bias is the core idea: every family assumes a different shape for the input-output relationship.</a:t>
            </a:r>
            <a:endParaRPr lang="en-US" sz="1400" dirty="0"/>
          </a:p>
        </p:txBody>
      </p:sp>
      <p:sp>
        <p:nvSpPr>
          <p:cNvPr id="8" name="Shape 5"/>
          <p:cNvSpPr/>
          <p:nvPr/>
        </p:nvSpPr>
        <p:spPr>
          <a:xfrm>
            <a:off x="548640" y="2587752"/>
            <a:ext cx="292608" cy="292608"/>
          </a:xfrm>
          <a:prstGeom prst="ellipse">
            <a:avLst/>
          </a:prstGeom>
          <a:solidFill>
            <a:srgbClr val="2A78D6"/>
          </a:solidFill>
          <a:ln/>
        </p:spPr>
      </p:sp>
      <p:sp>
        <p:nvSpPr>
          <p:cNvPr id="9" name="Text 6"/>
          <p:cNvSpPr/>
          <p:nvPr/>
        </p:nvSpPr>
        <p:spPr>
          <a:xfrm>
            <a:off x="548640" y="2587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1005840" y="256032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Linear models trade flexibility for stability and explicit, traceable feature contributions.</a:t>
            </a:r>
            <a:endParaRPr lang="en-US" sz="1400" dirty="0"/>
          </a:p>
        </p:txBody>
      </p:sp>
      <p:sp>
        <p:nvSpPr>
          <p:cNvPr id="11" name="Shape 8"/>
          <p:cNvSpPr/>
          <p:nvPr/>
        </p:nvSpPr>
        <p:spPr>
          <a:xfrm>
            <a:off x="548640" y="3456432"/>
            <a:ext cx="292608" cy="292608"/>
          </a:xfrm>
          <a:prstGeom prst="ellipse">
            <a:avLst/>
          </a:prstGeom>
          <a:solidFill>
            <a:srgbClr val="2A78D6"/>
          </a:solidFill>
          <a:ln/>
        </p:spPr>
      </p:sp>
      <p:sp>
        <p:nvSpPr>
          <p:cNvPr id="12" name="Text 9"/>
          <p:cNvSpPr/>
          <p:nvPr/>
        </p:nvSpPr>
        <p:spPr>
          <a:xfrm>
            <a:off x="548640" y="3456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005840" y="342900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Decision trees are flexible but unstable alone; bagging cancels variance, boosting cancels bias.</a:t>
            </a:r>
            <a:endParaRPr lang="en-US" sz="1400" dirty="0"/>
          </a:p>
        </p:txBody>
      </p:sp>
      <p:sp>
        <p:nvSpPr>
          <p:cNvPr id="14" name="Shape 11"/>
          <p:cNvSpPr/>
          <p:nvPr/>
        </p:nvSpPr>
        <p:spPr>
          <a:xfrm>
            <a:off x="548640" y="4325112"/>
            <a:ext cx="292608" cy="292608"/>
          </a:xfrm>
          <a:prstGeom prst="ellipse">
            <a:avLst/>
          </a:prstGeom>
          <a:solidFill>
            <a:srgbClr val="2A78D6"/>
          </a:solidFill>
          <a:ln/>
        </p:spPr>
      </p:sp>
      <p:sp>
        <p:nvSpPr>
          <p:cNvPr id="15" name="Text 12"/>
          <p:cNvSpPr/>
          <p:nvPr/>
        </p:nvSpPr>
        <p:spPr>
          <a:xfrm>
            <a:off x="548640" y="432511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005840" y="429768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k-NN needs no training but degrades sharply as dimensionality grows: the curse of dimensionality.</a:t>
            </a:r>
            <a:endParaRPr lang="en-US" sz="1400" dirty="0"/>
          </a:p>
        </p:txBody>
      </p:sp>
      <p:sp>
        <p:nvSpPr>
          <p:cNvPr id="17" name="Shape 14"/>
          <p:cNvSpPr/>
          <p:nvPr/>
        </p:nvSpPr>
        <p:spPr>
          <a:xfrm>
            <a:off x="548640" y="5193792"/>
            <a:ext cx="292608" cy="292608"/>
          </a:xfrm>
          <a:prstGeom prst="ellipse">
            <a:avLst/>
          </a:prstGeom>
          <a:solidFill>
            <a:srgbClr val="2A78D6"/>
          </a:solidFill>
          <a:ln/>
        </p:spPr>
      </p:sp>
      <p:sp>
        <p:nvSpPr>
          <p:cNvPr id="18" name="Text 15"/>
          <p:cNvSpPr/>
          <p:nvPr/>
        </p:nvSpPr>
        <p:spPr>
          <a:xfrm>
            <a:off x="548640" y="51937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1005840" y="516636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Choosing a family is a cross-validated comparison (chapter 1.4), not a single-split guess.</a:t>
            </a:r>
            <a:endParaRPr lang="en-US" sz="14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21" name="Text 1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FURTHER READING</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Sources Cited in This Chapter</a:t>
            </a:r>
            <a:endParaRPr lang="en-US" sz="3000" dirty="0"/>
          </a:p>
        </p:txBody>
      </p:sp>
      <p:sp>
        <p:nvSpPr>
          <p:cNvPr id="4" name="Shape 2"/>
          <p:cNvSpPr/>
          <p:nvPr/>
        </p:nvSpPr>
        <p:spPr>
          <a:xfrm>
            <a:off x="457200" y="1472184"/>
            <a:ext cx="146304" cy="146304"/>
          </a:xfrm>
          <a:prstGeom prst="ellipse">
            <a:avLst/>
          </a:prstGeom>
          <a:solidFill>
            <a:srgbClr val="2A78D6"/>
          </a:solidFill>
          <a:ln/>
        </p:spPr>
      </p:sp>
      <p:sp>
        <p:nvSpPr>
          <p:cNvPr id="5" name="Text 3"/>
          <p:cNvSpPr/>
          <p:nvPr/>
        </p:nvSpPr>
        <p:spPr>
          <a:xfrm>
            <a:off x="777240" y="1417320"/>
            <a:ext cx="10332720" cy="310896"/>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Breiman, Friedman, Olshen &amp; Stone, Classification and Regression Trees</a:t>
            </a:r>
            <a:endParaRPr lang="en-US" sz="1350" dirty="0"/>
          </a:p>
        </p:txBody>
      </p:sp>
      <p:sp>
        <p:nvSpPr>
          <p:cNvPr id="6" name="Text 4"/>
          <p:cNvSpPr/>
          <p:nvPr/>
        </p:nvSpPr>
        <p:spPr>
          <a:xfrm>
            <a:off x="777240" y="1700784"/>
            <a:ext cx="10332720"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Wadsworth, 1984</a:t>
            </a:r>
            <a:endParaRPr lang="en-US" sz="1100" dirty="0"/>
          </a:p>
        </p:txBody>
      </p:sp>
      <p:sp>
        <p:nvSpPr>
          <p:cNvPr id="7" name="Shape 5"/>
          <p:cNvSpPr/>
          <p:nvPr/>
        </p:nvSpPr>
        <p:spPr>
          <a:xfrm>
            <a:off x="457200" y="2130552"/>
            <a:ext cx="146304" cy="146304"/>
          </a:xfrm>
          <a:prstGeom prst="ellipse">
            <a:avLst/>
          </a:prstGeom>
          <a:solidFill>
            <a:srgbClr val="2A78D6"/>
          </a:solidFill>
          <a:ln/>
        </p:spPr>
      </p:sp>
      <p:sp>
        <p:nvSpPr>
          <p:cNvPr id="8" name="Text 6"/>
          <p:cNvSpPr/>
          <p:nvPr/>
        </p:nvSpPr>
        <p:spPr>
          <a:xfrm>
            <a:off x="777240" y="2075688"/>
            <a:ext cx="10332720" cy="310896"/>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Breiman, Random Forests</a:t>
            </a:r>
            <a:endParaRPr lang="en-US" sz="1350" dirty="0"/>
          </a:p>
        </p:txBody>
      </p:sp>
      <p:sp>
        <p:nvSpPr>
          <p:cNvPr id="9" name="Text 7"/>
          <p:cNvSpPr/>
          <p:nvPr/>
        </p:nvSpPr>
        <p:spPr>
          <a:xfrm>
            <a:off x="777240" y="2359152"/>
            <a:ext cx="10332720"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Machine Learning, 2001</a:t>
            </a:r>
            <a:endParaRPr lang="en-US" sz="1100" dirty="0"/>
          </a:p>
        </p:txBody>
      </p:sp>
      <p:sp>
        <p:nvSpPr>
          <p:cNvPr id="10" name="Shape 8"/>
          <p:cNvSpPr/>
          <p:nvPr/>
        </p:nvSpPr>
        <p:spPr>
          <a:xfrm>
            <a:off x="457200" y="2788920"/>
            <a:ext cx="146304" cy="146304"/>
          </a:xfrm>
          <a:prstGeom prst="ellipse">
            <a:avLst/>
          </a:prstGeom>
          <a:solidFill>
            <a:srgbClr val="2A78D6"/>
          </a:solidFill>
          <a:ln/>
        </p:spPr>
      </p:sp>
      <p:sp>
        <p:nvSpPr>
          <p:cNvPr id="11" name="Text 9"/>
          <p:cNvSpPr/>
          <p:nvPr/>
        </p:nvSpPr>
        <p:spPr>
          <a:xfrm>
            <a:off x="777240" y="2734056"/>
            <a:ext cx="10332720" cy="310896"/>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Friedman, Greedy Function Approximation: A Gradient Boosting Machine</a:t>
            </a:r>
            <a:endParaRPr lang="en-US" sz="1350" dirty="0"/>
          </a:p>
        </p:txBody>
      </p:sp>
      <p:sp>
        <p:nvSpPr>
          <p:cNvPr id="12" name="Text 10"/>
          <p:cNvSpPr/>
          <p:nvPr/>
        </p:nvSpPr>
        <p:spPr>
          <a:xfrm>
            <a:off x="777240" y="3017520"/>
            <a:ext cx="10332720"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Annals of Statistics, 2001</a:t>
            </a:r>
            <a:endParaRPr lang="en-US" sz="1100" dirty="0"/>
          </a:p>
        </p:txBody>
      </p:sp>
      <p:sp>
        <p:nvSpPr>
          <p:cNvPr id="13" name="Shape 11"/>
          <p:cNvSpPr/>
          <p:nvPr/>
        </p:nvSpPr>
        <p:spPr>
          <a:xfrm>
            <a:off x="457200" y="3447288"/>
            <a:ext cx="146304" cy="146304"/>
          </a:xfrm>
          <a:prstGeom prst="ellipse">
            <a:avLst/>
          </a:prstGeom>
          <a:solidFill>
            <a:srgbClr val="2A78D6"/>
          </a:solidFill>
          <a:ln/>
        </p:spPr>
      </p:sp>
      <p:sp>
        <p:nvSpPr>
          <p:cNvPr id="14" name="Text 12"/>
          <p:cNvSpPr/>
          <p:nvPr/>
        </p:nvSpPr>
        <p:spPr>
          <a:xfrm>
            <a:off x="777240" y="3392424"/>
            <a:ext cx="10332720" cy="310896"/>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Freund &amp; Schapire, A Decision-Theoretic Generalization of On-Line Learning and an Application to Boosting</a:t>
            </a:r>
            <a:endParaRPr lang="en-US" sz="1350" dirty="0"/>
          </a:p>
        </p:txBody>
      </p:sp>
      <p:sp>
        <p:nvSpPr>
          <p:cNvPr id="15" name="Text 13"/>
          <p:cNvSpPr/>
          <p:nvPr/>
        </p:nvSpPr>
        <p:spPr>
          <a:xfrm>
            <a:off x="777240" y="3675888"/>
            <a:ext cx="10332720"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J. Computer and System Sciences, 1997</a:t>
            </a:r>
            <a:endParaRPr lang="en-US" sz="1100" dirty="0"/>
          </a:p>
        </p:txBody>
      </p:sp>
      <p:sp>
        <p:nvSpPr>
          <p:cNvPr id="16" name="Shape 14"/>
          <p:cNvSpPr/>
          <p:nvPr/>
        </p:nvSpPr>
        <p:spPr>
          <a:xfrm>
            <a:off x="457200" y="4105656"/>
            <a:ext cx="146304" cy="146304"/>
          </a:xfrm>
          <a:prstGeom prst="ellipse">
            <a:avLst/>
          </a:prstGeom>
          <a:solidFill>
            <a:srgbClr val="2A78D6"/>
          </a:solidFill>
          <a:ln/>
        </p:spPr>
      </p:sp>
      <p:sp>
        <p:nvSpPr>
          <p:cNvPr id="17" name="Text 15"/>
          <p:cNvSpPr/>
          <p:nvPr/>
        </p:nvSpPr>
        <p:spPr>
          <a:xfrm>
            <a:off x="777240" y="4050792"/>
            <a:ext cx="10332720" cy="310896"/>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Cover &amp; Hart, Nearest Neighbor Pattern Classification</a:t>
            </a:r>
            <a:endParaRPr lang="en-US" sz="1350" dirty="0"/>
          </a:p>
        </p:txBody>
      </p:sp>
      <p:sp>
        <p:nvSpPr>
          <p:cNvPr id="18" name="Text 16"/>
          <p:cNvSpPr/>
          <p:nvPr/>
        </p:nvSpPr>
        <p:spPr>
          <a:xfrm>
            <a:off x="777240" y="4334256"/>
            <a:ext cx="10332720"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IEEE Trans. Information Theory, 1967</a:t>
            </a:r>
            <a:endParaRPr lang="en-US" sz="1100" dirty="0"/>
          </a:p>
        </p:txBody>
      </p:sp>
      <p:sp>
        <p:nvSpPr>
          <p:cNvPr id="19" name="Shape 17"/>
          <p:cNvSpPr/>
          <p:nvPr/>
        </p:nvSpPr>
        <p:spPr>
          <a:xfrm>
            <a:off x="457200" y="4764024"/>
            <a:ext cx="146304" cy="146304"/>
          </a:xfrm>
          <a:prstGeom prst="ellipse">
            <a:avLst/>
          </a:prstGeom>
          <a:solidFill>
            <a:srgbClr val="2A78D6"/>
          </a:solidFill>
          <a:ln/>
        </p:spPr>
      </p:sp>
      <p:sp>
        <p:nvSpPr>
          <p:cNvPr id="20" name="Text 18"/>
          <p:cNvSpPr/>
          <p:nvPr/>
        </p:nvSpPr>
        <p:spPr>
          <a:xfrm>
            <a:off x="777240" y="4709160"/>
            <a:ext cx="10332720" cy="310896"/>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Cortes &amp; Vapnik, Support-Vector Networks</a:t>
            </a:r>
            <a:endParaRPr lang="en-US" sz="1350" dirty="0"/>
          </a:p>
        </p:txBody>
      </p:sp>
      <p:sp>
        <p:nvSpPr>
          <p:cNvPr id="21" name="Text 19"/>
          <p:cNvSpPr/>
          <p:nvPr/>
        </p:nvSpPr>
        <p:spPr>
          <a:xfrm>
            <a:off x="777240" y="4992624"/>
            <a:ext cx="10332720"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Machine Learning, 1995</a:t>
            </a:r>
            <a:endParaRPr lang="en-US" sz="1100" dirty="0"/>
          </a:p>
        </p:txBody>
      </p:sp>
      <p:sp>
        <p:nvSpPr>
          <p:cNvPr id="22" name="Shape 20"/>
          <p:cNvSpPr/>
          <p:nvPr/>
        </p:nvSpPr>
        <p:spPr>
          <a:xfrm>
            <a:off x="457200" y="5422392"/>
            <a:ext cx="146304" cy="146304"/>
          </a:xfrm>
          <a:prstGeom prst="ellipse">
            <a:avLst/>
          </a:prstGeom>
          <a:solidFill>
            <a:srgbClr val="2A78D6"/>
          </a:solidFill>
          <a:ln/>
        </p:spPr>
      </p:sp>
      <p:sp>
        <p:nvSpPr>
          <p:cNvPr id="23" name="Text 21"/>
          <p:cNvSpPr/>
          <p:nvPr/>
        </p:nvSpPr>
        <p:spPr>
          <a:xfrm>
            <a:off x="777240" y="5367528"/>
            <a:ext cx="10332720" cy="310896"/>
          </a:xfrm>
          <a:prstGeom prst="rect">
            <a:avLst/>
          </a:prstGeom>
          <a:noFill/>
          <a:ln/>
        </p:spPr>
        <p:txBody>
          <a:bodyPr wrap="square" lIns="0" tIns="0" rIns="0" bIns="0" rtlCol="0" anchor="ctr"/>
          <a:lstStyle/>
          <a:p>
            <a:pPr indent="0" marL="0">
              <a:buNone/>
            </a:pPr>
            <a:r>
              <a:rPr lang="en-US" sz="1350" b="1" dirty="0">
                <a:solidFill>
                  <a:srgbClr val="0B0B0B"/>
                </a:solidFill>
                <a:latin typeface="Calibri" pitchFamily="34" charset="0"/>
                <a:ea typeface="Calibri" pitchFamily="34" charset="-122"/>
                <a:cs typeface="Calibri" pitchFamily="34" charset="-120"/>
              </a:rPr>
              <a:t>Chapter 1.4</a:t>
            </a:r>
            <a:endParaRPr lang="en-US" sz="1350" dirty="0"/>
          </a:p>
        </p:txBody>
      </p:sp>
      <p:sp>
        <p:nvSpPr>
          <p:cNvPr id="24" name="Text 22"/>
          <p:cNvSpPr/>
          <p:nvPr/>
        </p:nvSpPr>
        <p:spPr>
          <a:xfrm>
            <a:off x="777240" y="5650992"/>
            <a:ext cx="10332720"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docs/01-ai-ml-foundations/1-4-core-ml-concepts.mdx</a:t>
            </a:r>
            <a:endParaRPr lang="en-US" sz="1100" dirty="0"/>
          </a:p>
        </p:txBody>
      </p:sp>
      <p:sp>
        <p:nvSpPr>
          <p:cNvPr id="25" name="Text 23"/>
          <p:cNvSpPr/>
          <p:nvPr/>
        </p:nvSpPr>
        <p:spPr>
          <a:xfrm>
            <a:off x="457200" y="630936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Full chapter with inline links: docs/01-ai-ml-foundations/1-5-classical-ml-algorithms.mdx</a:t>
            </a:r>
            <a:endParaRPr lang="en-US" sz="1200" dirty="0"/>
          </a:p>
        </p:txBody>
      </p:sp>
      <p:sp>
        <p:nvSpPr>
          <p:cNvPr id="26" name="Text 24"/>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1.5  |  Phase 1 - AI &amp; Machine Learning Foundations</a:t>
            </a:r>
            <a:endParaRPr lang="en-US" sz="1000" dirty="0"/>
          </a:p>
        </p:txBody>
      </p:sp>
      <p:sp>
        <p:nvSpPr>
          <p:cNvPr id="27" name="Text 25"/>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2026-08-19T21:56:39Z</dcterms:created>
  <dcterms:modified xsi:type="dcterms:W3CDTF">2026-08-19T21:56:39Z</dcterms:modified>
</cp:coreProperties>
</file>