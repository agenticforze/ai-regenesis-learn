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What does the dot product of two vectors measure, and why does cosine similarity divide it by the vectors' lengths?
A1: The dot product is large when two vectors point in similar directions but its value also grows with each vector's magnitude. Cosine similarity divides by both vectors' lengths so it measures direction alone, which is why it is used to compare embeddings regardless of length.
Q2: In the rare-disease diagnostic test example, why can a 99% sensitive, 99% specific test still produce mostly false positives?
A2: When the condition is rare, the low prior means even a small false-positive rate applied to the much larger healthy population produces more false positives than true positives from the small sick population. Bayes' theorem, which weights the test's accuracy by the prior, gives the correct post-test probability.
Q3: What is the difference between a p-value and a confidence interval, and what does a small p-value fail to guarantee?
A3: A p-value is the probability of seeing a difference at least this extreme if there were truly no effect; a confidence interval gives a range of plausible values for the actual effect size. A small p-value shows evidence against "no difference," but does not guarantee the effect is large or practically meaningful.
Q4: In one step of gradient descent, what does the gradient tell you, and what happens if the learning rate is too high?
A4: The gradient points in the direction of steepest increase in the loss, so gradient descent steps in the opposite direction. If the learning rate is too high, each step overshoots and the loss can oscillate or diverge instead of decreasing.
Q5: Why does it matter whether a loss surface is convex or non-convex?
A5: A convex loss surface has exactly one minimum, so gradient descent is guaranteed to reach it regardless of starting point. A non-convex surface can have many local minima and saddle points, so the starting point, regularization, and optimizer choice all affect where training ends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8/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1.8</a:t>
            </a:r>
            <a:endParaRPr lang="en-US" sz="1200" dirty="0"/>
          </a:p>
        </p:txBody>
      </p:sp>
      <p:sp>
        <p:nvSpPr>
          <p:cNvPr id="6" name="Text 3"/>
          <p:cNvSpPr/>
          <p:nvPr/>
        </p:nvSpPr>
        <p:spPr>
          <a:xfrm>
            <a:off x="594360" y="1920240"/>
            <a:ext cx="9601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Math Refresher</a:t>
            </a:r>
            <a:endParaRPr lang="en-US" sz="4400" dirty="0"/>
          </a:p>
        </p:txBody>
      </p:sp>
      <p:sp>
        <p:nvSpPr>
          <p:cNvPr id="7" name="Text 4"/>
          <p:cNvSpPr/>
          <p:nvPr/>
        </p:nvSpPr>
        <p:spPr>
          <a:xfrm>
            <a:off x="640080" y="2880360"/>
            <a:ext cx="8686800" cy="822960"/>
          </a:xfrm>
          <a:prstGeom prst="rect">
            <a:avLst/>
          </a:prstGeom>
          <a:noFill/>
          <a:ln/>
        </p:spPr>
        <p:txBody>
          <a:bodyPr wrap="square" lIns="0" tIns="0" rIns="0" bIns="0" rtlCol="0" anchor="ctr"/>
          <a:lstStyle/>
          <a:p>
            <a:pPr indent="0" marL="0">
              <a:lnSpc>
                <a:spcPts val="2400"/>
              </a:lnSpc>
              <a:buNone/>
            </a:pPr>
            <a:r>
              <a:rPr lang="en-US" sz="2000" dirty="0">
                <a:solidFill>
                  <a:srgbClr val="CDE2FB"/>
                </a:solidFill>
                <a:latin typeface="Calibri" pitchFamily="34" charset="0"/>
                <a:ea typeface="Calibri" pitchFamily="34" charset="-122"/>
                <a:cs typeface="Calibri" pitchFamily="34" charset="-120"/>
              </a:rPr>
              <a:t>Linear Algebra, Probability, Statistics, and Optimization</a:t>
            </a:r>
            <a:endParaRPr lang="en-US" sz="20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the four math areas doing the work behind every model in this curriculum, and just enough of each to recognize a suspicious result.</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docs/01-ai-ml-foundations/1-8-math-refresher.mdx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Linear algebra</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Vectors, matrices, and the dot product behind every prediction</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Probability</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Bayes' theorem and why the prior matters more than it seems</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Statistics</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p-values, confidence intervals, and deciding if a result is real</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Optimization</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Gradient descent, the learning rate, and convexity</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reference architecture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Where each math area does its work in a training loop</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Four different jobs in the same pipeline</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Tools, One Pipeline</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188720"/>
          </a:xfrm>
          <a:prstGeom prst="rect">
            <a:avLst/>
          </a:prstGeom>
          <a:noFill/>
          <a:ln/>
        </p:spPr>
        <p:txBody>
          <a:bodyPr wrap="square" lIns="0" tIns="0" rIns="0" bIns="0" rtlCol="0" anchor="ctr"/>
          <a:lstStyle/>
          <a:p>
            <a:pPr indent="0" marL="0">
              <a:lnSpc>
                <a:spcPts val="2500"/>
              </a:lnSpc>
              <a:buNone/>
            </a:pPr>
            <a:r>
              <a:rPr lang="en-US" sz="1900" i="1" dirty="0">
                <a:solidFill>
                  <a:srgbClr val="104281"/>
                </a:solidFill>
                <a:latin typeface="Cambria" pitchFamily="34" charset="0"/>
                <a:ea typeface="Cambria" pitchFamily="34" charset="-122"/>
                <a:cs typeface="Cambria" pitchFamily="34" charset="-120"/>
              </a:rPr>
              <a:t>Linear algebra is the language a model's inputs and parameters are written in. Probability is how a model expresses uncertainty. Statistics is how a practitioner decides whether a result is real. Optimization is how a model actually learns.</a:t>
            </a:r>
            <a:endParaRPr lang="en-US" sz="1900" dirty="0"/>
          </a:p>
        </p:txBody>
      </p:sp>
      <p:sp>
        <p:nvSpPr>
          <p:cNvPr id="6" name="Text 4"/>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7" name="Text 5"/>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None of this requires proving theorems; it requires knowing what each tool is for well enough to recognize when a result is suspicious.</a:t>
            </a:r>
            <a:endParaRPr lang="en-US" sz="1500" dirty="0"/>
          </a:p>
        </p:txBody>
      </p:sp>
      <p:sp>
        <p:nvSpPr>
          <p:cNvPr id="8" name="Text 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9" name="Text 7"/>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Math Areas, One Training Loop</a:t>
            </a:r>
            <a:endParaRPr lang="en-US" sz="3000" dirty="0"/>
          </a:p>
        </p:txBody>
      </p:sp>
      <p:pic>
        <p:nvPicPr>
          <p:cNvPr id="4" name="Image 0" descr="/tmp/deck8/png/d1-math-pipeline.png">    </p:cNvPr>
          <p:cNvPicPr>
            <a:picLocks noChangeAspect="1"/>
          </p:cNvPicPr>
          <p:nvPr/>
        </p:nvPicPr>
        <p:blipFill>
          <a:blip r:embed="rId1"/>
          <a:stretch>
            <a:fillRect/>
          </a:stretch>
        </p:blipFill>
        <p:spPr>
          <a:xfrm>
            <a:off x="1065276" y="1280160"/>
            <a:ext cx="10058400" cy="4645152"/>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Dot Product and Cosine Similarity</a:t>
            </a:r>
            <a:endParaRPr lang="en-US" sz="3000" dirty="0"/>
          </a:p>
        </p:txBody>
      </p:sp>
      <p:pic>
        <p:nvPicPr>
          <p:cNvPr id="4" name="Image 0" descr="/tmp/deck8/png/d2-dot-product-cosine.png">    </p:cNvPr>
          <p:cNvPicPr>
            <a:picLocks noChangeAspect="1"/>
          </p:cNvPicPr>
          <p:nvPr/>
        </p:nvPicPr>
        <p:blipFill>
          <a:blip r:embed="rId1"/>
          <a:stretch>
            <a:fillRect/>
          </a:stretch>
        </p:blipFill>
        <p:spPr>
          <a:xfrm>
            <a:off x="1065276" y="1280160"/>
            <a:ext cx="10058400" cy="4334256"/>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Bayes' Theorem: Why the Prior Matters</a:t>
            </a:r>
            <a:endParaRPr lang="en-US" sz="3000" dirty="0"/>
          </a:p>
        </p:txBody>
      </p:sp>
      <p:pic>
        <p:nvPicPr>
          <p:cNvPr id="4" name="Image 0" descr="/tmp/deck8/png/d3-bayes-rare-disease.png">    </p:cNvPr>
          <p:cNvPicPr>
            <a:picLocks noChangeAspect="1"/>
          </p:cNvPicPr>
          <p:nvPr/>
        </p:nvPicPr>
        <p:blipFill>
          <a:blip r:embed="rId1"/>
          <a:stretch>
            <a:fillRect/>
          </a:stretch>
        </p:blipFill>
        <p:spPr>
          <a:xfrm>
            <a:off x="1065276" y="1280160"/>
            <a:ext cx="10058400" cy="448970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Learning Rate and Convexity</a:t>
            </a:r>
            <a:endParaRPr lang="en-US" sz="3000" dirty="0"/>
          </a:p>
        </p:txBody>
      </p:sp>
      <p:pic>
        <p:nvPicPr>
          <p:cNvPr id="4" name="Image 0" descr="/tmp/deck8/png/d4-gradient-descent.png">    </p:cNvPr>
          <p:cNvPicPr>
            <a:picLocks noChangeAspect="1"/>
          </p:cNvPicPr>
          <p:nvPr/>
        </p:nvPicPr>
        <p:blipFill>
          <a:blip r:embed="rId1"/>
          <a:stretch>
            <a:fillRect/>
          </a:stretch>
        </p:blipFill>
        <p:spPr>
          <a:xfrm>
            <a:off x="1065276" y="1280160"/>
            <a:ext cx="10058400" cy="448970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Where Each Math Area Does Its Work</a:t>
            </a:r>
            <a:endParaRPr lang="en-US" sz="3000" dirty="0"/>
          </a:p>
        </p:txBody>
      </p:sp>
      <p:pic>
        <p:nvPicPr>
          <p:cNvPr id="4" name="Image 0" descr="/tmp/deck8/png/d5-reference-architecture.png">    </p:cNvPr>
          <p:cNvPicPr>
            <a:picLocks noChangeAspect="1"/>
          </p:cNvPicPr>
          <p:nvPr/>
        </p:nvPicPr>
        <p:blipFill>
          <a:blip r:embed="rId1"/>
          <a:stretch>
            <a:fillRect/>
          </a:stretch>
        </p:blipFill>
        <p:spPr>
          <a:xfrm>
            <a:off x="790956" y="1280160"/>
            <a:ext cx="10607040" cy="4242816"/>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Different Jobs, One Pipeline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1947672"/>
                <a:gridCol w="2331720"/>
                <a:gridCol w="2331720"/>
                <a:gridCol w="2331720"/>
                <a:gridCol w="2331720"/>
              </a:tblGrid>
              <a:tr h="658368">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Linear Algebra</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Probability</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Statistics</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Optimization</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Core question</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How is data represented?</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How certain is the model?</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Is this result real or noise?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How does the model learn?</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Key object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Vectors and matrices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Distributions, Bayes' theorem</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p-values, confidence intervals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The gradient, the learning rate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Shows up in this curriculum</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Feature vectors (1.4), PCA</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Naive Bayes (1.2), A/B testing</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Comparing model A vs. B (1.6)</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Training loop for every model (1.5)</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Failure mode if ignored</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Unscaled features compared directly</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Ignoring the prior on a rare event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Calling noise "significant"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A learning rate that diverges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These four areas are not competing techniques to choose between, they are different jobs in the same pipeline, and a chapter's real math content usually needs all four at once.</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8/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8/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8/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does the dot product of two vectors measure, and why does cosine similarity divide it by the vectors' lengths?</a:t>
            </a:r>
            <a:endParaRPr lang="en-US" sz="110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In the rare-disease diagnostic test example, why can a 99% sensitive, 99% specific test still produce mostly false positives?</a:t>
            </a:r>
            <a:endParaRPr lang="en-US" sz="110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is the difference between a p-value and a confidence interval, and what does a small p-value fail to guarantee?</a:t>
            </a:r>
            <a:endParaRPr lang="en-US" sz="110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In one step of gradient descent, what does the gradient tell you, and what happens if the learning rate is too high?</a:t>
            </a:r>
            <a:endParaRPr lang="en-US" sz="110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Why does it matter whether a loss surface is convex or non-convex?</a:t>
            </a:r>
            <a:endParaRPr lang="en-US" sz="110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8/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Cosine similarity, not the raw dot product, is the standard measure because it removes magnitude.</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A rare event's prior can dominate a test's apparent accuracy; Bayes' theorem makes that explicit.</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A small p-value shows evidence against "no difference," not proof of a large or important effect.</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The learning rate trades off convergence speed against the risk of overshooting or diverging.</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Non-convex loss surfaces make the starting point and optimizer choice matter, unlike convex ones.</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700784"/>
            <a:ext cx="146304" cy="146304"/>
          </a:xfrm>
          <a:prstGeom prst="ellipse">
            <a:avLst/>
          </a:prstGeom>
          <a:solidFill>
            <a:srgbClr val="2A78D6"/>
          </a:solidFill>
          <a:ln/>
        </p:spPr>
      </p:sp>
      <p:sp>
        <p:nvSpPr>
          <p:cNvPr id="5" name="Text 3"/>
          <p:cNvSpPr/>
          <p:nvPr/>
        </p:nvSpPr>
        <p:spPr>
          <a:xfrm>
            <a:off x="777240" y="164592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1.2</a:t>
            </a:r>
            <a:endParaRPr lang="en-US" sz="1500" dirty="0"/>
          </a:p>
        </p:txBody>
      </p:sp>
      <p:sp>
        <p:nvSpPr>
          <p:cNvPr id="6" name="Text 4"/>
          <p:cNvSpPr/>
          <p:nvPr/>
        </p:nvSpPr>
        <p:spPr>
          <a:xfrm>
            <a:off x="777240" y="195681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docs/01-ai-ml-foundations/1-2-taxonomy-of-ai.mdx</a:t>
            </a:r>
            <a:endParaRPr lang="en-US" sz="1200" dirty="0"/>
          </a:p>
        </p:txBody>
      </p:sp>
      <p:sp>
        <p:nvSpPr>
          <p:cNvPr id="7" name="Shape 5"/>
          <p:cNvSpPr/>
          <p:nvPr/>
        </p:nvSpPr>
        <p:spPr>
          <a:xfrm>
            <a:off x="457200" y="2478024"/>
            <a:ext cx="146304" cy="146304"/>
          </a:xfrm>
          <a:prstGeom prst="ellipse">
            <a:avLst/>
          </a:prstGeom>
          <a:solidFill>
            <a:srgbClr val="2A78D6"/>
          </a:solidFill>
          <a:ln/>
        </p:spPr>
      </p:sp>
      <p:sp>
        <p:nvSpPr>
          <p:cNvPr id="8" name="Text 6"/>
          <p:cNvSpPr/>
          <p:nvPr/>
        </p:nvSpPr>
        <p:spPr>
          <a:xfrm>
            <a:off x="777240" y="242316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1.4</a:t>
            </a:r>
            <a:endParaRPr lang="en-US" sz="1500" dirty="0"/>
          </a:p>
        </p:txBody>
      </p:sp>
      <p:sp>
        <p:nvSpPr>
          <p:cNvPr id="9" name="Text 7"/>
          <p:cNvSpPr/>
          <p:nvPr/>
        </p:nvSpPr>
        <p:spPr>
          <a:xfrm>
            <a:off x="777240" y="273405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docs/01-ai-ml-foundations/1-4-core-ml-concepts.mdx</a:t>
            </a:r>
            <a:endParaRPr lang="en-US" sz="1200" dirty="0"/>
          </a:p>
        </p:txBody>
      </p:sp>
      <p:sp>
        <p:nvSpPr>
          <p:cNvPr id="10" name="Shape 8"/>
          <p:cNvSpPr/>
          <p:nvPr/>
        </p:nvSpPr>
        <p:spPr>
          <a:xfrm>
            <a:off x="457200" y="3255264"/>
            <a:ext cx="146304" cy="146304"/>
          </a:xfrm>
          <a:prstGeom prst="ellipse">
            <a:avLst/>
          </a:prstGeom>
          <a:solidFill>
            <a:srgbClr val="2A78D6"/>
          </a:solidFill>
          <a:ln/>
        </p:spPr>
      </p:sp>
      <p:sp>
        <p:nvSpPr>
          <p:cNvPr id="11" name="Text 9"/>
          <p:cNvSpPr/>
          <p:nvPr/>
        </p:nvSpPr>
        <p:spPr>
          <a:xfrm>
            <a:off x="777240" y="320040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1.5</a:t>
            </a:r>
            <a:endParaRPr lang="en-US" sz="1500" dirty="0"/>
          </a:p>
        </p:txBody>
      </p:sp>
      <p:sp>
        <p:nvSpPr>
          <p:cNvPr id="12" name="Text 10"/>
          <p:cNvSpPr/>
          <p:nvPr/>
        </p:nvSpPr>
        <p:spPr>
          <a:xfrm>
            <a:off x="777240" y="351129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docs/01-ai-ml-foundations/1-5-classical-ml-algorithms.mdx</a:t>
            </a:r>
            <a:endParaRPr lang="en-US" sz="1200" dirty="0"/>
          </a:p>
        </p:txBody>
      </p:sp>
      <p:sp>
        <p:nvSpPr>
          <p:cNvPr id="13" name="Shape 11"/>
          <p:cNvSpPr/>
          <p:nvPr/>
        </p:nvSpPr>
        <p:spPr>
          <a:xfrm>
            <a:off x="457200" y="4032504"/>
            <a:ext cx="146304" cy="146304"/>
          </a:xfrm>
          <a:prstGeom prst="ellipse">
            <a:avLst/>
          </a:prstGeom>
          <a:solidFill>
            <a:srgbClr val="2A78D6"/>
          </a:solidFill>
          <a:ln/>
        </p:spPr>
      </p:sp>
      <p:sp>
        <p:nvSpPr>
          <p:cNvPr id="14" name="Text 12"/>
          <p:cNvSpPr/>
          <p:nvPr/>
        </p:nvSpPr>
        <p:spPr>
          <a:xfrm>
            <a:off x="777240" y="397764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1.6</a:t>
            </a:r>
            <a:endParaRPr lang="en-US" sz="1500" dirty="0"/>
          </a:p>
        </p:txBody>
      </p:sp>
      <p:sp>
        <p:nvSpPr>
          <p:cNvPr id="15" name="Text 13"/>
          <p:cNvSpPr/>
          <p:nvPr/>
        </p:nvSpPr>
        <p:spPr>
          <a:xfrm>
            <a:off x="777240" y="428853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docs/01-ai-ml-foundations/1-6-evaluation-metrics.mdx</a:t>
            </a:r>
            <a:endParaRPr lang="en-US" sz="1200" dirty="0"/>
          </a:p>
        </p:txBody>
      </p:sp>
      <p:sp>
        <p:nvSpPr>
          <p:cNvPr id="16" name="Shape 14"/>
          <p:cNvSpPr/>
          <p:nvPr/>
        </p:nvSpPr>
        <p:spPr>
          <a:xfrm>
            <a:off x="457200" y="4809744"/>
            <a:ext cx="146304" cy="146304"/>
          </a:xfrm>
          <a:prstGeom prst="ellipse">
            <a:avLst/>
          </a:prstGeom>
          <a:solidFill>
            <a:srgbClr val="2A78D6"/>
          </a:solidFill>
          <a:ln/>
        </p:spPr>
      </p:sp>
      <p:sp>
        <p:nvSpPr>
          <p:cNvPr id="17" name="Text 15"/>
          <p:cNvSpPr/>
          <p:nvPr/>
        </p:nvSpPr>
        <p:spPr>
          <a:xfrm>
            <a:off x="777240" y="475488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Chapter 1.7</a:t>
            </a:r>
            <a:endParaRPr lang="en-US" sz="1500" dirty="0"/>
          </a:p>
        </p:txBody>
      </p:sp>
      <p:sp>
        <p:nvSpPr>
          <p:cNvPr id="18" name="Text 16"/>
          <p:cNvSpPr/>
          <p:nvPr/>
        </p:nvSpPr>
        <p:spPr>
          <a:xfrm>
            <a:off x="777240" y="506577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docs/01-ai-ml-foundations/1-7-data-foundations.mdx</a:t>
            </a:r>
            <a:endParaRPr lang="en-US" sz="1200" dirty="0"/>
          </a:p>
        </p:txBody>
      </p:sp>
      <p:sp>
        <p:nvSpPr>
          <p:cNvPr id="19" name="Text 17"/>
          <p:cNvSpPr/>
          <p:nvPr/>
        </p:nvSpPr>
        <p:spPr>
          <a:xfrm>
            <a:off x="457200" y="603504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docs/01-ai-ml-foundations/1-8-math-refresher.mdx</a:t>
            </a:r>
            <a:endParaRPr lang="en-US" sz="12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1.8  |  Phase 1 - AI &amp; Machine Learning Foundations</a:t>
            </a:r>
            <a:endParaRPr lang="en-US" sz="1000" dirty="0"/>
          </a:p>
        </p:txBody>
      </p:sp>
      <p:sp>
        <p:nvSpPr>
          <p:cNvPr id="21" name="Text 1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2026-08-19T22:58:12Z</dcterms:created>
  <dcterms:modified xsi:type="dcterms:W3CDTF">2026-08-19T22:58:12Z</dcterms:modified>
</cp:coreProperties>
</file>