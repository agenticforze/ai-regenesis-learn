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731520" y="1371600"/>
            <a:ext cx="10698480" cy="457200"/>
          </a:xfrm>
          <a:prstGeom prst="rect">
            <a:avLst/>
          </a:prstGeom>
          <a:noFill/>
          <a:ln/>
        </p:spPr>
        <p:txBody>
          <a:bodyPr wrap="square" rtlCol="0" anchor="ctr"/>
          <a:lstStyle/>
          <a:p>
            <a:pPr indent="0" marL="0">
              <a:buNone/>
            </a:pPr>
            <a:r>
              <a:rPr lang="en-US" sz="1600" b="1" spc="200" kern="0" dirty="0">
                <a:solidFill>
                  <a:srgbClr val="184F95"/>
                </a:solidFill>
                <a:latin typeface="Arial" pitchFamily="34" charset="0"/>
                <a:ea typeface="Arial" pitchFamily="34" charset="-122"/>
                <a:cs typeface="Arial" pitchFamily="34" charset="-120"/>
              </a:rPr>
              <a:t>CHAPTER 5.8 · PHASE 5</a:t>
            </a:r>
            <a:endParaRPr lang="en-US" sz="1600" dirty="0"/>
          </a:p>
        </p:txBody>
      </p:sp>
      <p:sp>
        <p:nvSpPr>
          <p:cNvPr id="3" name="Text 1"/>
          <p:cNvSpPr/>
          <p:nvPr/>
        </p:nvSpPr>
        <p:spPr>
          <a:xfrm>
            <a:off x="731520" y="2377440"/>
            <a:ext cx="10698480" cy="1463040"/>
          </a:xfrm>
          <a:prstGeom prst="rect">
            <a:avLst/>
          </a:prstGeom>
          <a:noFill/>
          <a:ln/>
        </p:spPr>
        <p:txBody>
          <a:bodyPr wrap="square" rtlCol="0" anchor="t"/>
          <a:lstStyle/>
          <a:p>
            <a:pPr indent="0" marL="0">
              <a:lnSpc>
                <a:spcPts val="4600"/>
              </a:lnSpc>
              <a:buNone/>
            </a:pPr>
            <a:r>
              <a:rPr lang="en-US" sz="4000" b="1" dirty="0">
                <a:solidFill>
                  <a:srgbClr val="0B0B0B"/>
                </a:solidFill>
                <a:latin typeface="Arial" pitchFamily="34" charset="0"/>
                <a:ea typeface="Arial" pitchFamily="34" charset="-122"/>
                <a:cs typeface="Arial" pitchFamily="34" charset="-120"/>
              </a:rPr>
              <a:t>Prompting vs. Fine-Tuning vs. RAG, A Decision Framework</a:t>
            </a:r>
            <a:endParaRPr lang="en-US" sz="4000" dirty="0"/>
          </a:p>
        </p:txBody>
      </p:sp>
      <p:sp>
        <p:nvSpPr>
          <p:cNvPr id="4" name="Shape 2"/>
          <p:cNvSpPr/>
          <p:nvPr/>
        </p:nvSpPr>
        <p:spPr>
          <a:xfrm>
            <a:off x="731520" y="3977640"/>
            <a:ext cx="2926080" cy="0"/>
          </a:xfrm>
          <a:prstGeom prst="line">
            <a:avLst/>
          </a:prstGeom>
          <a:noFill/>
          <a:ln w="38100">
            <a:solidFill>
              <a:srgbClr val="184F95"/>
            </a:solidFill>
            <a:prstDash val="solid"/>
          </a:ln>
        </p:spPr>
      </p:sp>
      <p:sp>
        <p:nvSpPr>
          <p:cNvPr id="5" name="Text 3"/>
          <p:cNvSpPr/>
          <p:nvPr/>
        </p:nvSpPr>
        <p:spPr>
          <a:xfrm>
            <a:off x="731520" y="4206240"/>
            <a:ext cx="10515600" cy="731520"/>
          </a:xfrm>
          <a:prstGeom prst="rect">
            <a:avLst/>
          </a:prstGeom>
          <a:noFill/>
          <a:ln/>
        </p:spPr>
        <p:txBody>
          <a:bodyPr wrap="square" rtlCol="0" anchor="t"/>
          <a:lstStyle/>
          <a:p>
            <a:pPr indent="0" marL="0">
              <a:buNone/>
            </a:pPr>
            <a:r>
              <a:rPr lang="en-US" sz="1600" dirty="0">
                <a:solidFill>
                  <a:srgbClr val="52514E"/>
                </a:solidFill>
                <a:latin typeface="Arial" pitchFamily="34" charset="0"/>
                <a:ea typeface="Arial" pitchFamily="34" charset="-122"/>
                <a:cs typeface="Arial" pitchFamily="34" charset="-120"/>
              </a:rPr>
              <a:t>Three different levers, not three tiers of the same lever, and reaching for the wrong one is the most common architectural mistake in a first LLM app.</a:t>
            </a:r>
            <a:endParaRPr lang="en-US" sz="1600" dirty="0"/>
          </a:p>
        </p:txBody>
      </p:sp>
      <p:sp>
        <p:nvSpPr>
          <p:cNvPr id="6" name="Text 4"/>
          <p:cNvSpPr/>
          <p:nvPr/>
        </p:nvSpPr>
        <p:spPr>
          <a:xfrm>
            <a:off x="731520" y="6309360"/>
            <a:ext cx="7315200" cy="365760"/>
          </a:xfrm>
          <a:prstGeom prst="rect">
            <a:avLst/>
          </a:prstGeom>
          <a:noFill/>
          <a:ln/>
        </p:spPr>
        <p:txBody>
          <a:bodyPr wrap="square" rtlCol="0" anchor="ctr"/>
          <a:lstStyle/>
          <a:p>
            <a:pPr indent="0" marL="0">
              <a:buNone/>
            </a:pPr>
            <a:r>
              <a:rPr lang="en-US" sz="1200" dirty="0">
                <a:solidFill>
                  <a:srgbClr val="52514E"/>
                </a:solidFill>
                <a:latin typeface="Arial" pitchFamily="34" charset="0"/>
                <a:ea typeface="Arial" pitchFamily="34" charset="-122"/>
                <a:cs typeface="Arial" pitchFamily="34" charset="-120"/>
              </a:rPr>
              <a:t>Prompt Engineering &amp; LLM Application Development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AGENDA</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What this chapter covers</a:t>
            </a:r>
            <a:endParaRPr lang="en-US" sz="2600" dirty="0"/>
          </a:p>
        </p:txBody>
      </p:sp>
      <p:sp>
        <p:nvSpPr>
          <p:cNvPr id="4" name="Text 2"/>
          <p:cNvSpPr/>
          <p:nvPr/>
        </p:nvSpPr>
        <p:spPr>
          <a:xfrm>
            <a:off x="640080" y="1463040"/>
            <a:ext cx="10881360" cy="4754880"/>
          </a:xfrm>
          <a:prstGeom prst="rect">
            <a:avLst/>
          </a:prstGeom>
          <a:noFill/>
          <a:ln/>
        </p:spPr>
        <p:txBody>
          <a:bodyPr wrap="square" rtlCol="0" anchor="t"/>
          <a:lstStyle/>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Why prompting should be tried first, and what OpenAI's own guidance says about that sequencing</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Why RAG exists: the limits of parametric knowledge, per Lewis et al. (2020)</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Why fine-tuning exists: baking a behavior into weights instead of re-explaining it every request</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A rough decision map, built from OpenAI, Anthropic, AWS, and Google Cloud's published guidance</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Why the three approaches are not mutually exclusive, and what RAFT combines</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Deferring the deep mechanics: Phase 6 covers RAG in full, Phase 7 covers fine-tuning in full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TL;DR</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The short version</a:t>
            </a:r>
            <a:endParaRPr lang="en-US" sz="2600" dirty="0"/>
          </a:p>
        </p:txBody>
      </p:sp>
      <p:sp>
        <p:nvSpPr>
          <p:cNvPr id="4" name="Text 2"/>
          <p:cNvSpPr/>
          <p:nvPr/>
        </p:nvSpPr>
        <p:spPr>
          <a:xfrm>
            <a:off x="640080" y="1463040"/>
            <a:ext cx="10881360" cy="4754880"/>
          </a:xfrm>
          <a:prstGeom prst="rect">
            <a:avLst/>
          </a:prstGeom>
          <a:noFill/>
          <a:ln/>
        </p:spPr>
        <p:txBody>
          <a:bodyPr wrap="square" rtlCol="0" anchor="t"/>
          <a:lstStyle/>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OpenAI: "the prompt engineering process may be all you need in order to get great results for your use case"</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Lewis et al. (2020): pretrained models' "ability to access and precisely manipulate knowledge is still limited," and "updating their world knowledge remain[s an] open research problem"</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RAG grounds a response in retrieved, current, citable documents; fine-tuning bakes a narrow behavior into the model's weights</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Fine-tuning needs labeled data, compute, and retraining whenever the behavior needs to change</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The three approaches combine in production; RAFT fine-tunes a model specifically to use retrieved context better</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This chapter is a decision framework; RAG and fine-tuning mechanics are Phase 6 and Phase 7</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HIGH-LEVEL</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Three ways to shape an LLM's behavior</a:t>
            </a:r>
            <a:endParaRPr lang="en-US" sz="2600" dirty="0"/>
          </a:p>
        </p:txBody>
      </p:sp>
      <p:pic>
        <p:nvPicPr>
          <p:cNvPr id="4" name="Image 0" descr="/home/claude/phase3/svgs/png/5-8-three-approaches-overview.png">    </p:cNvPr>
          <p:cNvPicPr>
            <a:picLocks noChangeAspect="1"/>
          </p:cNvPicPr>
          <p:nvPr/>
        </p:nvPicPr>
        <p:blipFill>
          <a:blip r:embed="rId1"/>
          <a:stretch>
            <a:fillRect/>
          </a:stretch>
        </p:blipFill>
        <p:spPr>
          <a:xfrm>
            <a:off x="1042584" y="1417320"/>
            <a:ext cx="10106526" cy="4480560"/>
          </a:xfrm>
          <a:prstGeom prst="rect">
            <a:avLst/>
          </a:prstGeom>
        </p:spPr>
      </p:pic>
      <p:sp>
        <p:nvSpPr>
          <p:cNvPr id="5" name="Text 2"/>
          <p:cNvSpPr/>
          <p:nvPr/>
        </p:nvSpPr>
        <p:spPr>
          <a:xfrm>
            <a:off x="731520" y="6035040"/>
            <a:ext cx="10698480" cy="457200"/>
          </a:xfrm>
          <a:prstGeom prst="rect">
            <a:avLst/>
          </a:prstGeom>
          <a:noFill/>
          <a:ln/>
        </p:spPr>
        <p:txBody>
          <a:bodyPr wrap="square" rtlCol="0" anchor="ctr"/>
          <a:lstStyle/>
          <a:p>
            <a:pPr algn="ctr" indent="0" marL="0">
              <a:buNone/>
            </a:pPr>
            <a:r>
              <a:rPr lang="en-US" sz="1300" i="1" dirty="0">
                <a:solidFill>
                  <a:srgbClr val="52514E"/>
                </a:solidFill>
                <a:latin typeface="Arial" pitchFamily="34" charset="0"/>
                <a:ea typeface="Arial" pitchFamily="34" charset="-122"/>
                <a:cs typeface="Arial" pitchFamily="34" charset="-120"/>
              </a:rPr>
              <a:t>Three different levers, changing the request, adding retrieved context to the request, or changing the model itself, not three tiers of the same lever.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DEEP-DIVE</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Start with prompting, and mean it</a:t>
            </a:r>
            <a:endParaRPr lang="en-US" sz="2600" dirty="0"/>
          </a:p>
        </p:txBody>
      </p:sp>
      <p:sp>
        <p:nvSpPr>
          <p:cNvPr id="4" name="Text 2"/>
          <p:cNvSpPr/>
          <p:nvPr/>
        </p:nvSpPr>
        <p:spPr>
          <a:xfrm>
            <a:off x="640080" y="1463040"/>
            <a:ext cx="10881360" cy="4754880"/>
          </a:xfrm>
          <a:prstGeom prst="rect">
            <a:avLst/>
          </a:prstGeom>
          <a:noFill/>
          <a:ln/>
        </p:spPr>
        <p:txBody>
          <a:bodyPr wrap="square" rtlCol="0" anchor="t"/>
          <a:lstStyle/>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OpenAI: "the prompt engineering process may be all you need in order to get great results for your use case"</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Fine-tuning's named benefits ("shorter prompts," "lower latency," "a smaller, cheaper, faster model") are reasons to graduate beyond prompting, not reasons to start elsewhere</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Build an eval set first, the golden-dataset discipline from 5.6 applies here directly</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Only then decide whether the gap is a knowledge problem (RAG) or a behavior problem (fine-tuning)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DEEP-DIVE</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RAG at a glance: retriever and generator working together</a:t>
            </a:r>
            <a:endParaRPr lang="en-US" sz="2600" dirty="0"/>
          </a:p>
        </p:txBody>
      </p:sp>
      <p:pic>
        <p:nvPicPr>
          <p:cNvPr id="4" name="Image 0" descr="/home/claude/phase3/svgs/png/5-8-rag-pipeline-at-a-glance.png">    </p:cNvPr>
          <p:cNvPicPr>
            <a:picLocks noChangeAspect="1"/>
          </p:cNvPicPr>
          <p:nvPr/>
        </p:nvPicPr>
        <p:blipFill>
          <a:blip r:embed="rId1"/>
          <a:stretch>
            <a:fillRect/>
          </a:stretch>
        </p:blipFill>
        <p:spPr>
          <a:xfrm>
            <a:off x="838048" y="1417320"/>
            <a:ext cx="10515600" cy="4206240"/>
          </a:xfrm>
          <a:prstGeom prst="rect">
            <a:avLst/>
          </a:prstGeom>
        </p:spPr>
      </p:pic>
      <p:sp>
        <p:nvSpPr>
          <p:cNvPr id="5" name="Text 2"/>
          <p:cNvSpPr/>
          <p:nvPr/>
        </p:nvSpPr>
        <p:spPr>
          <a:xfrm>
            <a:off x="731520" y="5760720"/>
            <a:ext cx="10698480" cy="457200"/>
          </a:xfrm>
          <a:prstGeom prst="rect">
            <a:avLst/>
          </a:prstGeom>
          <a:noFill/>
          <a:ln/>
        </p:spPr>
        <p:txBody>
          <a:bodyPr wrap="square" rtlCol="0" anchor="ctr"/>
          <a:lstStyle/>
          <a:p>
            <a:pPr algn="ctr" indent="0" marL="0">
              <a:buNone/>
            </a:pPr>
            <a:r>
              <a:rPr lang="en-US" sz="1300" i="1" dirty="0">
                <a:solidFill>
                  <a:srgbClr val="52514E"/>
                </a:solidFill>
                <a:latin typeface="Arial" pitchFamily="34" charset="0"/>
                <a:ea typeface="Arial" pitchFamily="34" charset="-122"/>
                <a:cs typeface="Arial" pitchFamily="34" charset="-120"/>
              </a:rPr>
              <a:t>Lewis et al. (2020): a RAG model pairs a pre-trained seq2seq model with a dense vector index accessed by a pre-trained neural retriever.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DEEP-DIVE</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Fine-tuning at a glance: training updates the weights themselves</a:t>
            </a:r>
            <a:endParaRPr lang="en-US" sz="2600" dirty="0"/>
          </a:p>
        </p:txBody>
      </p:sp>
      <p:pic>
        <p:nvPicPr>
          <p:cNvPr id="4" name="Image 0" descr="/home/claude/phase3/svgs/png/5-8-finetuning-at-a-glance.png">    </p:cNvPr>
          <p:cNvPicPr>
            <a:picLocks noChangeAspect="1"/>
          </p:cNvPicPr>
          <p:nvPr/>
        </p:nvPicPr>
        <p:blipFill>
          <a:blip r:embed="rId1"/>
          <a:stretch>
            <a:fillRect/>
          </a:stretch>
        </p:blipFill>
        <p:spPr>
          <a:xfrm>
            <a:off x="838048" y="1417320"/>
            <a:ext cx="10515600" cy="4206240"/>
          </a:xfrm>
          <a:prstGeom prst="rect">
            <a:avLst/>
          </a:prstGeom>
        </p:spPr>
      </p:pic>
      <p:sp>
        <p:nvSpPr>
          <p:cNvPr id="5" name="Text 2"/>
          <p:cNvSpPr/>
          <p:nvPr/>
        </p:nvSpPr>
        <p:spPr>
          <a:xfrm>
            <a:off x="731520" y="5760720"/>
            <a:ext cx="10698480" cy="457200"/>
          </a:xfrm>
          <a:prstGeom prst="rect">
            <a:avLst/>
          </a:prstGeom>
          <a:noFill/>
          <a:ln/>
        </p:spPr>
        <p:txBody>
          <a:bodyPr wrap="square" rtlCol="0" anchor="ctr"/>
          <a:lstStyle/>
          <a:p>
            <a:pPr algn="ctr" indent="0" marL="0">
              <a:buNone/>
            </a:pPr>
            <a:r>
              <a:rPr lang="en-US" sz="1300" i="1" dirty="0">
                <a:solidFill>
                  <a:srgbClr val="52514E"/>
                </a:solidFill>
                <a:latin typeface="Arial" pitchFamily="34" charset="0"/>
                <a:ea typeface="Arial" pitchFamily="34" charset="-122"/>
                <a:cs typeface="Arial" pitchFamily="34" charset="-120"/>
              </a:rPr>
              <a:t>LoRA (Hu et al., 2021) can reduce trainable parameters by 10,000x and GPU memory by 3x against full fine-tuning of GPT-3 175B.</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DEEP-DIVE</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Why RAG alone is not always enough</a:t>
            </a:r>
            <a:endParaRPr lang="en-US" sz="2600" dirty="0"/>
          </a:p>
        </p:txBody>
      </p:sp>
      <p:pic>
        <p:nvPicPr>
          <p:cNvPr id="4" name="Image 0" descr="/home/claude/phase3/svgs/png/5-8-combining-rag-finetuning.png">    </p:cNvPr>
          <p:cNvPicPr>
            <a:picLocks noChangeAspect="1"/>
          </p:cNvPicPr>
          <p:nvPr/>
        </p:nvPicPr>
        <p:blipFill>
          <a:blip r:embed="rId1"/>
          <a:stretch>
            <a:fillRect/>
          </a:stretch>
        </p:blipFill>
        <p:spPr>
          <a:xfrm>
            <a:off x="1042584" y="1417320"/>
            <a:ext cx="10106526" cy="4480560"/>
          </a:xfrm>
          <a:prstGeom prst="rect">
            <a:avLst/>
          </a:prstGeom>
        </p:spPr>
      </p:pic>
      <p:sp>
        <p:nvSpPr>
          <p:cNvPr id="5" name="Text 2"/>
          <p:cNvSpPr/>
          <p:nvPr/>
        </p:nvSpPr>
        <p:spPr>
          <a:xfrm>
            <a:off x="731520" y="6035040"/>
            <a:ext cx="10698480" cy="457200"/>
          </a:xfrm>
          <a:prstGeom prst="rect">
            <a:avLst/>
          </a:prstGeom>
          <a:noFill/>
          <a:ln/>
        </p:spPr>
        <p:txBody>
          <a:bodyPr wrap="square" rtlCol="0" anchor="ctr"/>
          <a:lstStyle/>
          <a:p>
            <a:pPr algn="ctr" indent="0" marL="0">
              <a:buNone/>
            </a:pPr>
            <a:r>
              <a:rPr lang="en-US" sz="1300" i="1" dirty="0">
                <a:solidFill>
                  <a:srgbClr val="52514E"/>
                </a:solidFill>
                <a:latin typeface="Arial" pitchFamily="34" charset="0"/>
                <a:ea typeface="Arial" pitchFamily="34" charset="-122"/>
                <a:cs typeface="Arial" pitchFamily="34" charset="-120"/>
              </a:rPr>
              <a:t>RAFT (Zhang et al., 2024) fine-tunes a model to distinguish a relevant retrieved passage from a distractor, and to cite the one it actually used.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DEEP-DIVE</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A rough map from question to approach</a:t>
            </a:r>
            <a:endParaRPr lang="en-US" sz="2600" dirty="0"/>
          </a:p>
        </p:txBody>
      </p:sp>
      <p:sp>
        <p:nvSpPr>
          <p:cNvPr id="4" name="Text 2"/>
          <p:cNvSpPr/>
          <p:nvPr/>
        </p:nvSpPr>
        <p:spPr>
          <a:xfrm>
            <a:off x="640080" y="1463040"/>
            <a:ext cx="10881360" cy="4754880"/>
          </a:xfrm>
          <a:prstGeom prst="rect">
            <a:avLst/>
          </a:prstGeom>
          <a:noFill/>
          <a:ln/>
        </p:spPr>
        <p:txBody>
          <a:bodyPr wrap="square" rtlCol="0" anchor="t"/>
          <a:lstStyle/>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Google Cloud: "do you need the model to always give a citation of a source grounded in your data? If yes, you will need to use RAG"</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Google Cloud: "if you have only a small amount of data, then prompt engineering may suffice"</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AWS: "RAG can incorporate the latest documents in a few minutes," while "fine-tuning can take a few hours to days"</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AWS: fine-tuned models "do not provide a reference to the source," while a RAG model "provides a reference to the information source"</a:t>
            </a:r>
            <a:endParaRPr lang="en-US" sz="1600" dirty="0"/>
          </a:p>
          <a:p>
            <a:pPr marL="342900" indent="-342900">
              <a:spcAft>
                <a:spcPts val="1200"/>
              </a:spcAft>
              <a:buSzPct val="100000"/>
              <a:buChar char="▪"/>
            </a:pPr>
            <a:r>
              <a:rPr lang="en-US" sz="1600" dirty="0">
                <a:solidFill>
                  <a:srgbClr val="52514E"/>
                </a:solidFill>
                <a:latin typeface="Arial" pitchFamily="34" charset="0"/>
                <a:ea typeface="Arial" pitchFamily="34" charset="-122"/>
                <a:cs typeface="Arial" pitchFamily="34" charset="-120"/>
              </a:rPr>
              <a:t>Google Cloud, and Snorkel AI: "you can freely combine the aforementioned methods at your convenience"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COMPARISON &amp; RELATED CONCEPTS</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Three complementary levers</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4206240"/>
        </p:xfrm>
        <a:graphic>
          <a:graphicData uri="http://schemas.openxmlformats.org/drawingml/2006/table">
            <a:tbl>
              <a:tblPr/>
              <a:tblGrid>
                <a:gridCol w="2720340"/>
                <a:gridCol w="2720340"/>
                <a:gridCol w="2720340"/>
                <a:gridCol w="2720340"/>
              </a:tblGrid>
              <a:tr h="841248">
                <a:tc>
                  <a:txBody>
                    <a:bodyPr/>
                    <a:lstStyle/>
                    <a:p>
                      <a:pPr indent="0" marL="0">
                        <a:buNone/>
                      </a:pPr>
                      <a:r>
                        <a:rPr lang="en-US" sz="1200" b="1" dirty="0">
                          <a:solidFill>
                            <a:srgbClr val="FFFFFF"/>
                          </a:solidFill>
                          <a:latin typeface="Arial" pitchFamily="34" charset="0"/>
                          <a:ea typeface="Arial" pitchFamily="34" charset="-122"/>
                          <a:cs typeface="Arial" pitchFamily="34" charset="-120"/>
                        </a:rPr>
                        <a:t>Aspect</a:t>
                      </a:r>
                      <a:endParaRPr lang="en-US" sz="12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104281"/>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Prompting / few-shot</a:t>
                      </a:r>
                      <a:endParaRPr lang="en-US" sz="12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104281"/>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Retrieval-augmented generation (RAG)</a:t>
                      </a:r>
                      <a:endParaRPr lang="en-US" sz="12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104281"/>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Fine-tuning (full or parameter-efficient)</a:t>
                      </a:r>
                      <a:endParaRPr lang="en-US" sz="12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104281"/>
                    </a:solidFill>
                  </a:tcPr>
                </a:tc>
              </a:tr>
              <a:tr h="841248">
                <a:tc>
                  <a:txBody>
                    <a:bodyPr/>
                    <a:lstStyle/>
                    <a:p>
                      <a:pPr indent="0" marL="0">
                        <a:buNone/>
                      </a:pPr>
                      <a:r>
                        <a:rPr lang="en-US" sz="1100" b="1" dirty="0">
                          <a:solidFill>
                            <a:srgbClr val="0B0B0B"/>
                          </a:solidFill>
                          <a:latin typeface="Arial" pitchFamily="34" charset="0"/>
                          <a:ea typeface="Arial" pitchFamily="34" charset="-122"/>
                          <a:cs typeface="Arial" pitchFamily="34" charset="-120"/>
                        </a:rPr>
                        <a:t>What actually changes</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The request sent to the model, nothing about the model itself</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EAF2FC"/>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The request, augmented with retrieved documents at query time</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EAF2FC"/>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The model's own weights, through additional training</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EAF2FC"/>
                    </a:solidFill>
                  </a:tcPr>
                </a:tc>
              </a:tr>
              <a:tr h="841248">
                <a:tc>
                  <a:txBody>
                    <a:bodyPr/>
                    <a:lstStyle/>
                    <a:p>
                      <a:pPr indent="0" marL="0">
                        <a:buNone/>
                      </a:pPr>
                      <a:r>
                        <a:rPr lang="en-US" sz="1100" b="1" dirty="0">
                          <a:solidFill>
                            <a:srgbClr val="0B0B0B"/>
                          </a:solidFill>
                          <a:latin typeface="Arial" pitchFamily="34" charset="0"/>
                          <a:ea typeface="Arial" pitchFamily="34" charset="-122"/>
                          <a:cs typeface="Arial" pitchFamily="34" charset="-120"/>
                        </a:rPr>
                        <a:t>Best for</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Getting started, and any task a few good examples can demonstrate</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EAF2FC"/>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Answers that must cite current, specific source documents</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EAF2FC"/>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A narrow, high-volume behavior expensive to keep re-explaining</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EAF2FC"/>
                    </a:solidFill>
                  </a:tcPr>
                </a:tc>
              </a:tr>
              <a:tr h="841248">
                <a:tc>
                  <a:txBody>
                    <a:bodyPr/>
                    <a:lstStyle/>
                    <a:p>
                      <a:pPr indent="0" marL="0">
                        <a:buNone/>
                      </a:pPr>
                      <a:r>
                        <a:rPr lang="en-US" sz="1100" b="1" dirty="0">
                          <a:solidFill>
                            <a:srgbClr val="0B0B0B"/>
                          </a:solidFill>
                          <a:latin typeface="Arial" pitchFamily="34" charset="0"/>
                          <a:ea typeface="Arial" pitchFamily="34" charset="-122"/>
                          <a:cs typeface="Arial" pitchFamily="34" charset="-120"/>
                        </a:rPr>
                        <a:t>Upfront cost before it helps at all</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Near zero, iterate in the prompt itself</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A retrieval pipeline and a document index, no model training</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Labeled training data, compute, and an evaluation harness</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r>
              <a:tr h="841248">
                <a:tc>
                  <a:txBody>
                    <a:bodyPr/>
                    <a:lstStyle/>
                    <a:p>
                      <a:pPr indent="0" marL="0">
                        <a:buNone/>
                      </a:pPr>
                      <a:r>
                        <a:rPr lang="en-US" sz="1100" b="1" dirty="0">
                          <a:solidFill>
                            <a:srgbClr val="0B0B0B"/>
                          </a:solidFill>
                          <a:latin typeface="Arial" pitchFamily="34" charset="0"/>
                          <a:ea typeface="Arial" pitchFamily="34" charset="-122"/>
                          <a:cs typeface="Arial" pitchFamily="34" charset="-120"/>
                        </a:rPr>
                        <a:t>Can it cite a source for a specific claim</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Only what was included in the prompt itself</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Yes, this is RAG's defining advantage</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00" dirty="0">
                          <a:solidFill>
                            <a:srgbClr val="52514E"/>
                          </a:solidFill>
                          <a:latin typeface="Arial" pitchFamily="34" charset="0"/>
                          <a:ea typeface="Arial" pitchFamily="34" charset="-122"/>
                          <a:cs typeface="Arial" pitchFamily="34" charset="-120"/>
                        </a:rPr>
                        <a:t>No, a fact baked into weights carries no provenance</a:t>
                      </a:r>
                      <a:endParaRPr lang="en-US" sz="1100" dirty="0">
                        <a:latin typeface="Arial" charset="0"/>
                        <a:ea typeface="Arial" charset="0"/>
                        <a:cs typeface="Arial"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806440"/>
            <a:ext cx="10881360" cy="548640"/>
          </a:xfrm>
          <a:prstGeom prst="rect">
            <a:avLst/>
          </a:prstGeom>
          <a:noFill/>
          <a:ln/>
        </p:spPr>
        <p:txBody>
          <a:bodyPr wrap="square" rtlCol="0" anchor="ctr"/>
          <a:lstStyle/>
          <a:p>
            <a:pPr indent="0" marL="0">
              <a:buNone/>
            </a:pPr>
            <a:r>
              <a:rPr lang="en-US" sz="1200" i="1" dirty="0">
                <a:solidFill>
                  <a:srgbClr val="52514E"/>
                </a:solidFill>
                <a:latin typeface="Arial" pitchFamily="34" charset="0"/>
                <a:ea typeface="Arial" pitchFamily="34" charset="-122"/>
                <a:cs typeface="Arial" pitchFamily="34" charset="-120"/>
              </a:rPr>
              <a:t>Complementary levers, not competing tiers; a mature system commonly combines all three rather than picking exactly one.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REFERENCE ARCHITECTURE</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Choosing (and combining) an approach for a new LLM use case</a:t>
            </a:r>
            <a:endParaRPr lang="en-US" sz="2600" dirty="0"/>
          </a:p>
        </p:txBody>
      </p:sp>
      <p:pic>
        <p:nvPicPr>
          <p:cNvPr id="4" name="Image 0" descr="/home/claude/phase3/svgs/png/5-8-decision-flow.png">    </p:cNvPr>
          <p:cNvPicPr>
            <a:picLocks noChangeAspect="1"/>
          </p:cNvPicPr>
          <p:nvPr/>
        </p:nvPicPr>
        <p:blipFill>
          <a:blip r:embed="rId1"/>
          <a:stretch>
            <a:fillRect/>
          </a:stretch>
        </p:blipFill>
        <p:spPr>
          <a:xfrm>
            <a:off x="2735428" y="1417320"/>
            <a:ext cx="6720840" cy="4480560"/>
          </a:xfrm>
          <a:prstGeom prst="rect">
            <a:avLst/>
          </a:prstGeom>
        </p:spPr>
      </p:pic>
      <p:sp>
        <p:nvSpPr>
          <p:cNvPr id="5" name="Text 2"/>
          <p:cNvSpPr/>
          <p:nvPr/>
        </p:nvSpPr>
        <p:spPr>
          <a:xfrm>
            <a:off x="731520" y="6035040"/>
            <a:ext cx="10698480" cy="457200"/>
          </a:xfrm>
          <a:prstGeom prst="rect">
            <a:avLst/>
          </a:prstGeom>
          <a:noFill/>
          <a:ln/>
        </p:spPr>
        <p:txBody>
          <a:bodyPr wrap="square" rtlCol="0" anchor="ctr"/>
          <a:lstStyle/>
          <a:p>
            <a:pPr algn="ctr" indent="0" marL="0">
              <a:buNone/>
            </a:pPr>
            <a:r>
              <a:rPr lang="en-US" sz="1300" i="1" dirty="0">
                <a:solidFill>
                  <a:srgbClr val="52514E"/>
                </a:solidFill>
                <a:latin typeface="Arial" pitchFamily="34" charset="0"/>
                <a:ea typeface="Arial" pitchFamily="34" charset="-122"/>
                <a:cs typeface="Arial" pitchFamily="34" charset="-120"/>
              </a:rPr>
              <a:t>A RAG-based answer that is not reliably grounded gets fine-tuned to use retrieved context better, then still ships as the RAG-based approach.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INDUSTRY USE CASES</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Finance</a:t>
            </a:r>
            <a:endParaRPr lang="en-US" sz="2600" dirty="0"/>
          </a:p>
        </p:txBody>
      </p:sp>
      <p:sp>
        <p:nvSpPr>
          <p:cNvPr id="4" name="Text 2"/>
          <p:cNvSpPr/>
          <p:nvPr/>
        </p:nvSpPr>
        <p:spPr>
          <a:xfrm>
            <a:off x="640080" y="1325880"/>
            <a:ext cx="10058400" cy="320040"/>
          </a:xfrm>
          <a:prstGeom prst="rect">
            <a:avLst/>
          </a:prstGeom>
          <a:noFill/>
          <a:ln/>
        </p:spPr>
        <p:txBody>
          <a:bodyPr wrap="square" rtlCol="0" anchor="ctr"/>
          <a:lstStyle/>
          <a:p>
            <a:pPr indent="0" marL="0">
              <a:buNone/>
            </a:pPr>
            <a:r>
              <a:rPr lang="en-US" sz="1300" b="1" dirty="0">
                <a:solidFill>
                  <a:srgbClr val="184F95"/>
                </a:solidFill>
                <a:latin typeface="Arial" pitchFamily="34" charset="0"/>
                <a:ea typeface="Arial" pitchFamily="34" charset="-122"/>
                <a:cs typeface="Arial" pitchFamily="34" charset="-120"/>
              </a:rPr>
              <a:t>FINANCIAL SERVICES</a:t>
            </a:r>
            <a:endParaRPr lang="en-US" sz="1300" dirty="0"/>
          </a:p>
        </p:txBody>
      </p:sp>
      <p:sp>
        <p:nvSpPr>
          <p:cNvPr id="5" name="Shape 3"/>
          <p:cNvSpPr/>
          <p:nvPr/>
        </p:nvSpPr>
        <p:spPr>
          <a:xfrm>
            <a:off x="640080" y="1737360"/>
            <a:ext cx="5257800" cy="4480560"/>
          </a:xfrm>
          <a:prstGeom prst="roundRect">
            <a:avLst>
              <a:gd name="adj" fmla="val 1633"/>
            </a:avLst>
          </a:prstGeom>
          <a:solidFill>
            <a:srgbClr val="FFFFFF"/>
          </a:solidFill>
          <a:ln w="12700">
            <a:solidFill>
              <a:srgbClr val="E3E1DB"/>
            </a:solidFill>
            <a:prstDash val="solid"/>
          </a:ln>
        </p:spPr>
      </p:sp>
      <p:sp>
        <p:nvSpPr>
          <p:cNvPr id="6" name="Text 4"/>
          <p:cNvSpPr/>
          <p:nvPr/>
        </p:nvSpPr>
        <p:spPr>
          <a:xfrm>
            <a:off x="868680" y="1874520"/>
            <a:ext cx="4800600" cy="640080"/>
          </a:xfrm>
          <a:prstGeom prst="rect">
            <a:avLst/>
          </a:prstGeom>
          <a:noFill/>
          <a:ln/>
        </p:spPr>
        <p:txBody>
          <a:bodyPr wrap="square" rtlCol="0" anchor="t"/>
          <a:lstStyle/>
          <a:p>
            <a:pPr indent="0" marL="0">
              <a:buNone/>
            </a:pPr>
            <a:r>
              <a:rPr lang="en-US" sz="1400" b="1" dirty="0">
                <a:solidFill>
                  <a:srgbClr val="0B0B0B"/>
                </a:solidFill>
                <a:latin typeface="Arial" pitchFamily="34" charset="0"/>
                <a:ea typeface="Arial" pitchFamily="34" charset="-122"/>
                <a:cs typeface="Arial" pitchFamily="34" charset="-120"/>
              </a:rPr>
              <a:t>Fine-tuning a compliance-answer model on rules that change quarterly</a:t>
            </a:r>
            <a:endParaRPr lang="en-US" sz="1400" dirty="0"/>
          </a:p>
        </p:txBody>
      </p:sp>
      <p:sp>
        <p:nvSpPr>
          <p:cNvPr id="7" name="Text 5"/>
          <p:cNvSpPr/>
          <p:nvPr/>
        </p:nvSpPr>
        <p:spPr>
          <a:xfrm>
            <a:off x="868680" y="2468880"/>
            <a:ext cx="4800600" cy="1051560"/>
          </a:xfrm>
          <a:prstGeom prst="rect">
            <a:avLst/>
          </a:prstGeom>
          <a:noFill/>
          <a:ln/>
        </p:spPr>
        <p:txBody>
          <a:bodyPr wrap="square" rtlCol="0" anchor="t"/>
          <a:lstStyle/>
          <a:p>
            <a:pPr indent="0" marL="0">
              <a:buNone/>
            </a:pPr>
            <a:r>
              <a:rPr lang="en-US" sz="1150" b="1" dirty="0">
                <a:solidFill>
                  <a:srgbClr val="104281"/>
                </a:solidFill>
                <a:latin typeface="Arial" pitchFamily="34" charset="0"/>
                <a:ea typeface="Arial" pitchFamily="34" charset="-122"/>
                <a:cs typeface="Arial" pitchFamily="34" charset="-120"/>
              </a:rPr>
              <a:t>Problem: </a:t>
            </a:r>
            <a:pPr indent="0" marL="0">
              <a:buNone/>
            </a:pPr>
            <a:r>
              <a:rPr lang="en-US" sz="1150" dirty="0">
                <a:solidFill>
                  <a:srgbClr val="52514E"/>
                </a:solidFill>
                <a:latin typeface="Arial" pitchFamily="34" charset="0"/>
                <a:ea typeface="Arial" pitchFamily="34" charset="-122"/>
                <a:cs typeface="Arial" pitchFamily="34" charset="-120"/>
              </a:rPr>
              <a:t>A compliance assistant is fine-tuned on the current regulatory thresholds, and those thresholds are revised again before the next quarter ends.</a:t>
            </a:r>
            <a:endParaRPr lang="en-US" sz="1150" dirty="0"/>
          </a:p>
        </p:txBody>
      </p:sp>
      <p:sp>
        <p:nvSpPr>
          <p:cNvPr id="8" name="Text 6"/>
          <p:cNvSpPr/>
          <p:nvPr/>
        </p:nvSpPr>
        <p:spPr>
          <a:xfrm>
            <a:off x="868680" y="3566160"/>
            <a:ext cx="4800600" cy="1051560"/>
          </a:xfrm>
          <a:prstGeom prst="rect">
            <a:avLst/>
          </a:prstGeom>
          <a:noFill/>
          <a:ln/>
        </p:spPr>
        <p:txBody>
          <a:bodyPr wrap="square" rtlCol="0" anchor="t"/>
          <a:lstStyle/>
          <a:p>
            <a:pPr indent="0" marL="0">
              <a:buNone/>
            </a:pPr>
            <a:r>
              <a:rPr lang="en-US" sz="1150" b="1" dirty="0">
                <a:solidFill>
                  <a:srgbClr val="104281"/>
                </a:solidFill>
                <a:latin typeface="Arial" pitchFamily="34" charset="0"/>
                <a:ea typeface="Arial" pitchFamily="34" charset="-122"/>
                <a:cs typeface="Arial" pitchFamily="34" charset="-120"/>
              </a:rPr>
              <a:t>Solution: </a:t>
            </a:r>
            <a:pPr indent="0" marL="0">
              <a:buNone/>
            </a:pPr>
            <a:r>
              <a:rPr lang="en-US" sz="1150" dirty="0">
                <a:solidFill>
                  <a:srgbClr val="52514E"/>
                </a:solidFill>
                <a:latin typeface="Arial" pitchFamily="34" charset="0"/>
                <a:ea typeface="Arial" pitchFamily="34" charset="-122"/>
                <a:cs typeface="Arial" pitchFamily="34" charset="-120"/>
              </a:rPr>
              <a:t>Use RAG to ground compliance answers in the current version of the regulation document, updated the moment the source changes.</a:t>
            </a:r>
            <a:endParaRPr lang="en-US" sz="1150" dirty="0"/>
          </a:p>
        </p:txBody>
      </p:sp>
      <p:sp>
        <p:nvSpPr>
          <p:cNvPr id="9" name="Text 7"/>
          <p:cNvSpPr/>
          <p:nvPr/>
        </p:nvSpPr>
        <p:spPr>
          <a:xfrm>
            <a:off x="868680" y="4663440"/>
            <a:ext cx="4800600" cy="1417320"/>
          </a:xfrm>
          <a:prstGeom prst="rect">
            <a:avLst/>
          </a:prstGeom>
          <a:noFill/>
          <a:ln/>
        </p:spPr>
        <p:txBody>
          <a:bodyPr wrap="square" rtlCol="0" anchor="t"/>
          <a:lstStyle/>
          <a:p>
            <a:pPr indent="0" marL="0">
              <a:buNone/>
            </a:pPr>
            <a:r>
              <a:rPr lang="en-US" sz="1100" b="1" dirty="0">
                <a:solidFill>
                  <a:srgbClr val="A33A2F"/>
                </a:solidFill>
                <a:latin typeface="Arial" pitchFamily="34" charset="0"/>
                <a:ea typeface="Arial" pitchFamily="34" charset="-122"/>
                <a:cs typeface="Arial" pitchFamily="34" charset="-120"/>
              </a:rPr>
              <a:t>Watch for: </a:t>
            </a:r>
            <a:pPr indent="0" marL="0">
              <a:buNone/>
            </a:pPr>
            <a:r>
              <a:rPr lang="en-US" sz="1100" dirty="0">
                <a:solidFill>
                  <a:srgbClr val="A33A2F"/>
                </a:solidFill>
                <a:latin typeface="Arial" pitchFamily="34" charset="0"/>
                <a:ea typeface="Arial" pitchFamily="34" charset="-122"/>
                <a:cs typeface="Arial" pitchFamily="34" charset="-120"/>
              </a:rPr>
              <a:t>A fine-tuned model has no way to know its regulatory knowledge went stale the day the rule changed, and it will keep citing the old threshold with exactly the same confidence as it once cited the correct one.</a:t>
            </a:r>
            <a:endParaRPr lang="en-US" sz="1100" dirty="0"/>
          </a:p>
        </p:txBody>
      </p:sp>
      <p:sp>
        <p:nvSpPr>
          <p:cNvPr id="10" name="Shape 8"/>
          <p:cNvSpPr/>
          <p:nvPr/>
        </p:nvSpPr>
        <p:spPr>
          <a:xfrm>
            <a:off x="6263640" y="1737360"/>
            <a:ext cx="5257800" cy="4480560"/>
          </a:xfrm>
          <a:prstGeom prst="roundRect">
            <a:avLst>
              <a:gd name="adj" fmla="val 1633"/>
            </a:avLst>
          </a:prstGeom>
          <a:solidFill>
            <a:srgbClr val="FFFFFF"/>
          </a:solidFill>
          <a:ln w="12700">
            <a:solidFill>
              <a:srgbClr val="E3E1DB"/>
            </a:solidFill>
            <a:prstDash val="solid"/>
          </a:ln>
        </p:spPr>
      </p:sp>
      <p:sp>
        <p:nvSpPr>
          <p:cNvPr id="11" name="Text 9"/>
          <p:cNvSpPr/>
          <p:nvPr/>
        </p:nvSpPr>
        <p:spPr>
          <a:xfrm>
            <a:off x="6492240" y="1874520"/>
            <a:ext cx="4800600" cy="640080"/>
          </a:xfrm>
          <a:prstGeom prst="rect">
            <a:avLst/>
          </a:prstGeom>
          <a:noFill/>
          <a:ln/>
        </p:spPr>
        <p:txBody>
          <a:bodyPr wrap="square" rtlCol="0" anchor="t"/>
          <a:lstStyle/>
          <a:p>
            <a:pPr indent="0" marL="0">
              <a:buNone/>
            </a:pPr>
            <a:r>
              <a:rPr lang="en-US" sz="1400" b="1" dirty="0">
                <a:solidFill>
                  <a:srgbClr val="0B0B0B"/>
                </a:solidFill>
                <a:latin typeface="Arial" pitchFamily="34" charset="0"/>
                <a:ea typeface="Arial" pitchFamily="34" charset="-122"/>
                <a:cs typeface="Arial" pitchFamily="34" charset="-120"/>
              </a:rPr>
              <a:t>Shipping a RAG-based advisory assistant that ignores its own retrieved documents</a:t>
            </a:r>
            <a:endParaRPr lang="en-US" sz="1400" dirty="0"/>
          </a:p>
        </p:txBody>
      </p:sp>
      <p:sp>
        <p:nvSpPr>
          <p:cNvPr id="12" name="Text 10"/>
          <p:cNvSpPr/>
          <p:nvPr/>
        </p:nvSpPr>
        <p:spPr>
          <a:xfrm>
            <a:off x="6492240" y="2468880"/>
            <a:ext cx="4800600" cy="1051560"/>
          </a:xfrm>
          <a:prstGeom prst="rect">
            <a:avLst/>
          </a:prstGeom>
          <a:noFill/>
          <a:ln/>
        </p:spPr>
        <p:txBody>
          <a:bodyPr wrap="square" rtlCol="0" anchor="t"/>
          <a:lstStyle/>
          <a:p>
            <a:pPr indent="0" marL="0">
              <a:buNone/>
            </a:pPr>
            <a:r>
              <a:rPr lang="en-US" sz="1150" b="1" dirty="0">
                <a:solidFill>
                  <a:srgbClr val="104281"/>
                </a:solidFill>
                <a:latin typeface="Arial" pitchFamily="34" charset="0"/>
                <a:ea typeface="Arial" pitchFamily="34" charset="-122"/>
                <a:cs typeface="Arial" pitchFamily="34" charset="-120"/>
              </a:rPr>
              <a:t>Problem: </a:t>
            </a:r>
            <a:pPr indent="0" marL="0">
              <a:buNone/>
            </a:pPr>
            <a:r>
              <a:rPr lang="en-US" sz="1150" dirty="0">
                <a:solidFill>
                  <a:srgbClr val="52514E"/>
                </a:solidFill>
                <a:latin typeface="Arial" pitchFamily="34" charset="0"/>
                <a:ea typeface="Arial" pitchFamily="34" charset="-122"/>
                <a:cs typeface="Arial" pitchFamily="34" charset="-120"/>
              </a:rPr>
              <a:t>An investment-advisory assistant retrieves the right internal research note for a query, and the generated answer still contradicts what that note says.</a:t>
            </a:r>
            <a:endParaRPr lang="en-US" sz="1150" dirty="0"/>
          </a:p>
        </p:txBody>
      </p:sp>
      <p:sp>
        <p:nvSpPr>
          <p:cNvPr id="13" name="Text 11"/>
          <p:cNvSpPr/>
          <p:nvPr/>
        </p:nvSpPr>
        <p:spPr>
          <a:xfrm>
            <a:off x="6492240" y="3566160"/>
            <a:ext cx="4800600" cy="1051560"/>
          </a:xfrm>
          <a:prstGeom prst="rect">
            <a:avLst/>
          </a:prstGeom>
          <a:noFill/>
          <a:ln/>
        </p:spPr>
        <p:txBody>
          <a:bodyPr wrap="square" rtlCol="0" anchor="t"/>
          <a:lstStyle/>
          <a:p>
            <a:pPr indent="0" marL="0">
              <a:buNone/>
            </a:pPr>
            <a:r>
              <a:rPr lang="en-US" sz="1150" b="1" dirty="0">
                <a:solidFill>
                  <a:srgbClr val="104281"/>
                </a:solidFill>
                <a:latin typeface="Arial" pitchFamily="34" charset="0"/>
                <a:ea typeface="Arial" pitchFamily="34" charset="-122"/>
                <a:cs typeface="Arial" pitchFamily="34" charset="-120"/>
              </a:rPr>
              <a:t>Solution: </a:t>
            </a:r>
            <a:pPr indent="0" marL="0">
              <a:buNone/>
            </a:pPr>
            <a:r>
              <a:rPr lang="en-US" sz="1150" dirty="0">
                <a:solidFill>
                  <a:srgbClr val="52514E"/>
                </a:solidFill>
                <a:latin typeface="Arial" pitchFamily="34" charset="0"/>
                <a:ea typeface="Arial" pitchFamily="34" charset="-122"/>
                <a:cs typeface="Arial" pitchFamily="34" charset="-120"/>
              </a:rPr>
              <a:t>Evaluate whether the base model reliably grounds its answer in retrieved content, and apply RAFT-style fine-tuning if it does not.</a:t>
            </a:r>
            <a:endParaRPr lang="en-US" sz="1150" dirty="0"/>
          </a:p>
        </p:txBody>
      </p:sp>
      <p:sp>
        <p:nvSpPr>
          <p:cNvPr id="14" name="Text 12"/>
          <p:cNvSpPr/>
          <p:nvPr/>
        </p:nvSpPr>
        <p:spPr>
          <a:xfrm>
            <a:off x="6492240" y="4663440"/>
            <a:ext cx="4800600" cy="1417320"/>
          </a:xfrm>
          <a:prstGeom prst="rect">
            <a:avLst/>
          </a:prstGeom>
          <a:noFill/>
          <a:ln/>
        </p:spPr>
        <p:txBody>
          <a:bodyPr wrap="square" rtlCol="0" anchor="t"/>
          <a:lstStyle/>
          <a:p>
            <a:pPr indent="0" marL="0">
              <a:buNone/>
            </a:pPr>
            <a:r>
              <a:rPr lang="en-US" sz="1100" b="1" dirty="0">
                <a:solidFill>
                  <a:srgbClr val="A33A2F"/>
                </a:solidFill>
                <a:latin typeface="Arial" pitchFamily="34" charset="0"/>
                <a:ea typeface="Arial" pitchFamily="34" charset="-122"/>
                <a:cs typeface="Arial" pitchFamily="34" charset="-120"/>
              </a:rPr>
              <a:t>Watch for: </a:t>
            </a:r>
            <a:pPr indent="0" marL="0">
              <a:buNone/>
            </a:pPr>
            <a:r>
              <a:rPr lang="en-US" sz="1100" dirty="0">
                <a:solidFill>
                  <a:srgbClr val="A33A2F"/>
                </a:solidFill>
                <a:latin typeface="Arial" pitchFamily="34" charset="0"/>
                <a:ea typeface="Arial" pitchFamily="34" charset="-122"/>
                <a:cs typeface="Arial" pitchFamily="34" charset="-120"/>
              </a:rPr>
              <a:t>Even when the retriever surfaces exactly the right document, a model that was never trained to prefer that document's content over its own frozen assumptions will not reliably use it.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INDUSTRY USE CASES</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Healthcare &amp; Telecom</a:t>
            </a:r>
            <a:endParaRPr lang="en-US" sz="2600" dirty="0"/>
          </a:p>
        </p:txBody>
      </p:sp>
      <p:sp>
        <p:nvSpPr>
          <p:cNvPr id="4" name="Text 2"/>
          <p:cNvSpPr/>
          <p:nvPr/>
        </p:nvSpPr>
        <p:spPr>
          <a:xfrm>
            <a:off x="640080" y="1325880"/>
            <a:ext cx="10058400" cy="320040"/>
          </a:xfrm>
          <a:prstGeom prst="rect">
            <a:avLst/>
          </a:prstGeom>
          <a:noFill/>
          <a:ln/>
        </p:spPr>
        <p:txBody>
          <a:bodyPr wrap="square" rtlCol="0" anchor="ctr"/>
          <a:lstStyle/>
          <a:p>
            <a:pPr indent="0" marL="0">
              <a:buNone/>
            </a:pPr>
            <a:r>
              <a:rPr lang="en-US" sz="1300" b="1" dirty="0">
                <a:solidFill>
                  <a:srgbClr val="184F95"/>
                </a:solidFill>
                <a:latin typeface="Arial" pitchFamily="34" charset="0"/>
                <a:ea typeface="Arial" pitchFamily="34" charset="-122"/>
                <a:cs typeface="Arial" pitchFamily="34" charset="-120"/>
              </a:rPr>
              <a:t>HEALTHCARE + TELECOM</a:t>
            </a:r>
            <a:endParaRPr lang="en-US" sz="1300" dirty="0"/>
          </a:p>
        </p:txBody>
      </p:sp>
      <p:sp>
        <p:nvSpPr>
          <p:cNvPr id="5" name="Shape 3"/>
          <p:cNvSpPr/>
          <p:nvPr/>
        </p:nvSpPr>
        <p:spPr>
          <a:xfrm>
            <a:off x="640080" y="1737360"/>
            <a:ext cx="5257800" cy="4480560"/>
          </a:xfrm>
          <a:prstGeom prst="roundRect">
            <a:avLst>
              <a:gd name="adj" fmla="val 1633"/>
            </a:avLst>
          </a:prstGeom>
          <a:solidFill>
            <a:srgbClr val="FFFFFF"/>
          </a:solidFill>
          <a:ln w="12700">
            <a:solidFill>
              <a:srgbClr val="E3E1DB"/>
            </a:solidFill>
            <a:prstDash val="solid"/>
          </a:ln>
        </p:spPr>
      </p:sp>
      <p:sp>
        <p:nvSpPr>
          <p:cNvPr id="6" name="Text 4"/>
          <p:cNvSpPr/>
          <p:nvPr/>
        </p:nvSpPr>
        <p:spPr>
          <a:xfrm>
            <a:off x="868680" y="1874520"/>
            <a:ext cx="4800600" cy="640080"/>
          </a:xfrm>
          <a:prstGeom prst="rect">
            <a:avLst/>
          </a:prstGeom>
          <a:noFill/>
          <a:ln/>
        </p:spPr>
        <p:txBody>
          <a:bodyPr wrap="square" rtlCol="0" anchor="t"/>
          <a:lstStyle/>
          <a:p>
            <a:pPr indent="0" marL="0">
              <a:buNone/>
            </a:pPr>
            <a:r>
              <a:rPr lang="en-US" sz="1400" b="1" dirty="0">
                <a:solidFill>
                  <a:srgbClr val="0B0B0B"/>
                </a:solidFill>
                <a:latin typeface="Arial" pitchFamily="34" charset="0"/>
                <a:ea typeface="Arial" pitchFamily="34" charset="-122"/>
                <a:cs typeface="Arial" pitchFamily="34" charset="-120"/>
              </a:rPr>
              <a:t>(Healthcare) Fine-tuning a clinical-guidance assistant on protocols that get revised</a:t>
            </a:r>
            <a:endParaRPr lang="en-US" sz="1400" dirty="0"/>
          </a:p>
        </p:txBody>
      </p:sp>
      <p:sp>
        <p:nvSpPr>
          <p:cNvPr id="7" name="Text 5"/>
          <p:cNvSpPr/>
          <p:nvPr/>
        </p:nvSpPr>
        <p:spPr>
          <a:xfrm>
            <a:off x="868680" y="2468880"/>
            <a:ext cx="4800600" cy="1051560"/>
          </a:xfrm>
          <a:prstGeom prst="rect">
            <a:avLst/>
          </a:prstGeom>
          <a:noFill/>
          <a:ln/>
        </p:spPr>
        <p:txBody>
          <a:bodyPr wrap="square" rtlCol="0" anchor="t"/>
          <a:lstStyle/>
          <a:p>
            <a:pPr indent="0" marL="0">
              <a:buNone/>
            </a:pPr>
            <a:r>
              <a:rPr lang="en-US" sz="1150" b="1" dirty="0">
                <a:solidFill>
                  <a:srgbClr val="104281"/>
                </a:solidFill>
                <a:latin typeface="Arial" pitchFamily="34" charset="0"/>
                <a:ea typeface="Arial" pitchFamily="34" charset="-122"/>
                <a:cs typeface="Arial" pitchFamily="34" charset="-120"/>
              </a:rPr>
              <a:t>Problem: </a:t>
            </a:r>
            <a:pPr indent="0" marL="0">
              <a:buNone/>
            </a:pPr>
            <a:r>
              <a:rPr lang="en-US" sz="1150" dirty="0">
                <a:solidFill>
                  <a:srgbClr val="52514E"/>
                </a:solidFill>
                <a:latin typeface="Arial" pitchFamily="34" charset="0"/>
                <a:ea typeface="Arial" pitchFamily="34" charset="-122"/>
                <a:cs typeface="Arial" pitchFamily="34" charset="-120"/>
              </a:rPr>
              <a:t>A clinical-guidance assistant is fine-tuned on the current treatment protocol, and a revised version is published a few months later.</a:t>
            </a:r>
            <a:endParaRPr lang="en-US" sz="1150" dirty="0"/>
          </a:p>
        </p:txBody>
      </p:sp>
      <p:sp>
        <p:nvSpPr>
          <p:cNvPr id="8" name="Text 6"/>
          <p:cNvSpPr/>
          <p:nvPr/>
        </p:nvSpPr>
        <p:spPr>
          <a:xfrm>
            <a:off x="868680" y="3566160"/>
            <a:ext cx="4800600" cy="1051560"/>
          </a:xfrm>
          <a:prstGeom prst="rect">
            <a:avLst/>
          </a:prstGeom>
          <a:noFill/>
          <a:ln/>
        </p:spPr>
        <p:txBody>
          <a:bodyPr wrap="square" rtlCol="0" anchor="t"/>
          <a:lstStyle/>
          <a:p>
            <a:pPr indent="0" marL="0">
              <a:buNone/>
            </a:pPr>
            <a:r>
              <a:rPr lang="en-US" sz="1150" b="1" dirty="0">
                <a:solidFill>
                  <a:srgbClr val="104281"/>
                </a:solidFill>
                <a:latin typeface="Arial" pitchFamily="34" charset="0"/>
                <a:ea typeface="Arial" pitchFamily="34" charset="-122"/>
                <a:cs typeface="Arial" pitchFamily="34" charset="-120"/>
              </a:rPr>
              <a:t>Solution: </a:t>
            </a:r>
            <a:pPr indent="0" marL="0">
              <a:buNone/>
            </a:pPr>
            <a:r>
              <a:rPr lang="en-US" sz="1150" dirty="0">
                <a:solidFill>
                  <a:srgbClr val="52514E"/>
                </a:solidFill>
                <a:latin typeface="Arial" pitchFamily="34" charset="0"/>
                <a:ea typeface="Arial" pitchFamily="34" charset="-122"/>
                <a:cs typeface="Arial" pitchFamily="34" charset="-120"/>
              </a:rPr>
              <a:t>Ground clinical guidance in RAG over the current protocol documents instead, so an update to the source document is reflected immediately.</a:t>
            </a:r>
            <a:endParaRPr lang="en-US" sz="1150" dirty="0"/>
          </a:p>
        </p:txBody>
      </p:sp>
      <p:sp>
        <p:nvSpPr>
          <p:cNvPr id="9" name="Text 7"/>
          <p:cNvSpPr/>
          <p:nvPr/>
        </p:nvSpPr>
        <p:spPr>
          <a:xfrm>
            <a:off x="868680" y="4663440"/>
            <a:ext cx="4800600" cy="1417320"/>
          </a:xfrm>
          <a:prstGeom prst="rect">
            <a:avLst/>
          </a:prstGeom>
          <a:noFill/>
          <a:ln/>
        </p:spPr>
        <p:txBody>
          <a:bodyPr wrap="square" rtlCol="0" anchor="t"/>
          <a:lstStyle/>
          <a:p>
            <a:pPr indent="0" marL="0">
              <a:buNone/>
            </a:pPr>
            <a:r>
              <a:rPr lang="en-US" sz="1100" b="1" dirty="0">
                <a:solidFill>
                  <a:srgbClr val="A33A2F"/>
                </a:solidFill>
                <a:latin typeface="Arial" pitchFamily="34" charset="0"/>
                <a:ea typeface="Arial" pitchFamily="34" charset="-122"/>
                <a:cs typeface="Arial" pitchFamily="34" charset="-120"/>
              </a:rPr>
              <a:t>Watch for: </a:t>
            </a:r>
            <a:pPr indent="0" marL="0">
              <a:buNone/>
            </a:pPr>
            <a:r>
              <a:rPr lang="en-US" sz="1100" dirty="0">
                <a:solidFill>
                  <a:srgbClr val="A33A2F"/>
                </a:solidFill>
                <a:latin typeface="Arial" pitchFamily="34" charset="0"/>
                <a:ea typeface="Arial" pitchFamily="34" charset="-122"/>
                <a:cs typeface="Arial" pitchFamily="34" charset="-120"/>
              </a:rPr>
              <a:t>Whatever protocol version was baked into the fine-tuned model keeps being recommended after a revision ships, with no signal to a clinician that the guidance is now out of date.</a:t>
            </a:r>
            <a:endParaRPr lang="en-US" sz="1100" dirty="0"/>
          </a:p>
        </p:txBody>
      </p:sp>
      <p:sp>
        <p:nvSpPr>
          <p:cNvPr id="10" name="Shape 8"/>
          <p:cNvSpPr/>
          <p:nvPr/>
        </p:nvSpPr>
        <p:spPr>
          <a:xfrm>
            <a:off x="6263640" y="1737360"/>
            <a:ext cx="5257800" cy="4480560"/>
          </a:xfrm>
          <a:prstGeom prst="roundRect">
            <a:avLst>
              <a:gd name="adj" fmla="val 1633"/>
            </a:avLst>
          </a:prstGeom>
          <a:solidFill>
            <a:srgbClr val="FFFFFF"/>
          </a:solidFill>
          <a:ln w="12700">
            <a:solidFill>
              <a:srgbClr val="E3E1DB"/>
            </a:solidFill>
            <a:prstDash val="solid"/>
          </a:ln>
        </p:spPr>
      </p:sp>
      <p:sp>
        <p:nvSpPr>
          <p:cNvPr id="11" name="Text 9"/>
          <p:cNvSpPr/>
          <p:nvPr/>
        </p:nvSpPr>
        <p:spPr>
          <a:xfrm>
            <a:off x="6492240" y="1874520"/>
            <a:ext cx="4800600" cy="640080"/>
          </a:xfrm>
          <a:prstGeom prst="rect">
            <a:avLst/>
          </a:prstGeom>
          <a:noFill/>
          <a:ln/>
        </p:spPr>
        <p:txBody>
          <a:bodyPr wrap="square" rtlCol="0" anchor="t"/>
          <a:lstStyle/>
          <a:p>
            <a:pPr indent="0" marL="0">
              <a:buNone/>
            </a:pPr>
            <a:r>
              <a:rPr lang="en-US" sz="1400" b="1" dirty="0">
                <a:solidFill>
                  <a:srgbClr val="0B0B0B"/>
                </a:solidFill>
                <a:latin typeface="Arial" pitchFamily="34" charset="0"/>
                <a:ea typeface="Arial" pitchFamily="34" charset="-122"/>
                <a:cs typeface="Arial" pitchFamily="34" charset="-120"/>
              </a:rPr>
              <a:t>(Telecom) Fine-tuning a plan-and-pricing assistant on promotions that rotate monthly</a:t>
            </a:r>
            <a:endParaRPr lang="en-US" sz="1400" dirty="0"/>
          </a:p>
        </p:txBody>
      </p:sp>
      <p:sp>
        <p:nvSpPr>
          <p:cNvPr id="12" name="Text 10"/>
          <p:cNvSpPr/>
          <p:nvPr/>
        </p:nvSpPr>
        <p:spPr>
          <a:xfrm>
            <a:off x="6492240" y="2468880"/>
            <a:ext cx="4800600" cy="1051560"/>
          </a:xfrm>
          <a:prstGeom prst="rect">
            <a:avLst/>
          </a:prstGeom>
          <a:noFill/>
          <a:ln/>
        </p:spPr>
        <p:txBody>
          <a:bodyPr wrap="square" rtlCol="0" anchor="t"/>
          <a:lstStyle/>
          <a:p>
            <a:pPr indent="0" marL="0">
              <a:buNone/>
            </a:pPr>
            <a:r>
              <a:rPr lang="en-US" sz="1150" b="1" dirty="0">
                <a:solidFill>
                  <a:srgbClr val="104281"/>
                </a:solidFill>
                <a:latin typeface="Arial" pitchFamily="34" charset="0"/>
                <a:ea typeface="Arial" pitchFamily="34" charset="-122"/>
                <a:cs typeface="Arial" pitchFamily="34" charset="-120"/>
              </a:rPr>
              <a:t>Problem: </a:t>
            </a:r>
            <a:pPr indent="0" marL="0">
              <a:buNone/>
            </a:pPr>
            <a:r>
              <a:rPr lang="en-US" sz="1150" dirty="0">
                <a:solidFill>
                  <a:srgbClr val="52514E"/>
                </a:solidFill>
                <a:latin typeface="Arial" pitchFamily="34" charset="0"/>
                <a:ea typeface="Arial" pitchFamily="34" charset="-122"/>
                <a:cs typeface="Arial" pitchFamily="34" charset="-120"/>
              </a:rPr>
              <a:t>A customer-facing plan-and-pricing assistant is fine-tuned on this month's promotional offers, and next month's promotions replace them entirely.</a:t>
            </a:r>
            <a:endParaRPr lang="en-US" sz="1150" dirty="0"/>
          </a:p>
        </p:txBody>
      </p:sp>
      <p:sp>
        <p:nvSpPr>
          <p:cNvPr id="13" name="Text 11"/>
          <p:cNvSpPr/>
          <p:nvPr/>
        </p:nvSpPr>
        <p:spPr>
          <a:xfrm>
            <a:off x="6492240" y="3566160"/>
            <a:ext cx="4800600" cy="1051560"/>
          </a:xfrm>
          <a:prstGeom prst="rect">
            <a:avLst/>
          </a:prstGeom>
          <a:noFill/>
          <a:ln/>
        </p:spPr>
        <p:txBody>
          <a:bodyPr wrap="square" rtlCol="0" anchor="t"/>
          <a:lstStyle/>
          <a:p>
            <a:pPr indent="0" marL="0">
              <a:buNone/>
            </a:pPr>
            <a:r>
              <a:rPr lang="en-US" sz="1150" b="1" dirty="0">
                <a:solidFill>
                  <a:srgbClr val="104281"/>
                </a:solidFill>
                <a:latin typeface="Arial" pitchFamily="34" charset="0"/>
                <a:ea typeface="Arial" pitchFamily="34" charset="-122"/>
                <a:cs typeface="Arial" pitchFamily="34" charset="-120"/>
              </a:rPr>
              <a:t>Solution: </a:t>
            </a:r>
            <a:pPr indent="0" marL="0">
              <a:buNone/>
            </a:pPr>
            <a:r>
              <a:rPr lang="en-US" sz="1150" dirty="0">
                <a:solidFill>
                  <a:srgbClr val="52514E"/>
                </a:solidFill>
                <a:latin typeface="Arial" pitchFamily="34" charset="0"/>
                <a:ea typeface="Arial" pitchFamily="34" charset="-122"/>
                <a:cs typeface="Arial" pitchFamily="34" charset="-120"/>
              </a:rPr>
              <a:t>Ground pricing and promotion answers in RAG over the current plan catalog, so a promotion change is reflected the moment the catalog updates.</a:t>
            </a:r>
            <a:endParaRPr lang="en-US" sz="1150" dirty="0"/>
          </a:p>
        </p:txBody>
      </p:sp>
      <p:sp>
        <p:nvSpPr>
          <p:cNvPr id="14" name="Text 12"/>
          <p:cNvSpPr/>
          <p:nvPr/>
        </p:nvSpPr>
        <p:spPr>
          <a:xfrm>
            <a:off x="6492240" y="4663440"/>
            <a:ext cx="4800600" cy="1417320"/>
          </a:xfrm>
          <a:prstGeom prst="rect">
            <a:avLst/>
          </a:prstGeom>
          <a:noFill/>
          <a:ln/>
        </p:spPr>
        <p:txBody>
          <a:bodyPr wrap="square" rtlCol="0" anchor="t"/>
          <a:lstStyle/>
          <a:p>
            <a:pPr indent="0" marL="0">
              <a:buNone/>
            </a:pPr>
            <a:r>
              <a:rPr lang="en-US" sz="1100" b="1" dirty="0">
                <a:solidFill>
                  <a:srgbClr val="A33A2F"/>
                </a:solidFill>
                <a:latin typeface="Arial" pitchFamily="34" charset="0"/>
                <a:ea typeface="Arial" pitchFamily="34" charset="-122"/>
                <a:cs typeface="Arial" pitchFamily="34" charset="-120"/>
              </a:rPr>
              <a:t>Watch for: </a:t>
            </a:r>
            <a:pPr indent="0" marL="0">
              <a:buNone/>
            </a:pPr>
            <a:r>
              <a:rPr lang="en-US" sz="1100" dirty="0">
                <a:solidFill>
                  <a:srgbClr val="A33A2F"/>
                </a:solidFill>
                <a:latin typeface="Arial" pitchFamily="34" charset="0"/>
                <a:ea typeface="Arial" pitchFamily="34" charset="-122"/>
                <a:cs typeface="Arial" pitchFamily="34" charset="-120"/>
              </a:rPr>
              <a:t>Once fine-tuned into the model, an expired promotion keeps getting quoted to customers with full confidence long after it stopped being valid.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40080" y="320040"/>
            <a:ext cx="10058400" cy="320040"/>
          </a:xfrm>
          <a:prstGeom prst="rect">
            <a:avLst/>
          </a:prstGeom>
          <a:noFill/>
          <a:ln/>
        </p:spPr>
        <p:txBody>
          <a:bodyPr wrap="square" rtlCol="0" anchor="ctr"/>
          <a:lstStyle/>
          <a:p>
            <a:pPr indent="0" marL="0">
              <a:buNone/>
            </a:pPr>
            <a:r>
              <a:rPr lang="en-US" sz="1200" b="1" spc="150" kern="0" dirty="0">
                <a:solidFill>
                  <a:srgbClr val="184F95"/>
                </a:solidFill>
                <a:latin typeface="Arial" pitchFamily="34" charset="0"/>
                <a:ea typeface="Arial" pitchFamily="34" charset="-122"/>
                <a:cs typeface="Arial" pitchFamily="34" charset="-120"/>
              </a:rPr>
              <a:t>CHECK YOUR UNDERSTANDING</a:t>
            </a:r>
            <a:endParaRPr lang="en-US" sz="1200" dirty="0"/>
          </a:p>
        </p:txBody>
      </p:sp>
      <p:sp>
        <p:nvSpPr>
          <p:cNvPr id="3" name="Text 1"/>
          <p:cNvSpPr/>
          <p:nvPr/>
        </p:nvSpPr>
        <p:spPr>
          <a:xfrm>
            <a:off x="640080" y="594360"/>
            <a:ext cx="10972800" cy="685800"/>
          </a:xfrm>
          <a:prstGeom prst="rect">
            <a:avLst/>
          </a:prstGeom>
          <a:noFill/>
          <a:ln/>
        </p:spPr>
        <p:txBody>
          <a:bodyPr wrap="square" rtlCol="0" anchor="ctr"/>
          <a:lstStyle/>
          <a:p>
            <a:pPr indent="0" marL="0">
              <a:buNone/>
            </a:pPr>
            <a:r>
              <a:rPr lang="en-US" sz="2600" b="1" dirty="0">
                <a:solidFill>
                  <a:srgbClr val="0B0B0B"/>
                </a:solidFill>
                <a:latin typeface="Arial" pitchFamily="34" charset="0"/>
                <a:ea typeface="Arial" pitchFamily="34" charset="-122"/>
                <a:cs typeface="Arial" pitchFamily="34" charset="-120"/>
              </a:rPr>
              <a:t>Discuss before moving on</a:t>
            </a:r>
            <a:endParaRPr lang="en-US" sz="2600" dirty="0"/>
          </a:p>
        </p:txBody>
      </p:sp>
      <p:sp>
        <p:nvSpPr>
          <p:cNvPr id="4" name="Text 2"/>
          <p:cNvSpPr/>
          <p:nvPr/>
        </p:nvSpPr>
        <p:spPr>
          <a:xfrm>
            <a:off x="640080" y="1463040"/>
            <a:ext cx="10881360" cy="4754880"/>
          </a:xfrm>
          <a:prstGeom prst="rect">
            <a:avLst/>
          </a:prstGeom>
          <a:noFill/>
          <a:ln/>
        </p:spPr>
        <p:txBody>
          <a:bodyPr wrap="square" rtlCol="0" anchor="t"/>
          <a:lstStyle/>
          <a:p>
            <a:pPr indent="0" marL="0">
              <a:spcAft>
                <a:spcPts val="1400"/>
              </a:spcAft>
              <a:buNone/>
            </a:pPr>
            <a:r>
              <a:rPr lang="en-US" sz="1500" dirty="0">
                <a:solidFill>
                  <a:srgbClr val="52514E"/>
                </a:solidFill>
                <a:latin typeface="Arial" pitchFamily="34" charset="0"/>
                <a:ea typeface="Arial" pitchFamily="34" charset="-122"/>
                <a:cs typeface="Arial" pitchFamily="34" charset="-120"/>
              </a:rPr>
              <a:t>1. What does OpenAI's guidance say you should try before committing to fine-tuning?</a:t>
            </a:r>
            <a:endParaRPr lang="en-US" sz="1500" dirty="0"/>
          </a:p>
          <a:p>
            <a:pPr indent="0" marL="0">
              <a:spcAft>
                <a:spcPts val="1400"/>
              </a:spcAft>
              <a:buNone/>
            </a:pPr>
            <a:r>
              <a:rPr lang="en-US" sz="1500" dirty="0">
                <a:solidFill>
                  <a:srgbClr val="52514E"/>
                </a:solidFill>
                <a:latin typeface="Arial" pitchFamily="34" charset="0"/>
                <a:ea typeface="Arial" pitchFamily="34" charset="-122"/>
                <a:cs typeface="Arial" pitchFamily="34" charset="-120"/>
              </a:rPr>
              <a:t>2. What core limitation of pretrained language models motivated Lewis et al.'s original RAG paper?</a:t>
            </a:r>
            <a:endParaRPr lang="en-US" sz="1500" dirty="0"/>
          </a:p>
          <a:p>
            <a:pPr indent="0" marL="0">
              <a:spcAft>
                <a:spcPts val="1400"/>
              </a:spcAft>
              <a:buNone/>
            </a:pPr>
            <a:r>
              <a:rPr lang="en-US" sz="1500" dirty="0">
                <a:solidFill>
                  <a:srgbClr val="52514E"/>
                </a:solidFill>
                <a:latin typeface="Arial" pitchFamily="34" charset="0"/>
                <a:ea typeface="Arial" pitchFamily="34" charset="-122"/>
                <a:cs typeface="Arial" pitchFamily="34" charset="-120"/>
              </a:rPr>
              <a:t>3. What three properties does Anthropic name as reasons to reach for RAG specifically?</a:t>
            </a:r>
            <a:endParaRPr lang="en-US" sz="1500" dirty="0"/>
          </a:p>
          <a:p>
            <a:pPr indent="0" marL="0">
              <a:spcAft>
                <a:spcPts val="1400"/>
              </a:spcAft>
              <a:buNone/>
            </a:pPr>
            <a:r>
              <a:rPr lang="en-US" sz="1500" dirty="0">
                <a:solidFill>
                  <a:srgbClr val="52514E"/>
                </a:solidFill>
                <a:latin typeface="Arial" pitchFamily="34" charset="0"/>
                <a:ea typeface="Arial" pitchFamily="34" charset="-122"/>
                <a:cs typeface="Arial" pitchFamily="34" charset="-120"/>
              </a:rPr>
              <a:t>4. What does LoRA change about how fine-tuning works, and what cost reduction does it report?</a:t>
            </a:r>
            <a:endParaRPr lang="en-US" sz="1500" dirty="0"/>
          </a:p>
          <a:p>
            <a:pPr indent="0" marL="0">
              <a:spcAft>
                <a:spcPts val="1400"/>
              </a:spcAft>
              <a:buNone/>
            </a:pPr>
            <a:r>
              <a:rPr lang="en-US" sz="1500" dirty="0">
                <a:solidFill>
                  <a:srgbClr val="52514E"/>
                </a:solidFill>
                <a:latin typeface="Arial" pitchFamily="34" charset="0"/>
                <a:ea typeface="Arial" pitchFamily="34" charset="-122"/>
                <a:cs typeface="Arial" pitchFamily="34" charset="-120"/>
              </a:rPr>
              <a:t>5. Why are prompting, RAG, and fine-tuning not mutually exclusive, and what does RAFT fine-tune a model to do?</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4281"/>
        </a:solidFill>
      </p:bgPr>
    </p:bg>
    <p:spTree>
      <p:nvGrpSpPr>
        <p:cNvPr id="1" name=""/>
        <p:cNvGrpSpPr/>
        <p:nvPr/>
      </p:nvGrpSpPr>
      <p:grpSpPr>
        <a:xfrm>
          <a:off x="0" y="0"/>
          <a:ext cx="0" cy="0"/>
          <a:chOff x="0" y="0"/>
          <a:chExt cx="0" cy="0"/>
        </a:xfrm>
      </p:grpSpPr>
      <p:sp>
        <p:nvSpPr>
          <p:cNvPr id="2" name="Text 0"/>
          <p:cNvSpPr/>
          <p:nvPr/>
        </p:nvSpPr>
        <p:spPr>
          <a:xfrm>
            <a:off x="731520" y="640080"/>
            <a:ext cx="10058400" cy="365760"/>
          </a:xfrm>
          <a:prstGeom prst="rect">
            <a:avLst/>
          </a:prstGeom>
          <a:noFill/>
          <a:ln/>
        </p:spPr>
        <p:txBody>
          <a:bodyPr wrap="square" rtlCol="0" anchor="ctr"/>
          <a:lstStyle/>
          <a:p>
            <a:pPr indent="0" marL="0">
              <a:buNone/>
            </a:pPr>
            <a:r>
              <a:rPr lang="en-US" sz="1400" b="1" spc="200" kern="0" dirty="0">
                <a:solidFill>
                  <a:srgbClr val="86B6EF"/>
                </a:solidFill>
                <a:latin typeface="Arial" pitchFamily="34" charset="0"/>
                <a:ea typeface="Arial" pitchFamily="34" charset="-122"/>
                <a:cs typeface="Arial" pitchFamily="34" charset="-120"/>
              </a:rPr>
              <a:t>CHAPTER 5.8 · PHASE 5</a:t>
            </a:r>
            <a:endParaRPr lang="en-US" sz="1400" dirty="0"/>
          </a:p>
        </p:txBody>
      </p:sp>
      <p:sp>
        <p:nvSpPr>
          <p:cNvPr id="3" name="Text 1"/>
          <p:cNvSpPr/>
          <p:nvPr/>
        </p:nvSpPr>
        <p:spPr>
          <a:xfrm>
            <a:off x="731520" y="1097280"/>
            <a:ext cx="10515600" cy="91440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Key Takeaways</a:t>
            </a:r>
            <a:endParaRPr lang="en-US" sz="3000" dirty="0"/>
          </a:p>
        </p:txBody>
      </p:sp>
      <p:sp>
        <p:nvSpPr>
          <p:cNvPr id="4" name="Text 2"/>
          <p:cNvSpPr/>
          <p:nvPr/>
        </p:nvSpPr>
        <p:spPr>
          <a:xfrm>
            <a:off x="731520" y="2286000"/>
            <a:ext cx="10515600" cy="320040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Try prompting first; it is the cheapest lever and the fastest to revise</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Reach for RAG when an answer must be current, domain-specific, or citable</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Reach for fine-tuning when a narrow, high-volume behavior is expensive to keep re-explaining</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The three approaches combine in production; RAG and fine-tuning mechanics come in Phase 6 and Phase 7</a:t>
            </a:r>
            <a:endParaRPr lang="en-US" sz="1500" dirty="0"/>
          </a:p>
        </p:txBody>
      </p:sp>
      <p:sp>
        <p:nvSpPr>
          <p:cNvPr id="5" name="Text 3"/>
          <p:cNvSpPr/>
          <p:nvPr/>
        </p:nvSpPr>
        <p:spPr>
          <a:xfrm>
            <a:off x="731520" y="5943600"/>
            <a:ext cx="10515600" cy="457200"/>
          </a:xfrm>
          <a:prstGeom prst="rect">
            <a:avLst/>
          </a:prstGeom>
          <a:noFill/>
          <a:ln/>
        </p:spPr>
        <p:txBody>
          <a:bodyPr wrap="square" rtlCol="0" anchor="ctr"/>
          <a:lstStyle/>
          <a:p>
            <a:pPr indent="0" marL="0">
              <a:buNone/>
            </a:pPr>
            <a:r>
              <a:rPr lang="en-US" sz="1300" i="1" dirty="0">
                <a:solidFill>
                  <a:srgbClr val="86B6EF"/>
                </a:solidFill>
                <a:latin typeface="Arial" pitchFamily="34" charset="0"/>
                <a:ea typeface="Arial" pitchFamily="34" charset="-122"/>
                <a:cs typeface="Arial" pitchFamily="34" charset="-120"/>
              </a:rPr>
              <a:t>Next: Phase 6, Retrieval-Augmented Generation &amp; Knowledge Systems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2026-08-23T04:46:49Z</dcterms:created>
  <dcterms:modified xsi:type="dcterms:W3CDTF">2026-08-23T04:46:49Z</dcterms:modified>
</cp:coreProperties>
</file>