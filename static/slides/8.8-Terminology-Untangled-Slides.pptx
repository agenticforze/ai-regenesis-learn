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Terminology Untangled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5B8FC9"/>
                </a:solidFill>
              </a:rPr>
              <a:t>Agent vs. Workflow vs. Assistant vs. Copilot vs.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8.8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Two checkable questions, not one vague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Question 1, architectural:</a:t>
            </a:r>
            <a:r>
              <a:rPr sz="1400">
                <a:solidFill>
                  <a:srgbClr val="6B7280"/>
                </a:solidFill>
              </a:rPr>
              <a:t>  does fixed code decide the sequence of steps, or does the model decide it at runtime? Splits workflow from agent.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Question 2, autonomy:</a:t>
            </a:r>
            <a:r>
              <a:rPr sz="1400">
                <a:solidFill>
                  <a:srgbClr val="6B7280"/>
                </a:solidFill>
              </a:rPr>
              <a:t>  how many actions run before a human reviews the result? Orders chatbot, assistant, copilot, and agent.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Why it matters:</a:t>
            </a:r>
            <a:r>
              <a:rPr sz="1400">
                <a:solidFill>
                  <a:srgbClr val="6B7280"/>
                </a:solidFill>
              </a:rPr>
              <a:t>  a product's name is a marketing decision; these two questions are answerable from its actual behavior.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punchline:</a:t>
            </a:r>
            <a:r>
              <a:rPr sz="1400">
                <a:solidFill>
                  <a:srgbClr val="6B7280"/>
                </a:solidFill>
              </a:rPr>
              <a:t>  a 'Copilot agent' can classify as an agent once you check its architecture, whatever its name says.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Four labels on a spectrum, one orthogonal choice</a:t>
            </a:r>
          </a:p>
        </p:txBody>
      </p:sp>
      <p:pic>
        <p:nvPicPr>
          <p:cNvPr id="5" name="Picture 4" descr="8-8-terminology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51560"/>
            <a:ext cx="11521440" cy="4726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Two Questions That Actually Separate These Five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Architectural (Anthropic):</a:t>
            </a:r>
            <a:r>
              <a:rPr sz="1300">
                <a:solidFill>
                  <a:srgbClr val="6B7280"/>
                </a:solidFill>
              </a:rPr>
              <a:t>  "Workflows are systems where LLMs and tools are orchestrated through predefined code paths"; agents "dynamically direct their own processes."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Autonomy is a separate spectrum:</a:t>
            </a:r>
            <a:r>
              <a:rPr sz="1300">
                <a:solidFill>
                  <a:srgbClr val="6B7280"/>
                </a:solidFill>
              </a:rPr>
              <a:t>  how many actions run, and how much runs before a human reviews it, is a matter of degree, not a binary.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Why conflating them misclassifies:</a:t>
            </a:r>
            <a:r>
              <a:rPr sz="1300">
                <a:solidFill>
                  <a:srgbClr val="6B7280"/>
                </a:solidFill>
              </a:rPr>
              <a:t>  a code-completion workflow can look agent-like by autonomy alone; a rigid if/elif triage script can look agent-like by action count alone.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Why the labels drift:</a:t>
            </a:r>
            <a:r>
              <a:rPr sz="1300">
                <a:solidFill>
                  <a:srgbClr val="6B7280"/>
                </a:solidFill>
              </a:rPr>
              <a:t>  "agent" signals sophistication; "copilot" or "assistant" signals restraint - same system, different sales pitch.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Chatbot and Assistant: The Terms That Predate LLM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IBM's chatbot definition:</a:t>
            </a:r>
            <a:r>
              <a:rPr sz="1300">
                <a:solidFill>
                  <a:srgbClr val="6B7280"/>
                </a:solidFill>
              </a:rPr>
              <a:t>  answers "one step at a time"; an LLM upgrade improves fluency, not autonomy.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Chatbot vs. agent, IBM's own line:</a:t>
            </a:r>
            <a:r>
              <a:rPr sz="1300">
                <a:solidFill>
                  <a:srgbClr val="6B7280"/>
                </a:solidFill>
              </a:rPr>
              <a:t>  "AI agents can plan, make task-specific decisions and carry out multi-step workflows with limited human involvement."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Assistant's extra capability:</a:t>
            </a:r>
            <a:r>
              <a:rPr sz="1300">
                <a:solidFill>
                  <a:srgbClr val="6B7280"/>
                </a:solidFill>
              </a:rPr>
              <a:t>  can "integrate with business systems to automate complex workflows" - it actually acts, not just talks.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Assistant's autonomy label:</a:t>
            </a:r>
            <a:r>
              <a:rPr sz="1300">
                <a:solidFill>
                  <a:srgbClr val="6B7280"/>
                </a:solidFill>
              </a:rPr>
              <a:t>  "Moderate, balances automation with human collaboration" - a human is still present after every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Copilot: A Design Philosophy, Not a Capability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Original coinage:</a:t>
            </a:r>
            <a:r>
              <a:rPr sz="1300">
                <a:solidFill>
                  <a:srgbClr val="6B7280"/>
                </a:solidFill>
              </a:rPr>
              <a:t>  GitHub Copilot, "a new AI pair programmer" - chosen over "autopilot" on purpose.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Microsoft's own framing:</a:t>
            </a:r>
            <a:r>
              <a:rPr sz="1300">
                <a:solidFill>
                  <a:srgbClr val="6B7280"/>
                </a:solidFill>
              </a:rPr>
              <a:t>  "With your permission, Copilot will ultimately be able to act on your behalf" - permission and partnership, not unsupervised completion.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drift:</a:t>
            </a:r>
            <a:r>
              <a:rPr sz="1300">
                <a:solidFill>
                  <a:srgbClr val="6B7280"/>
                </a:solidFill>
              </a:rPr>
              <a:t>  the brand name outlived the design philosophy; "Copilot agents" now run multi-step tasks with no per-step human review.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lesson:</a:t>
            </a:r>
            <a:r>
              <a:rPr sz="1300">
                <a:solidFill>
                  <a:srgbClr val="6B7280"/>
                </a:solidFill>
              </a:rPr>
              <a:t>  a product name is a marketing decision made once; it doesn't track the architecture underneath it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Workflow vs. Agent: The One Distinction With a Primary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Two vendors, same line:</a:t>
            </a:r>
            <a:r>
              <a:rPr sz="1300">
                <a:solidFill>
                  <a:srgbClr val="6B7280"/>
                </a:solidFill>
              </a:rPr>
              <a:t>  Anthropic's model-directs-control-flow definition and OpenAI's "systems that independently accomplish tasks" converge independently.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OpenAI's exclusion:</a:t>
            </a:r>
            <a:r>
              <a:rPr sz="1300">
                <a:solidFill>
                  <a:srgbClr val="6B7280"/>
                </a:solidFill>
              </a:rPr>
              <a:t>  "basic chatbots, single-turn LLMs, or sentiment classifiers" explicitly do not count as agents.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Why it's the most rigorous:</a:t>
            </a:r>
            <a:r>
              <a:rPr sz="1300">
                <a:solidFill>
                  <a:srgbClr val="6B7280"/>
                </a:solidFill>
              </a:rPr>
              <a:t>  a workflow's branches are enumerable and testable; an agent's path can differ run to run - Ch. 8.7's planning strategies only apply here.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Evaluation follows the architecture:</a:t>
            </a:r>
            <a:r>
              <a:rPr sz="1300">
                <a:solidFill>
                  <a:srgbClr val="6B7280"/>
                </a:solidFill>
              </a:rPr>
              <a:t>  workflows get branch-by-branch test suites; agents get statistical task-success rates (Ch. 8.1) - mixing them up misapplies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Applying Both Questions to a System You're Handed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Ask the architectural question first:</a:t>
            </a:r>
            <a:r>
              <a:rPr sz="1300">
                <a:solidFill>
                  <a:srgbClr val="6B7280"/>
                </a:solidFill>
              </a:rPr>
              <a:t>  could every path the system takes be drawn as a fixed flowchart before it ever ran?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Then ask the autonomy checklist:</a:t>
            </a:r>
            <a:r>
              <a:rPr sz="1300">
                <a:solidFill>
                  <a:srgbClr val="6B7280"/>
                </a:solidFill>
              </a:rPr>
              <a:t>  does it act at all? does it chain multiple actions per turn? is human review before finalizing part of the design?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Worked example:</a:t>
            </a:r>
            <a:r>
              <a:rPr sz="1300">
                <a:solidFill>
                  <a:srgbClr val="6B7280"/>
                </a:solidFill>
              </a:rPr>
              <a:t>  a support system choosing answer/escalate/return at runtime is not a workflow; whether it's a copilot or an agent hinges on whether every action is queued for human confirmation.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What decides it:</a:t>
            </a:r>
            <a:r>
              <a:rPr sz="1300">
                <a:solidFill>
                  <a:srgbClr val="6B7280"/>
                </a:solidFill>
              </a:rPr>
              <a:t>  the system's checkable behavior - never the name printed on its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Three points on one spectrum, not three unrelated ideas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1430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Chatbot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Assistant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Takes action beyond a text reply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No, text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Yes, one action per user 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Yes, several actions chained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Human involvement per interaction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Reviews every reply by reading it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Reviews after each single action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Reviews before a chained result is finalized, by design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the label promises about supervision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No action to supervise at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 checkpoint after every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 checkpoint before anything ships, as a design commitment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Agent and workflow are not extra columns here: agent is the one label that can be built either way architecturally, which is exactly what the reference architecture on the next slide checks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decision procedure for classifying any system</a:t>
            </a:r>
          </a:p>
        </p:txBody>
      </p:sp>
      <p:pic>
        <p:nvPicPr>
          <p:cNvPr id="5" name="Picture 4" descr="refarch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607089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46304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Q1, architectural</a:t>
            </a:r>
            <a:r>
              <a:rPr sz="1250">
                <a:solidFill>
                  <a:srgbClr val="6B7280"/>
                </a:solidFill>
              </a:rPr>
              <a:t>: checked first: fixed code, or the model, decides what happens next.</a:t>
            </a:r>
          </a:p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Workflow</a:t>
            </a:r>
            <a:r>
              <a:rPr sz="1250">
                <a:solidFill>
                  <a:srgbClr val="6B7280"/>
                </a:solidFill>
              </a:rPr>
              <a:t>: every branch enumerated by a human in code; applies underneath any of the four labels below, not only to non-agents.</a:t>
            </a:r>
          </a:p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Q2</a:t>
            </a:r>
            <a:r>
              <a:rPr sz="1250">
                <a:solidFill>
                  <a:srgbClr val="6B7280"/>
                </a:solidFill>
              </a:rPr>
              <a:t>: does the model-directed system take any action beyond generating text at all?</a:t>
            </a:r>
          </a:p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Chatbot</a:t>
            </a:r>
            <a:r>
              <a:rPr sz="1250">
                <a:solidFill>
                  <a:srgbClr val="6B7280"/>
                </a:solidFill>
              </a:rPr>
              <a:t>: conversational text only - there is no action for a human to review.</a:t>
            </a:r>
          </a:p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Q3</a:t>
            </a:r>
            <a:r>
              <a:rPr sz="1250">
                <a:solidFill>
                  <a:srgbClr val="6B7280"/>
                </a:solidFill>
              </a:rPr>
              <a:t>: do multiple actions chain together in one pass, or does control return after each one?</a:t>
            </a:r>
          </a:p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Assistant</a:t>
            </a:r>
            <a:r>
              <a:rPr sz="1250">
                <a:solidFill>
                  <a:srgbClr val="6B7280"/>
                </a:solidFill>
              </a:rPr>
              <a:t>: interprets intent and executes one action per user turn.</a:t>
            </a:r>
          </a:p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Q4, design intent</a:t>
            </a:r>
            <a:r>
              <a:rPr sz="1250">
                <a:solidFill>
                  <a:srgbClr val="6B7280"/>
                </a:solidFill>
              </a:rPr>
              <a:t>: is human review before finalizing part of the design, or is running unsupervised the point?</a:t>
            </a:r>
          </a:p>
          <a:p>
            <a:pPr>
              <a:spcAft>
                <a:spcPts val="900"/>
              </a:spcAft>
            </a:pPr>
            <a:r>
              <a:rPr b="1" sz="1350">
                <a:solidFill>
                  <a:srgbClr val="1F2D3D"/>
                </a:solidFill>
              </a:rPr>
              <a:t>Copilot / Agent</a:t>
            </a:r>
            <a:r>
              <a:rPr sz="1250">
                <a:solidFill>
                  <a:srgbClr val="6B7280"/>
                </a:solidFill>
              </a:rPr>
              <a:t>: chains actions but keeps a human paired in, versus runs the full sequence with no review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Classifying systems by behavior, not by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function:</a:t>
            </a:r>
            <a:r>
              <a:rPr sz="1300">
                <a:solidFill>
                  <a:srgbClr val="6B7280"/>
                </a:solidFill>
              </a:rPr>
              <a:t>  classify() applies the decision procedure to four boolean fields - never reads a system's name or description.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Five straightforward cases:</a:t>
            </a:r>
            <a:r>
              <a:rPr sz="1300">
                <a:solidFill>
                  <a:srgbClr val="6B7280"/>
                </a:solidFill>
              </a:rPr>
              <a:t>  an FAQ bot, a scheduler, a code-completion tool, a fixed if/elif triage script, and an open-ended research agent all classify exactly as their behavior implies.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sixth case, the point of the exercise:</a:t>
            </a:r>
            <a:r>
              <a:rPr sz="1300">
                <a:solidFill>
                  <a:srgbClr val="6B7280"/>
                </a:solidFill>
              </a:rPr>
              <a:t>  a system named branded_copilot_agent, described as a 'Copilot agent,' still classifies as agent - because it runs unsupervised, whatever its name says.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What the code can't do:</a:t>
            </a:r>
            <a:r>
              <a:rPr sz="1300">
                <a:solidFill>
                  <a:srgbClr val="6B7280"/>
                </a:solidFill>
              </a:rPr>
              <a:t>  filling in the four behavioral fields for a real system is the actual work; classify() only states precisely which facts that work needs to establish.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