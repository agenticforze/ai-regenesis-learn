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Why can equalized odds and predictive parity be mathematically impossible to satisfy at the same time?
A1: When the true base rate of the outcome genuinely differs between two groups, no classifier other than a perfect one can simultaneously equalize both the true/false positive rates across groups (equalized odds) and the actual outcome rate given a score (predictive parity). This is a mathematical consequence of the differing base rates, not a fixable modeling error.
Q2: What is a feedback loop in the predictive-policing or retention-offer sense, and why does it compound bias?
A2: A feedback loop happens when a deployed model's own decisions influence which outcomes get observed, and those observed outcomes then become training data for the next version of the model. If a policing model directs more patrols to an area and that generates more recorded arrests there, using arrest counts as a "crime rate" label launders the model's own prior decisions into ground truth, reinforcing the original pattern each cycle.
Q3: What is the difference between demographic parity and equalized odds, and when would you prefer one?
A3: Demographic parity requires the same positive prediction rate across groups regardless of the true outcome; equalized odds requires the same true and false positive rate across groups, conditioned on the actual outcome. Demographic parity fits equal-access goals; equalized odds fits contexts where an unequal error burden is the harm of concern.
Q4: What do LIME and SHAP actually explain, and what is the difference between local and global?
A4: Both are model-agnostic post-hoc methods: LIME fits a simple interpretable model to the local neighborhood around one prediction, while SHAP distributes a prediction's difference from a baseline across features using Shapley values. A local explanation covers one prediction; a global explanation summarizes the model's behavior overall.
Q5: Why did using historical healthcare cost as a proxy for need introduce racial bias into the algorithm?
A5: Historical healthcare spending was itself unequal across racial groups even among patients with the same underlying illness level, because less money had historically been spent on Black patients' care. Because the algorithm used predicted cost as a stand-in for need, it systematically assigned Black patients lower risk scores than white patients with the same actual level of illness.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5"/>
        </a:solidFill>
      </p:bgPr>
    </p:bg>
    <p:spTree>
      <p:nvGrpSpPr>
        <p:cNvPr id="1" name=""/>
        <p:cNvGrpSpPr/>
        <p:nvPr/>
      </p:nvGrpSpPr>
      <p:grpSpPr>
        <a:xfrm>
          <a:off x="0" y="0"/>
          <a:ext cx="0" cy="0"/>
          <a:chOff x="0" y="0"/>
          <a:chExt cx="0" cy="0"/>
        </a:xfrm>
      </p:grpSpPr>
      <p:pic>
        <p:nvPicPr>
          <p:cNvPr id="2" name="Image 0" descr="/tmp/deck9/png/d0-title-motif.png">    </p:cNvPr>
          <p:cNvPicPr>
            <a:picLocks noChangeAspect="1"/>
          </p:cNvPicPr>
          <p:nvPr/>
        </p:nvPicPr>
        <p:blipFill>
          <a:blip r:embed="rId1">
            <a:alphaModFix amt="95000"/>
          </a:blip>
          <a:stretch>
            <a:fillRect/>
          </a:stretch>
        </p:blipFill>
        <p:spPr>
          <a:xfrm>
            <a:off x="6949440" y="548640"/>
            <a:ext cx="5760720" cy="5760720"/>
          </a:xfrm>
          <a:prstGeom prst="rect">
            <a:avLst/>
          </a:prstGeom>
        </p:spPr>
      </p:pic>
      <p:sp>
        <p:nvSpPr>
          <p:cNvPr id="3" name="Text 0"/>
          <p:cNvSpPr/>
          <p:nvPr/>
        </p:nvSpPr>
        <p:spPr>
          <a:xfrm>
            <a:off x="640080" y="640080"/>
            <a:ext cx="8229600" cy="320040"/>
          </a:xfrm>
          <a:prstGeom prst="rect">
            <a:avLst/>
          </a:prstGeom>
          <a:noFill/>
          <a:ln/>
        </p:spPr>
        <p:txBody>
          <a:bodyPr wrap="square" lIns="0" tIns="0" rIns="0" bIns="0" rtlCol="0" anchor="ctr"/>
          <a:lstStyle/>
          <a:p>
            <a:pPr indent="0" marL="0">
              <a:buNone/>
            </a:pPr>
            <a:r>
              <a:rPr lang="en-US" sz="1200" b="1" spc="120" kern="0" dirty="0">
                <a:solidFill>
                  <a:srgbClr val="86B6EF"/>
                </a:solidFill>
                <a:latin typeface="Calibri" pitchFamily="34" charset="0"/>
                <a:ea typeface="Calibri" pitchFamily="34" charset="-122"/>
                <a:cs typeface="Calibri" pitchFamily="34" charset="-120"/>
              </a:rPr>
              <a:t>REGAITRAINING  ·  PHASE 1 -- AI &amp; MACHINE LEARNING FOUNDATIONS</a:t>
            </a:r>
            <a:endParaRPr lang="en-US" sz="1200" dirty="0"/>
          </a:p>
        </p:txBody>
      </p:sp>
      <p:sp>
        <p:nvSpPr>
          <p:cNvPr id="4" name="Shape 1"/>
          <p:cNvSpPr/>
          <p:nvPr/>
        </p:nvSpPr>
        <p:spPr>
          <a:xfrm>
            <a:off x="640080" y="1234440"/>
            <a:ext cx="1417320" cy="384048"/>
          </a:xfrm>
          <a:prstGeom prst="roundRect">
            <a:avLst>
              <a:gd name="adj" fmla="val 19048"/>
            </a:avLst>
          </a:prstGeom>
          <a:solidFill>
            <a:srgbClr val="104281"/>
          </a:solidFill>
          <a:ln/>
        </p:spPr>
      </p:sp>
      <p:sp>
        <p:nvSpPr>
          <p:cNvPr id="5" name="Text 2"/>
          <p:cNvSpPr/>
          <p:nvPr/>
        </p:nvSpPr>
        <p:spPr>
          <a:xfrm>
            <a:off x="640080" y="1234440"/>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CHAPTER 1.9</a:t>
            </a:r>
            <a:endParaRPr lang="en-US" sz="1200" dirty="0"/>
          </a:p>
        </p:txBody>
      </p:sp>
      <p:sp>
        <p:nvSpPr>
          <p:cNvPr id="6" name="Text 3"/>
          <p:cNvSpPr/>
          <p:nvPr/>
        </p:nvSpPr>
        <p:spPr>
          <a:xfrm>
            <a:off x="594360" y="1920240"/>
            <a:ext cx="96012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Ethics &amp; Responsible AI</a:t>
            </a:r>
            <a:endParaRPr lang="en-US" sz="4000" dirty="0"/>
          </a:p>
        </p:txBody>
      </p:sp>
      <p:sp>
        <p:nvSpPr>
          <p:cNvPr id="7" name="Text 4"/>
          <p:cNvSpPr/>
          <p:nvPr/>
        </p:nvSpPr>
        <p:spPr>
          <a:xfrm>
            <a:off x="640080" y="2880360"/>
            <a:ext cx="8686800" cy="822960"/>
          </a:xfrm>
          <a:prstGeom prst="rect">
            <a:avLst/>
          </a:prstGeom>
          <a:noFill/>
          <a:ln/>
        </p:spPr>
        <p:txBody>
          <a:bodyPr wrap="square" lIns="0" tIns="0" rIns="0" bIns="0" rtlCol="0" anchor="ctr"/>
          <a:lstStyle/>
          <a:p>
            <a:pPr indent="0" marL="0">
              <a:lnSpc>
                <a:spcPts val="2400"/>
              </a:lnSpc>
              <a:buNone/>
            </a:pPr>
            <a:r>
              <a:rPr lang="en-US" sz="2000" dirty="0">
                <a:solidFill>
                  <a:srgbClr val="CDE2FB"/>
                </a:solidFill>
                <a:latin typeface="Calibri" pitchFamily="34" charset="0"/>
                <a:ea typeface="Calibri" pitchFamily="34" charset="-122"/>
                <a:cs typeface="Calibri" pitchFamily="34" charset="-120"/>
              </a:rPr>
              <a:t>Bias, Fairness, and Explainability</a:t>
            </a:r>
            <a:endParaRPr lang="en-US" sz="2000" dirty="0"/>
          </a:p>
        </p:txBody>
      </p:sp>
      <p:sp>
        <p:nvSpPr>
          <p:cNvPr id="8" name="Text 5"/>
          <p:cNvSpPr/>
          <p:nvPr/>
        </p:nvSpPr>
        <p:spPr>
          <a:xfrm>
            <a:off x="640080" y="3931920"/>
            <a:ext cx="6766560" cy="822960"/>
          </a:xfrm>
          <a:prstGeom prst="rect">
            <a:avLst/>
          </a:prstGeom>
          <a:noFill/>
          <a:ln/>
        </p:spPr>
        <p:txBody>
          <a:bodyPr wrap="square" lIns="0" tIns="0" rIns="0" bIns="0" rtlCol="0" anchor="ctr"/>
          <a:lstStyle/>
          <a:p>
            <a:pPr indent="0" marL="0">
              <a:lnSpc>
                <a:spcPts val="2000"/>
              </a:lnSpc>
              <a:buNone/>
            </a:pPr>
            <a:r>
              <a:rPr lang="en-US" sz="1400" dirty="0">
                <a:solidFill>
                  <a:srgbClr val="C3C2B7"/>
                </a:solidFill>
                <a:latin typeface="Calibri" pitchFamily="34" charset="0"/>
                <a:ea typeface="Calibri" pitchFamily="34" charset="-122"/>
                <a:cs typeface="Calibri" pitchFamily="34" charset="-120"/>
              </a:rPr>
              <a:t>A teaching-slide walkthrough of the chapter: where bias enters a model, why fairness has several incompatible definitions, and how explainability closes the loop.</a:t>
            </a:r>
            <a:endParaRPr lang="en-US" sz="1400" dirty="0"/>
          </a:p>
        </p:txBody>
      </p:sp>
      <p:sp>
        <p:nvSpPr>
          <p:cNvPr id="9" name="Text 6"/>
          <p:cNvSpPr/>
          <p:nvPr/>
        </p:nvSpPr>
        <p:spPr>
          <a:xfrm>
            <a:off x="640080" y="6263640"/>
            <a:ext cx="8686800" cy="32004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Instructor deck  ·  15 slides  ·  based on docs/01-ai-ml-foundations/1-9-ethics-responsible-ai.mdx</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457200" y="1508760"/>
            <a:ext cx="502920" cy="502920"/>
          </a:xfrm>
          <a:prstGeom prst="ellipse">
            <a:avLst/>
          </a:prstGeom>
          <a:solidFill>
            <a:srgbClr val="104281"/>
          </a:solidFill>
          <a:ln/>
        </p:spPr>
      </p:sp>
      <p:sp>
        <p:nvSpPr>
          <p:cNvPr id="5" name="Text 3"/>
          <p:cNvSpPr/>
          <p:nvPr/>
        </p:nvSpPr>
        <p:spPr>
          <a:xfrm>
            <a:off x="45720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15568" y="1453896"/>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How bias enters</a:t>
            </a:r>
            <a:endParaRPr lang="en-US" sz="1550" dirty="0"/>
          </a:p>
        </p:txBody>
      </p:sp>
      <p:sp>
        <p:nvSpPr>
          <p:cNvPr id="7" name="Text 5"/>
          <p:cNvSpPr/>
          <p:nvPr/>
        </p:nvSpPr>
        <p:spPr>
          <a:xfrm>
            <a:off x="1115568" y="1801368"/>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Historical, representation, measurement, and label bias</a:t>
            </a:r>
            <a:endParaRPr lang="en-US" sz="1250" dirty="0"/>
          </a:p>
        </p:txBody>
      </p:sp>
      <p:sp>
        <p:nvSpPr>
          <p:cNvPr id="8" name="Shape 6"/>
          <p:cNvSpPr/>
          <p:nvPr/>
        </p:nvSpPr>
        <p:spPr>
          <a:xfrm>
            <a:off x="457200" y="2679192"/>
            <a:ext cx="502920" cy="502920"/>
          </a:xfrm>
          <a:prstGeom prst="ellipse">
            <a:avLst/>
          </a:prstGeom>
          <a:solidFill>
            <a:srgbClr val="104281"/>
          </a:solidFill>
          <a:ln/>
        </p:spPr>
      </p:sp>
      <p:sp>
        <p:nvSpPr>
          <p:cNvPr id="9" name="Text 7"/>
          <p:cNvSpPr/>
          <p:nvPr/>
        </p:nvSpPr>
        <p:spPr>
          <a:xfrm>
            <a:off x="457200" y="26791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115568" y="2624328"/>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Fairness definitions</a:t>
            </a:r>
            <a:endParaRPr lang="en-US" sz="1550" dirty="0"/>
          </a:p>
        </p:txBody>
      </p:sp>
      <p:sp>
        <p:nvSpPr>
          <p:cNvPr id="11" name="Text 9"/>
          <p:cNvSpPr/>
          <p:nvPr/>
        </p:nvSpPr>
        <p:spPr>
          <a:xfrm>
            <a:off x="1115568" y="2971800"/>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Demographic parity, equalized odds, and predictive parity</a:t>
            </a:r>
            <a:endParaRPr lang="en-US" sz="1250" dirty="0"/>
          </a:p>
        </p:txBody>
      </p:sp>
      <p:sp>
        <p:nvSpPr>
          <p:cNvPr id="12" name="Shape 10"/>
          <p:cNvSpPr/>
          <p:nvPr/>
        </p:nvSpPr>
        <p:spPr>
          <a:xfrm>
            <a:off x="457200" y="3849624"/>
            <a:ext cx="502920" cy="502920"/>
          </a:xfrm>
          <a:prstGeom prst="ellipse">
            <a:avLst/>
          </a:prstGeom>
          <a:solidFill>
            <a:srgbClr val="104281"/>
          </a:solidFill>
          <a:ln/>
        </p:spPr>
      </p:sp>
      <p:sp>
        <p:nvSpPr>
          <p:cNvPr id="13" name="Text 11"/>
          <p:cNvSpPr/>
          <p:nvPr/>
        </p:nvSpPr>
        <p:spPr>
          <a:xfrm>
            <a:off x="457200" y="3849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115568" y="3794760"/>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The impossibility result</a:t>
            </a:r>
            <a:endParaRPr lang="en-US" sz="1550" dirty="0"/>
          </a:p>
        </p:txBody>
      </p:sp>
      <p:sp>
        <p:nvSpPr>
          <p:cNvPr id="15" name="Text 13"/>
          <p:cNvSpPr/>
          <p:nvPr/>
        </p:nvSpPr>
        <p:spPr>
          <a:xfrm>
            <a:off x="1115568" y="4142232"/>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Why some fairness definitions cannot both hold</a:t>
            </a:r>
            <a:endParaRPr lang="en-US" sz="1250" dirty="0"/>
          </a:p>
        </p:txBody>
      </p:sp>
      <p:sp>
        <p:nvSpPr>
          <p:cNvPr id="16" name="Shape 14"/>
          <p:cNvSpPr/>
          <p:nvPr/>
        </p:nvSpPr>
        <p:spPr>
          <a:xfrm>
            <a:off x="457200" y="5020056"/>
            <a:ext cx="502920" cy="502920"/>
          </a:xfrm>
          <a:prstGeom prst="ellipse">
            <a:avLst/>
          </a:prstGeom>
          <a:solidFill>
            <a:srgbClr val="104281"/>
          </a:solidFill>
          <a:ln/>
        </p:spPr>
      </p:sp>
      <p:sp>
        <p:nvSpPr>
          <p:cNvPr id="17" name="Text 15"/>
          <p:cNvSpPr/>
          <p:nvPr/>
        </p:nvSpPr>
        <p:spPr>
          <a:xfrm>
            <a:off x="457200" y="502005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1115568" y="4965192"/>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Explainability</a:t>
            </a:r>
            <a:endParaRPr lang="en-US" sz="1550" dirty="0"/>
          </a:p>
        </p:txBody>
      </p:sp>
      <p:sp>
        <p:nvSpPr>
          <p:cNvPr id="19" name="Text 17"/>
          <p:cNvSpPr/>
          <p:nvPr/>
        </p:nvSpPr>
        <p:spPr>
          <a:xfrm>
            <a:off x="1115568" y="5312664"/>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LIME and SHAP, and the difference they make</a:t>
            </a:r>
            <a:endParaRPr lang="en-US" sz="1250" dirty="0"/>
          </a:p>
        </p:txBody>
      </p:sp>
      <p:sp>
        <p:nvSpPr>
          <p:cNvPr id="20" name="Shape 18"/>
          <p:cNvSpPr/>
          <p:nvPr/>
        </p:nvSpPr>
        <p:spPr>
          <a:xfrm>
            <a:off x="6355080" y="1508760"/>
            <a:ext cx="502920" cy="502920"/>
          </a:xfrm>
          <a:prstGeom prst="ellipse">
            <a:avLst/>
          </a:prstGeom>
          <a:solidFill>
            <a:srgbClr val="104281"/>
          </a:solidFill>
          <a:ln/>
        </p:spPr>
      </p:sp>
      <p:sp>
        <p:nvSpPr>
          <p:cNvPr id="21" name="Text 19"/>
          <p:cNvSpPr/>
          <p:nvPr/>
        </p:nvSpPr>
        <p:spPr>
          <a:xfrm>
            <a:off x="635508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2" name="Text 20"/>
          <p:cNvSpPr/>
          <p:nvPr/>
        </p:nvSpPr>
        <p:spPr>
          <a:xfrm>
            <a:off x="7013448" y="1453896"/>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A reference architecture</a:t>
            </a:r>
            <a:endParaRPr lang="en-US" sz="1550" dirty="0"/>
          </a:p>
        </p:txBody>
      </p:sp>
      <p:sp>
        <p:nvSpPr>
          <p:cNvPr id="23" name="Text 21"/>
          <p:cNvSpPr/>
          <p:nvPr/>
        </p:nvSpPr>
        <p:spPr>
          <a:xfrm>
            <a:off x="7013448" y="1801368"/>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Where a bias and fairness audit sits in the lifecycle</a:t>
            </a:r>
            <a:endParaRPr lang="en-US" sz="1250" dirty="0"/>
          </a:p>
        </p:txBody>
      </p:sp>
      <p:sp>
        <p:nvSpPr>
          <p:cNvPr id="24" name="Shape 22"/>
          <p:cNvSpPr/>
          <p:nvPr/>
        </p:nvSpPr>
        <p:spPr>
          <a:xfrm>
            <a:off x="6355080" y="2679192"/>
            <a:ext cx="502920" cy="502920"/>
          </a:xfrm>
          <a:prstGeom prst="ellipse">
            <a:avLst/>
          </a:prstGeom>
          <a:solidFill>
            <a:srgbClr val="104281"/>
          </a:solidFill>
          <a:ln/>
        </p:spPr>
      </p:sp>
      <p:sp>
        <p:nvSpPr>
          <p:cNvPr id="25" name="Text 23"/>
          <p:cNvSpPr/>
          <p:nvPr/>
        </p:nvSpPr>
        <p:spPr>
          <a:xfrm>
            <a:off x="6355080" y="26791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6" name="Text 24"/>
          <p:cNvSpPr/>
          <p:nvPr/>
        </p:nvSpPr>
        <p:spPr>
          <a:xfrm>
            <a:off x="7013448" y="2624328"/>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Comparison table</a:t>
            </a:r>
            <a:endParaRPr lang="en-US" sz="1550" dirty="0"/>
          </a:p>
        </p:txBody>
      </p:sp>
      <p:sp>
        <p:nvSpPr>
          <p:cNvPr id="27" name="Text 25"/>
          <p:cNvSpPr/>
          <p:nvPr/>
        </p:nvSpPr>
        <p:spPr>
          <a:xfrm>
            <a:off x="7013448" y="2971800"/>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Four fairness definitions, side by side</a:t>
            </a:r>
            <a:endParaRPr lang="en-US" sz="1250" dirty="0"/>
          </a:p>
        </p:txBody>
      </p:sp>
      <p:sp>
        <p:nvSpPr>
          <p:cNvPr id="28" name="Shape 26"/>
          <p:cNvSpPr/>
          <p:nvPr/>
        </p:nvSpPr>
        <p:spPr>
          <a:xfrm>
            <a:off x="6355080" y="3849624"/>
            <a:ext cx="502920" cy="502920"/>
          </a:xfrm>
          <a:prstGeom prst="ellipse">
            <a:avLst/>
          </a:prstGeom>
          <a:solidFill>
            <a:srgbClr val="104281"/>
          </a:solidFill>
          <a:ln/>
        </p:spPr>
      </p:sp>
      <p:sp>
        <p:nvSpPr>
          <p:cNvPr id="29" name="Text 27"/>
          <p:cNvSpPr/>
          <p:nvPr/>
        </p:nvSpPr>
        <p:spPr>
          <a:xfrm>
            <a:off x="6355080" y="3849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30" name="Text 28"/>
          <p:cNvSpPr/>
          <p:nvPr/>
        </p:nvSpPr>
        <p:spPr>
          <a:xfrm>
            <a:off x="7013448" y="3794760"/>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Industry use cases</a:t>
            </a:r>
            <a:endParaRPr lang="en-US" sz="1550" dirty="0"/>
          </a:p>
        </p:txBody>
      </p:sp>
      <p:sp>
        <p:nvSpPr>
          <p:cNvPr id="31" name="Text 29"/>
          <p:cNvSpPr/>
          <p:nvPr/>
        </p:nvSpPr>
        <p:spPr>
          <a:xfrm>
            <a:off x="7013448" y="4142232"/>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Finance, Healthcare, and Telecom - 4 each</a:t>
            </a:r>
            <a:endParaRPr lang="en-US" sz="1250" dirty="0"/>
          </a:p>
        </p:txBody>
      </p:sp>
      <p:sp>
        <p:nvSpPr>
          <p:cNvPr id="32" name="Text 30"/>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1.9  |  Phase 1 - AI &amp; Machine Learning Foundations</a:t>
            </a:r>
            <a:endParaRPr lang="en-US" sz="1000" dirty="0"/>
          </a:p>
        </p:txBody>
      </p:sp>
      <p:sp>
        <p:nvSpPr>
          <p:cNvPr id="33" name="Text 31"/>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TL;DR</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Bias In, Bias Out, Unless Audited</a:t>
            </a:r>
            <a:endParaRPr lang="en-US" sz="3000" dirty="0"/>
          </a:p>
        </p:txBody>
      </p:sp>
      <p:sp>
        <p:nvSpPr>
          <p:cNvPr id="4" name="Shape 2"/>
          <p:cNvSpPr/>
          <p:nvPr/>
        </p:nvSpPr>
        <p:spPr>
          <a:xfrm>
            <a:off x="457200" y="1417320"/>
            <a:ext cx="11274552" cy="2103120"/>
          </a:xfrm>
          <a:prstGeom prst="roundRect">
            <a:avLst>
              <a:gd name="adj" fmla="val 5217"/>
            </a:avLst>
          </a:prstGeom>
          <a:solidFill>
            <a:srgbClr val="F9F9F7"/>
          </a:solidFill>
          <a:ln/>
        </p:spPr>
      </p:sp>
      <p:sp>
        <p:nvSpPr>
          <p:cNvPr id="5" name="Text 3"/>
          <p:cNvSpPr/>
          <p:nvPr/>
        </p:nvSpPr>
        <p:spPr>
          <a:xfrm>
            <a:off x="822960" y="1645920"/>
            <a:ext cx="10515600" cy="1280160"/>
          </a:xfrm>
          <a:prstGeom prst="rect">
            <a:avLst/>
          </a:prstGeom>
          <a:noFill/>
          <a:ln/>
        </p:spPr>
        <p:txBody>
          <a:bodyPr wrap="square" lIns="0" tIns="0" rIns="0" bIns="0" rtlCol="0" anchor="ctr"/>
          <a:lstStyle/>
          <a:p>
            <a:pPr indent="0" marL="0">
              <a:lnSpc>
                <a:spcPts val="2300"/>
              </a:lnSpc>
              <a:buNone/>
            </a:pPr>
            <a:r>
              <a:rPr lang="en-US" sz="1700" i="1" dirty="0">
                <a:solidFill>
                  <a:srgbClr val="104281"/>
                </a:solidFill>
                <a:latin typeface="Cambria" pitchFamily="34" charset="0"/>
                <a:ea typeface="Cambria" pitchFamily="34" charset="-122"/>
                <a:cs typeface="Cambria" pitchFamily="34" charset="-120"/>
              </a:rPr>
              <a:t>A model trained on data that reflects historical or societal bias reproduces that bias, and can amplify it through feedback loops. Fairness is not one property a model has or lacks: several reasonable definitions of "fair" exist, and some are provably impossible to satisfy at once.</a:t>
            </a:r>
            <a:endParaRPr lang="en-US" sz="1700" dirty="0"/>
          </a:p>
        </p:txBody>
      </p:sp>
      <p:sp>
        <p:nvSpPr>
          <p:cNvPr id="6" name="Text 4"/>
          <p:cNvSpPr/>
          <p:nvPr/>
        </p:nvSpPr>
        <p:spPr>
          <a:xfrm>
            <a:off x="457200" y="3840480"/>
            <a:ext cx="5486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THE PRACTICAL TAKEAWAY</a:t>
            </a:r>
            <a:endParaRPr lang="en-US" sz="1200" dirty="0"/>
          </a:p>
        </p:txBody>
      </p:sp>
      <p:sp>
        <p:nvSpPr>
          <p:cNvPr id="7" name="Text 5"/>
          <p:cNvSpPr/>
          <p:nvPr/>
        </p:nvSpPr>
        <p:spPr>
          <a:xfrm>
            <a:off x="457200" y="4160520"/>
            <a:ext cx="10972800" cy="1188720"/>
          </a:xfrm>
          <a:prstGeom prst="rect">
            <a:avLst/>
          </a:prstGeom>
          <a:noFill/>
          <a:ln/>
        </p:spPr>
        <p:txBody>
          <a:bodyPr wrap="square" lIns="0" tIns="0" rIns="0" bIns="0" rtlCol="0" anchor="ctr"/>
          <a:lstStyle/>
          <a:p>
            <a:pPr indent="0" marL="0">
              <a:lnSpc>
                <a:spcPts val="2100"/>
              </a:lnSpc>
              <a:buNone/>
            </a:pPr>
            <a:r>
              <a:rPr lang="en-US" sz="1500" dirty="0">
                <a:solidFill>
                  <a:srgbClr val="0B0B0B"/>
                </a:solidFill>
                <a:latin typeface="Calibri" pitchFamily="34" charset="0"/>
                <a:ea typeface="Calibri" pitchFamily="34" charset="-122"/>
                <a:cs typeface="Calibri" pitchFamily="34" charset="-120"/>
              </a:rPr>
              <a:t>Explainability gives stakeholders, developers, auditors, and the people a decision affects a way to see why a model produced a specific output.</a:t>
            </a:r>
            <a:endParaRPr lang="en-US" sz="1500" dirty="0"/>
          </a:p>
        </p:txBody>
      </p:sp>
      <p:sp>
        <p:nvSpPr>
          <p:cNvPr id="8" name="Text 6"/>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1.9  |  Phase 1 - AI &amp; Machine Learning Foundations</a:t>
            </a:r>
            <a:endParaRPr lang="en-US" sz="1000" dirty="0"/>
          </a:p>
        </p:txBody>
      </p:sp>
      <p:sp>
        <p:nvSpPr>
          <p:cNvPr id="9" name="Text 7"/>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HIGH-LEVEL</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Where Bias Enters, and Where It Must Be Caught</a:t>
            </a:r>
            <a:endParaRPr lang="en-US" sz="3000" dirty="0"/>
          </a:p>
        </p:txBody>
      </p:sp>
      <p:pic>
        <p:nvPicPr>
          <p:cNvPr id="4" name="Image 0" descr="/tmp/deck9/png/d1-bias-fairness-pipeline.png">    </p:cNvPr>
          <p:cNvPicPr>
            <a:picLocks noChangeAspect="1"/>
          </p:cNvPicPr>
          <p:nvPr/>
        </p:nvPicPr>
        <p:blipFill>
          <a:blip r:embed="rId1"/>
          <a:stretch>
            <a:fillRect/>
          </a:stretch>
        </p:blipFill>
        <p:spPr>
          <a:xfrm>
            <a:off x="1065276" y="1280160"/>
            <a:ext cx="10058400" cy="4434840"/>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1.9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Same Approval Rate, Very Different Error Rates</a:t>
            </a:r>
            <a:endParaRPr lang="en-US" sz="3000" dirty="0"/>
          </a:p>
        </p:txBody>
      </p:sp>
      <p:pic>
        <p:nvPicPr>
          <p:cNvPr id="4" name="Image 0" descr="/tmp/deck9/png/d2-fairness-definitions.png">    </p:cNvPr>
          <p:cNvPicPr>
            <a:picLocks noChangeAspect="1"/>
          </p:cNvPicPr>
          <p:nvPr/>
        </p:nvPicPr>
        <p:blipFill>
          <a:blip r:embed="rId1"/>
          <a:stretch>
            <a:fillRect/>
          </a:stretch>
        </p:blipFill>
        <p:spPr>
          <a:xfrm>
            <a:off x="1065276" y="1280160"/>
            <a:ext cx="10058400" cy="4343400"/>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1.9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Two Ways to Explain One Prediction</a:t>
            </a:r>
            <a:endParaRPr lang="en-US" sz="3000" dirty="0"/>
          </a:p>
        </p:txBody>
      </p:sp>
      <p:pic>
        <p:nvPicPr>
          <p:cNvPr id="4" name="Image 0" descr="/tmp/deck9/png/d3-lime-vs-shap.png">    </p:cNvPr>
          <p:cNvPicPr>
            <a:picLocks noChangeAspect="1"/>
          </p:cNvPicPr>
          <p:nvPr/>
        </p:nvPicPr>
        <p:blipFill>
          <a:blip r:embed="rId1"/>
          <a:stretch>
            <a:fillRect/>
          </a:stretch>
        </p:blipFill>
        <p:spPr>
          <a:xfrm>
            <a:off x="1065276" y="1280160"/>
            <a:ext cx="10058400" cy="4453128"/>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1.9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A Feedback Loop Compounds Bias Each Cycle</a:t>
            </a:r>
            <a:endParaRPr lang="en-US" sz="3000" dirty="0"/>
          </a:p>
        </p:txBody>
      </p:sp>
      <p:pic>
        <p:nvPicPr>
          <p:cNvPr id="4" name="Image 0" descr="/tmp/deck9/png/d4-feedback-loop.png">    </p:cNvPr>
          <p:cNvPicPr>
            <a:picLocks noChangeAspect="1"/>
          </p:cNvPicPr>
          <p:nvPr/>
        </p:nvPicPr>
        <p:blipFill>
          <a:blip r:embed="rId1"/>
          <a:stretch>
            <a:fillRect/>
          </a:stretch>
        </p:blipFill>
        <p:spPr>
          <a:xfrm>
            <a:off x="1065276" y="1280160"/>
            <a:ext cx="10058400" cy="4626864"/>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1.9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REFERENCE ARCHITECTURE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Where the Audit Sits in the Model Lifecycle</a:t>
            </a:r>
            <a:endParaRPr lang="en-US" sz="3000" dirty="0"/>
          </a:p>
        </p:txBody>
      </p:sp>
      <p:pic>
        <p:nvPicPr>
          <p:cNvPr id="4" name="Image 0" descr="/tmp/deck9/png/d5-reference-architecture.png">    </p:cNvPr>
          <p:cNvPicPr>
            <a:picLocks noChangeAspect="1"/>
          </p:cNvPicPr>
          <p:nvPr/>
        </p:nvPicPr>
        <p:blipFill>
          <a:blip r:embed="rId1"/>
          <a:stretch>
            <a:fillRect/>
          </a:stretch>
        </p:blipFill>
        <p:spPr>
          <a:xfrm>
            <a:off x="1065276" y="1280160"/>
            <a:ext cx="10058400" cy="4645152"/>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1.9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COMPARISON &amp; RELATED CONCEPTS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Four Fairness Definitions, Side by Side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74552" cy="3291840"/>
        </p:xfrm>
        <a:graphic>
          <a:graphicData uri="http://schemas.openxmlformats.org/drawingml/2006/table">
            <a:tbl>
              <a:tblPr/>
              <a:tblGrid>
                <a:gridCol w="1947672"/>
                <a:gridCol w="2331720"/>
                <a:gridCol w="2331720"/>
                <a:gridCol w="2331720"/>
                <a:gridCol w="2331720"/>
              </a:tblGrid>
              <a:tr h="658368">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Demographic Parity</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Equalized Odds</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Predictive Parity</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Individual Fairness</a:t>
                      </a:r>
                      <a:endParaRPr lang="en-US" sz="11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r>
              <a:tr h="658368">
                <a:tc>
                  <a:txBody>
                    <a:bodyPr/>
                    <a:lstStyle/>
                    <a:p>
                      <a:pPr algn="l" indent="0" marL="0">
                        <a:buNone/>
                      </a:pPr>
                      <a:r>
                        <a:rPr lang="en-US" sz="1000" b="1" dirty="0">
                          <a:solidFill>
                            <a:srgbClr val="0B0B0B"/>
                          </a:solidFill>
                          <a:latin typeface="Calibri" pitchFamily="34" charset="0"/>
                          <a:ea typeface="Calibri" pitchFamily="34" charset="-122"/>
                          <a:cs typeface="Calibri" pitchFamily="34" charset="-120"/>
                        </a:rPr>
                        <a:t>What it equalizes</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00" dirty="0">
                          <a:solidFill>
                            <a:srgbClr val="52514E"/>
                          </a:solidFill>
                          <a:latin typeface="Calibri" pitchFamily="34" charset="0"/>
                          <a:ea typeface="Calibri" pitchFamily="34" charset="-122"/>
                          <a:cs typeface="Calibri" pitchFamily="34" charset="-120"/>
                        </a:rPr>
                        <a:t>Positive rate across groups</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00" dirty="0">
                          <a:solidFill>
                            <a:srgbClr val="52514E"/>
                          </a:solidFill>
                          <a:latin typeface="Calibri" pitchFamily="34" charset="0"/>
                          <a:ea typeface="Calibri" pitchFamily="34" charset="-122"/>
                          <a:cs typeface="Calibri" pitchFamily="34" charset="-120"/>
                        </a:rPr>
                        <a:t>TPR and FPR across groups</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00" dirty="0">
                          <a:solidFill>
                            <a:srgbClr val="52514E"/>
                          </a:solidFill>
                          <a:latin typeface="Calibri" pitchFamily="34" charset="0"/>
                          <a:ea typeface="Calibri" pitchFamily="34" charset="-122"/>
                          <a:cs typeface="Calibri" pitchFamily="34" charset="-120"/>
                        </a:rPr>
                        <a:t>Outcome rate given a score</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00" dirty="0">
                          <a:solidFill>
                            <a:srgbClr val="52514E"/>
                          </a:solidFill>
                          <a:latin typeface="Calibri" pitchFamily="34" charset="0"/>
                          <a:ea typeface="Calibri" pitchFamily="34" charset="-122"/>
                          <a:cs typeface="Calibri" pitchFamily="34" charset="-120"/>
                        </a:rPr>
                        <a:t>Similar inputs, similar outputs</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r>
              <a:tr h="658368">
                <a:tc>
                  <a:txBody>
                    <a:bodyPr/>
                    <a:lstStyle/>
                    <a:p>
                      <a:pPr algn="l" indent="0" marL="0">
                        <a:buNone/>
                      </a:pPr>
                      <a:r>
                        <a:rPr lang="en-US" sz="1000" b="1" dirty="0">
                          <a:solidFill>
                            <a:srgbClr val="0B0B0B"/>
                          </a:solidFill>
                          <a:latin typeface="Calibri" pitchFamily="34" charset="0"/>
                          <a:ea typeface="Calibri" pitchFamily="34" charset="-122"/>
                          <a:cs typeface="Calibri" pitchFamily="34" charset="-120"/>
                        </a:rPr>
                        <a:t>Formal condition</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2514E"/>
                          </a:solidFill>
                          <a:latin typeface="Calibri" pitchFamily="34" charset="0"/>
                          <a:ea typeface="Calibri" pitchFamily="34" charset="-122"/>
                          <a:cs typeface="Calibri" pitchFamily="34" charset="-120"/>
                        </a:rPr>
                        <a:t>P(Y-hat=1 | A=a) equal</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2514E"/>
                          </a:solidFill>
                          <a:latin typeface="Calibri" pitchFamily="34" charset="0"/>
                          <a:ea typeface="Calibri" pitchFamily="34" charset="-122"/>
                          <a:cs typeface="Calibri" pitchFamily="34" charset="-120"/>
                        </a:rPr>
                        <a:t>P(Y-hat=1 | Y=y, A=a) equal</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2514E"/>
                          </a:solidFill>
                          <a:latin typeface="Calibri" pitchFamily="34" charset="0"/>
                          <a:ea typeface="Calibri" pitchFamily="34" charset="-122"/>
                          <a:cs typeface="Calibri" pitchFamily="34" charset="-120"/>
                        </a:rPr>
                        <a:t>P(Y=1 | Y-hat=1, A=a) equal</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2514E"/>
                          </a:solidFill>
                          <a:latin typeface="Calibri" pitchFamily="34" charset="0"/>
                          <a:ea typeface="Calibri" pitchFamily="34" charset="-122"/>
                          <a:cs typeface="Calibri" pitchFamily="34" charset="-120"/>
                        </a:rPr>
                        <a:t>No group attribute in the definition</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658368">
                <a:tc>
                  <a:txBody>
                    <a:bodyPr/>
                    <a:lstStyle/>
                    <a:p>
                      <a:pPr algn="l" indent="0" marL="0">
                        <a:buNone/>
                      </a:pPr>
                      <a:r>
                        <a:rPr lang="en-US" sz="1000" b="1" dirty="0">
                          <a:solidFill>
                            <a:srgbClr val="0B0B0B"/>
                          </a:solidFill>
                          <a:latin typeface="Calibri" pitchFamily="34" charset="0"/>
                          <a:ea typeface="Calibri" pitchFamily="34" charset="-122"/>
                          <a:cs typeface="Calibri" pitchFamily="34" charset="-120"/>
                        </a:rPr>
                        <a:t>Fails when</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00" dirty="0">
                          <a:solidFill>
                            <a:srgbClr val="52514E"/>
                          </a:solidFill>
                          <a:latin typeface="Calibri" pitchFamily="34" charset="0"/>
                          <a:ea typeface="Calibri" pitchFamily="34" charset="-122"/>
                          <a:cs typeface="Calibri" pitchFamily="34" charset="-120"/>
                        </a:rPr>
                        <a:t>Base rates genuinely differ</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00" dirty="0">
                          <a:solidFill>
                            <a:srgbClr val="52514E"/>
                          </a:solidFill>
                          <a:latin typeface="Calibri" pitchFamily="34" charset="0"/>
                          <a:ea typeface="Calibri" pitchFamily="34" charset="-122"/>
                          <a:cs typeface="Calibri" pitchFamily="34" charset="-120"/>
                        </a:rPr>
                        <a:t>Base rates + predictive parity</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00" dirty="0">
                          <a:solidFill>
                            <a:srgbClr val="52514E"/>
                          </a:solidFill>
                          <a:latin typeface="Calibri" pitchFamily="34" charset="0"/>
                          <a:ea typeface="Calibri" pitchFamily="34" charset="-122"/>
                          <a:cs typeface="Calibri" pitchFamily="34" charset="-120"/>
                        </a:rPr>
                        <a:t>Base rates + equalized odds</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00" dirty="0">
                          <a:solidFill>
                            <a:srgbClr val="52514E"/>
                          </a:solidFill>
                          <a:latin typeface="Calibri" pitchFamily="34" charset="0"/>
                          <a:ea typeface="Calibri" pitchFamily="34" charset="-122"/>
                          <a:cs typeface="Calibri" pitchFamily="34" charset="-120"/>
                        </a:rPr>
                        <a:t>No agreed similarity metric exists</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r>
              <a:tr h="658368">
                <a:tc>
                  <a:txBody>
                    <a:bodyPr/>
                    <a:lstStyle/>
                    <a:p>
                      <a:pPr algn="l" indent="0" marL="0">
                        <a:buNone/>
                      </a:pPr>
                      <a:r>
                        <a:rPr lang="en-US" sz="1000" b="1" dirty="0">
                          <a:solidFill>
                            <a:srgbClr val="0B0B0B"/>
                          </a:solidFill>
                          <a:latin typeface="Calibri" pitchFamily="34" charset="0"/>
                          <a:ea typeface="Calibri" pitchFamily="34" charset="-122"/>
                          <a:cs typeface="Calibri" pitchFamily="34" charset="-120"/>
                        </a:rPr>
                        <a:t>Best suited to</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2514E"/>
                          </a:solidFill>
                          <a:latin typeface="Calibri" pitchFamily="34" charset="0"/>
                          <a:ea typeface="Calibri" pitchFamily="34" charset="-122"/>
                          <a:cs typeface="Calibri" pitchFamily="34" charset="-120"/>
                        </a:rPr>
                        <a:t>Equal access regardless of rate</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2514E"/>
                          </a:solidFill>
                          <a:latin typeface="Calibri" pitchFamily="34" charset="0"/>
                          <a:ea typeface="Calibri" pitchFamily="34" charset="-122"/>
                          <a:cs typeface="Calibri" pitchFamily="34" charset="-120"/>
                        </a:rPr>
                        <a:t>Guarding unequal error burden</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2514E"/>
                          </a:solidFill>
                          <a:latin typeface="Calibri" pitchFamily="34" charset="0"/>
                          <a:ea typeface="Calibri" pitchFamily="34" charset="-122"/>
                          <a:cs typeface="Calibri" pitchFamily="34" charset="-120"/>
                        </a:rPr>
                        <a:t>A score means the same thing</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2514E"/>
                          </a:solidFill>
                          <a:latin typeface="Calibri" pitchFamily="34" charset="0"/>
                          <a:ea typeface="Calibri" pitchFamily="34" charset="-122"/>
                          <a:cs typeface="Calibri" pitchFamily="34" charset="-120"/>
                        </a:rPr>
                        <a:t>A defensible similarity measure</a:t>
                      </a:r>
                      <a:endParaRPr lang="en-US" sz="10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5074920"/>
            <a:ext cx="11274552" cy="640080"/>
          </a:xfrm>
          <a:prstGeom prst="rect">
            <a:avLst/>
          </a:prstGeom>
          <a:noFill/>
          <a:ln/>
        </p:spPr>
        <p:txBody>
          <a:bodyPr wrap="square" lIns="0" tIns="0" rIns="0" bIns="0" rtlCol="0" anchor="ctr"/>
          <a:lstStyle/>
          <a:p>
            <a:pPr indent="0" marL="0">
              <a:lnSpc>
                <a:spcPts val="1800"/>
              </a:lnSpc>
              <a:buNone/>
            </a:pPr>
            <a:r>
              <a:rPr lang="en-US" sz="1300" i="1" dirty="0">
                <a:solidFill>
                  <a:srgbClr val="898781"/>
                </a:solidFill>
                <a:latin typeface="Calibri" pitchFamily="34" charset="0"/>
                <a:ea typeface="Calibri" pitchFamily="34" charset="-122"/>
                <a:cs typeface="Calibri" pitchFamily="34" charset="-120"/>
              </a:rPr>
              <a:t>These four definitions are not competing implementations of one idea; several are mutually exclusive whenever group base rates differ, so picking one is a policy decision.</a:t>
            </a:r>
            <a:endParaRPr lang="en-US" sz="1300" dirty="0"/>
          </a:p>
        </p:txBody>
      </p:sp>
      <p:sp>
        <p:nvSpPr>
          <p:cNvPr id="6" name="Text 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1.9  |  Phase 1 - AI &amp; Machine Learning Foundations</a:t>
            </a:r>
            <a:endParaRPr lang="en-US" sz="1000" dirty="0"/>
          </a:p>
        </p:txBody>
      </p:sp>
      <p:sp>
        <p:nvSpPr>
          <p:cNvPr id="7" name="Text 4"/>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1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Finance</a:t>
            </a:r>
            <a:endParaRPr lang="en-US" sz="3000" dirty="0"/>
          </a:p>
        </p:txBody>
      </p:sp>
      <p:pic>
        <p:nvPicPr>
          <p:cNvPr id="4" name="Image 0" descr="/tmp/deck9/png/d6-usecases-finance.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1.9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2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Healthcare</a:t>
            </a:r>
            <a:endParaRPr lang="en-US" sz="3000" dirty="0"/>
          </a:p>
        </p:txBody>
      </p:sp>
      <p:pic>
        <p:nvPicPr>
          <p:cNvPr id="4" name="Image 0" descr="/tmp/deck9/png/d7-usecases-healthcare.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1.9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3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Telecom</a:t>
            </a:r>
            <a:endParaRPr lang="en-US" sz="3000" dirty="0"/>
          </a:p>
        </p:txBody>
      </p:sp>
      <p:pic>
        <p:nvPicPr>
          <p:cNvPr id="4" name="Image 0" descr="/tmp/deck9/png/d8-usecases-telecom.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1.9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DISCUSS AS A CLASS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Check Your Understanding</a:t>
            </a:r>
            <a:endParaRPr lang="en-US" sz="3000" dirty="0"/>
          </a:p>
        </p:txBody>
      </p:sp>
      <p:sp>
        <p:nvSpPr>
          <p:cNvPr id="4" name="Shape 2"/>
          <p:cNvSpPr/>
          <p:nvPr/>
        </p:nvSpPr>
        <p:spPr>
          <a:xfrm>
            <a:off x="457200" y="1508760"/>
            <a:ext cx="5486400" cy="1325880"/>
          </a:xfrm>
          <a:prstGeom prst="roundRect">
            <a:avLst>
              <a:gd name="adj" fmla="val 6897"/>
            </a:avLst>
          </a:prstGeom>
          <a:solidFill>
            <a:srgbClr val="F9F9F7"/>
          </a:solidFill>
          <a:ln w="12700">
            <a:solidFill>
              <a:srgbClr val="E1E0D9"/>
            </a:solidFill>
            <a:prstDash val="solid"/>
          </a:ln>
        </p:spPr>
      </p:sp>
      <p:sp>
        <p:nvSpPr>
          <p:cNvPr id="5" name="Shape 3"/>
          <p:cNvSpPr/>
          <p:nvPr/>
        </p:nvSpPr>
        <p:spPr>
          <a:xfrm>
            <a:off x="658368" y="1709928"/>
            <a:ext cx="384048" cy="384048"/>
          </a:xfrm>
          <a:prstGeom prst="ellipse">
            <a:avLst/>
          </a:prstGeom>
          <a:solidFill>
            <a:srgbClr val="2A78D6"/>
          </a:solidFill>
          <a:ln/>
        </p:spPr>
      </p:sp>
      <p:sp>
        <p:nvSpPr>
          <p:cNvPr id="6" name="Text 4"/>
          <p:cNvSpPr/>
          <p:nvPr/>
        </p:nvSpPr>
        <p:spPr>
          <a:xfrm>
            <a:off x="658368" y="1709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7" name="Text 5"/>
          <p:cNvSpPr/>
          <p:nvPr/>
        </p:nvSpPr>
        <p:spPr>
          <a:xfrm>
            <a:off x="1188720" y="1618488"/>
            <a:ext cx="4526280"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Why can equalized odds and predictive parity be mathematically impossible to satisfy at the same time?</a:t>
            </a:r>
            <a:endParaRPr lang="en-US" sz="1100" dirty="0"/>
          </a:p>
        </p:txBody>
      </p:sp>
      <p:sp>
        <p:nvSpPr>
          <p:cNvPr id="8" name="Shape 6"/>
          <p:cNvSpPr/>
          <p:nvPr/>
        </p:nvSpPr>
        <p:spPr>
          <a:xfrm>
            <a:off x="6126480" y="1508760"/>
            <a:ext cx="5486400" cy="1325880"/>
          </a:xfrm>
          <a:prstGeom prst="roundRect">
            <a:avLst>
              <a:gd name="adj" fmla="val 6897"/>
            </a:avLst>
          </a:prstGeom>
          <a:solidFill>
            <a:srgbClr val="F9F9F7"/>
          </a:solidFill>
          <a:ln w="12700">
            <a:solidFill>
              <a:srgbClr val="E1E0D9"/>
            </a:solidFill>
            <a:prstDash val="solid"/>
          </a:ln>
        </p:spPr>
      </p:sp>
      <p:sp>
        <p:nvSpPr>
          <p:cNvPr id="9" name="Shape 7"/>
          <p:cNvSpPr/>
          <p:nvPr/>
        </p:nvSpPr>
        <p:spPr>
          <a:xfrm>
            <a:off x="6327648" y="1709928"/>
            <a:ext cx="384048" cy="384048"/>
          </a:xfrm>
          <a:prstGeom prst="ellipse">
            <a:avLst/>
          </a:prstGeom>
          <a:solidFill>
            <a:srgbClr val="2A78D6"/>
          </a:solidFill>
          <a:ln/>
        </p:spPr>
      </p:sp>
      <p:sp>
        <p:nvSpPr>
          <p:cNvPr id="10" name="Text 8"/>
          <p:cNvSpPr/>
          <p:nvPr/>
        </p:nvSpPr>
        <p:spPr>
          <a:xfrm>
            <a:off x="6327648" y="1709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1" name="Text 9"/>
          <p:cNvSpPr/>
          <p:nvPr/>
        </p:nvSpPr>
        <p:spPr>
          <a:xfrm>
            <a:off x="6858000" y="1618488"/>
            <a:ext cx="4526280"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What is a feedback loop in the predictive-policing or retention-offer sense, and why does it compound bias?</a:t>
            </a:r>
            <a:endParaRPr lang="en-US" sz="1100" dirty="0"/>
          </a:p>
        </p:txBody>
      </p:sp>
      <p:sp>
        <p:nvSpPr>
          <p:cNvPr id="12" name="Shape 10"/>
          <p:cNvSpPr/>
          <p:nvPr/>
        </p:nvSpPr>
        <p:spPr>
          <a:xfrm>
            <a:off x="457200" y="2971800"/>
            <a:ext cx="5486400" cy="1325880"/>
          </a:xfrm>
          <a:prstGeom prst="roundRect">
            <a:avLst>
              <a:gd name="adj" fmla="val 6897"/>
            </a:avLst>
          </a:prstGeom>
          <a:solidFill>
            <a:srgbClr val="F9F9F7"/>
          </a:solidFill>
          <a:ln w="12700">
            <a:solidFill>
              <a:srgbClr val="E1E0D9"/>
            </a:solidFill>
            <a:prstDash val="solid"/>
          </a:ln>
        </p:spPr>
      </p:sp>
      <p:sp>
        <p:nvSpPr>
          <p:cNvPr id="13" name="Shape 11"/>
          <p:cNvSpPr/>
          <p:nvPr/>
        </p:nvSpPr>
        <p:spPr>
          <a:xfrm>
            <a:off x="658368" y="3172968"/>
            <a:ext cx="384048" cy="384048"/>
          </a:xfrm>
          <a:prstGeom prst="ellipse">
            <a:avLst/>
          </a:prstGeom>
          <a:solidFill>
            <a:srgbClr val="2A78D6"/>
          </a:solidFill>
          <a:ln/>
        </p:spPr>
      </p:sp>
      <p:sp>
        <p:nvSpPr>
          <p:cNvPr id="14" name="Text 12"/>
          <p:cNvSpPr/>
          <p:nvPr/>
        </p:nvSpPr>
        <p:spPr>
          <a:xfrm>
            <a:off x="658368" y="31729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5" name="Text 13"/>
          <p:cNvSpPr/>
          <p:nvPr/>
        </p:nvSpPr>
        <p:spPr>
          <a:xfrm>
            <a:off x="1188720" y="3081528"/>
            <a:ext cx="4526280"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What is the difference between demographic parity and equalized odds, and when would you prefer one?</a:t>
            </a:r>
            <a:endParaRPr lang="en-US" sz="1100" dirty="0"/>
          </a:p>
        </p:txBody>
      </p:sp>
      <p:sp>
        <p:nvSpPr>
          <p:cNvPr id="16" name="Shape 14"/>
          <p:cNvSpPr/>
          <p:nvPr/>
        </p:nvSpPr>
        <p:spPr>
          <a:xfrm>
            <a:off x="6126480" y="2971800"/>
            <a:ext cx="5486400" cy="1325880"/>
          </a:xfrm>
          <a:prstGeom prst="roundRect">
            <a:avLst>
              <a:gd name="adj" fmla="val 6897"/>
            </a:avLst>
          </a:prstGeom>
          <a:solidFill>
            <a:srgbClr val="F9F9F7"/>
          </a:solidFill>
          <a:ln w="12700">
            <a:solidFill>
              <a:srgbClr val="E1E0D9"/>
            </a:solidFill>
            <a:prstDash val="solid"/>
          </a:ln>
        </p:spPr>
      </p:sp>
      <p:sp>
        <p:nvSpPr>
          <p:cNvPr id="17" name="Shape 15"/>
          <p:cNvSpPr/>
          <p:nvPr/>
        </p:nvSpPr>
        <p:spPr>
          <a:xfrm>
            <a:off x="6327648" y="3172968"/>
            <a:ext cx="384048" cy="384048"/>
          </a:xfrm>
          <a:prstGeom prst="ellipse">
            <a:avLst/>
          </a:prstGeom>
          <a:solidFill>
            <a:srgbClr val="2A78D6"/>
          </a:solidFill>
          <a:ln/>
        </p:spPr>
      </p:sp>
      <p:sp>
        <p:nvSpPr>
          <p:cNvPr id="18" name="Text 16"/>
          <p:cNvSpPr/>
          <p:nvPr/>
        </p:nvSpPr>
        <p:spPr>
          <a:xfrm>
            <a:off x="6327648" y="31729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19" name="Text 17"/>
          <p:cNvSpPr/>
          <p:nvPr/>
        </p:nvSpPr>
        <p:spPr>
          <a:xfrm>
            <a:off x="6858000" y="3081528"/>
            <a:ext cx="4526280"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What do LIME and SHAP actually explain, and what is the difference between local and global?</a:t>
            </a:r>
            <a:endParaRPr lang="en-US" sz="1100" dirty="0"/>
          </a:p>
        </p:txBody>
      </p:sp>
      <p:sp>
        <p:nvSpPr>
          <p:cNvPr id="20" name="Shape 18"/>
          <p:cNvSpPr/>
          <p:nvPr/>
        </p:nvSpPr>
        <p:spPr>
          <a:xfrm>
            <a:off x="457200" y="4434840"/>
            <a:ext cx="11274552" cy="1325880"/>
          </a:xfrm>
          <a:prstGeom prst="roundRect">
            <a:avLst>
              <a:gd name="adj" fmla="val 6897"/>
            </a:avLst>
          </a:prstGeom>
          <a:solidFill>
            <a:srgbClr val="F9F9F7"/>
          </a:solidFill>
          <a:ln w="12700">
            <a:solidFill>
              <a:srgbClr val="E1E0D9"/>
            </a:solidFill>
            <a:prstDash val="solid"/>
          </a:ln>
        </p:spPr>
      </p:sp>
      <p:sp>
        <p:nvSpPr>
          <p:cNvPr id="21" name="Shape 19"/>
          <p:cNvSpPr/>
          <p:nvPr/>
        </p:nvSpPr>
        <p:spPr>
          <a:xfrm>
            <a:off x="658368" y="4636008"/>
            <a:ext cx="384048" cy="384048"/>
          </a:xfrm>
          <a:prstGeom prst="ellipse">
            <a:avLst/>
          </a:prstGeom>
          <a:solidFill>
            <a:srgbClr val="2A78D6"/>
          </a:solidFill>
          <a:ln/>
        </p:spPr>
      </p:sp>
      <p:sp>
        <p:nvSpPr>
          <p:cNvPr id="22" name="Text 20"/>
          <p:cNvSpPr/>
          <p:nvPr/>
        </p:nvSpPr>
        <p:spPr>
          <a:xfrm>
            <a:off x="658368" y="46360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Q5</a:t>
            </a:r>
            <a:endParaRPr lang="en-US" sz="1100" dirty="0"/>
          </a:p>
        </p:txBody>
      </p:sp>
      <p:sp>
        <p:nvSpPr>
          <p:cNvPr id="23" name="Text 21"/>
          <p:cNvSpPr/>
          <p:nvPr/>
        </p:nvSpPr>
        <p:spPr>
          <a:xfrm>
            <a:off x="1188720" y="4544568"/>
            <a:ext cx="10314432"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Why did using historical healthcare cost as a proxy for need introduce racial bias into the algorithm?</a:t>
            </a:r>
            <a:endParaRPr lang="en-US" sz="1100" dirty="0"/>
          </a:p>
        </p:txBody>
      </p:sp>
      <p:sp>
        <p:nvSpPr>
          <p:cNvPr id="24" name="Text 22"/>
          <p:cNvSpPr/>
          <p:nvPr/>
        </p:nvSpPr>
        <p:spPr>
          <a:xfrm>
            <a:off x="457200" y="5943600"/>
            <a:ext cx="11274552" cy="320040"/>
          </a:xfrm>
          <a:prstGeom prst="rect">
            <a:avLst/>
          </a:prstGeom>
          <a:noFill/>
          <a:ln/>
        </p:spPr>
        <p:txBody>
          <a:bodyPr wrap="square" lIns="0" tIns="0" rIns="0" bIns="0"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Answers are in the speaker notes for this slide.</a:t>
            </a:r>
            <a:endParaRPr lang="en-US" sz="1200" dirty="0"/>
          </a:p>
        </p:txBody>
      </p:sp>
      <p:sp>
        <p:nvSpPr>
          <p:cNvPr id="26" name="Text 2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1.9  |  Phase 1 - AI &amp; Machine Learning Foundations</a:t>
            </a:r>
            <a:endParaRPr lang="en-US" sz="1000" dirty="0"/>
          </a:p>
        </p:txBody>
      </p:sp>
      <p:sp>
        <p:nvSpPr>
          <p:cNvPr id="27" name="Text 24"/>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F35"/>
        </a:solidFill>
      </p:bgPr>
    </p:bg>
    <p:spTree>
      <p:nvGrpSpPr>
        <p:cNvPr id="1" name=""/>
        <p:cNvGrpSpPr/>
        <p:nvPr/>
      </p:nvGrpSpPr>
      <p:grpSpPr>
        <a:xfrm>
          <a:off x="0" y="0"/>
          <a:ext cx="0" cy="0"/>
          <a:chOff x="0" y="0"/>
          <a:chExt cx="0" cy="0"/>
        </a:xfrm>
      </p:grpSpPr>
      <p:pic>
        <p:nvPicPr>
          <p:cNvPr id="2" name="Image 0" descr="/tmp/deck9/png/d0-title-motif.png">    </p:cNvPr>
          <p:cNvPicPr>
            <a:picLocks noChangeAspect="1"/>
          </p:cNvPicPr>
          <p:nvPr/>
        </p:nvPicPr>
        <p:blipFill>
          <a:blip r:embed="rId1">
            <a:alphaModFix amt="85000"/>
          </a:blip>
          <a:stretch>
            <a:fillRect/>
          </a:stretch>
        </p:blipFill>
        <p:spPr>
          <a:xfrm>
            <a:off x="8595360" y="2103120"/>
            <a:ext cx="3840480" cy="3840480"/>
          </a:xfrm>
          <a:prstGeom prst="rect">
            <a:avLst/>
          </a:prstGeom>
        </p:spPr>
      </p:pic>
      <p:sp>
        <p:nvSpPr>
          <p:cNvPr id="3"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200" b="1" spc="120" kern="0" dirty="0">
                <a:solidFill>
                  <a:srgbClr val="86B6EF"/>
                </a:solidFill>
                <a:latin typeface="Calibri" pitchFamily="34" charset="0"/>
                <a:ea typeface="Calibri" pitchFamily="34" charset="-122"/>
                <a:cs typeface="Calibri" pitchFamily="34" charset="-120"/>
              </a:rPr>
              <a:t>SUMMARY</a:t>
            </a:r>
            <a:endParaRPr lang="en-US" sz="1200" dirty="0"/>
          </a:p>
        </p:txBody>
      </p:sp>
      <p:sp>
        <p:nvSpPr>
          <p:cNvPr id="4" name="Text 1"/>
          <p:cNvSpPr/>
          <p:nvPr/>
        </p:nvSpPr>
        <p:spPr>
          <a:xfrm>
            <a:off x="548640" y="73152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5" name="Shape 2"/>
          <p:cNvSpPr/>
          <p:nvPr/>
        </p:nvSpPr>
        <p:spPr>
          <a:xfrm>
            <a:off x="548640" y="1719072"/>
            <a:ext cx="292608" cy="292608"/>
          </a:xfrm>
          <a:prstGeom prst="ellipse">
            <a:avLst/>
          </a:prstGeom>
          <a:solidFill>
            <a:srgbClr val="2A78D6"/>
          </a:solidFill>
          <a:ln/>
        </p:spPr>
      </p:sp>
      <p:sp>
        <p:nvSpPr>
          <p:cNvPr id="6" name="Text 3"/>
          <p:cNvSpPr/>
          <p:nvPr/>
        </p:nvSpPr>
        <p:spPr>
          <a:xfrm>
            <a:off x="548640" y="171907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4"/>
          <p:cNvSpPr/>
          <p:nvPr/>
        </p:nvSpPr>
        <p:spPr>
          <a:xfrm>
            <a:off x="1005840" y="169164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Bias enters through historical, representation, measurement, and label sources, often before training starts.</a:t>
            </a:r>
            <a:endParaRPr lang="en-US" sz="1400" dirty="0"/>
          </a:p>
        </p:txBody>
      </p:sp>
      <p:sp>
        <p:nvSpPr>
          <p:cNvPr id="8" name="Shape 5"/>
          <p:cNvSpPr/>
          <p:nvPr/>
        </p:nvSpPr>
        <p:spPr>
          <a:xfrm>
            <a:off x="548640" y="2587752"/>
            <a:ext cx="292608" cy="292608"/>
          </a:xfrm>
          <a:prstGeom prst="ellipse">
            <a:avLst/>
          </a:prstGeom>
          <a:solidFill>
            <a:srgbClr val="2A78D6"/>
          </a:solidFill>
          <a:ln/>
        </p:spPr>
      </p:sp>
      <p:sp>
        <p:nvSpPr>
          <p:cNvPr id="9" name="Text 6"/>
          <p:cNvSpPr/>
          <p:nvPr/>
        </p:nvSpPr>
        <p:spPr>
          <a:xfrm>
            <a:off x="548640" y="25877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7"/>
          <p:cNvSpPr/>
          <p:nvPr/>
        </p:nvSpPr>
        <p:spPr>
          <a:xfrm>
            <a:off x="1005840" y="256032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Demographic parity, equalized odds, and predictive parity can be mutually exclusive when base rates differ.</a:t>
            </a:r>
            <a:endParaRPr lang="en-US" sz="1400" dirty="0"/>
          </a:p>
        </p:txBody>
      </p:sp>
      <p:sp>
        <p:nvSpPr>
          <p:cNvPr id="11" name="Shape 8"/>
          <p:cNvSpPr/>
          <p:nvPr/>
        </p:nvSpPr>
        <p:spPr>
          <a:xfrm>
            <a:off x="548640" y="3456432"/>
            <a:ext cx="292608" cy="292608"/>
          </a:xfrm>
          <a:prstGeom prst="ellipse">
            <a:avLst/>
          </a:prstGeom>
          <a:solidFill>
            <a:srgbClr val="2A78D6"/>
          </a:solidFill>
          <a:ln/>
        </p:spPr>
      </p:sp>
      <p:sp>
        <p:nvSpPr>
          <p:cNvPr id="12" name="Text 9"/>
          <p:cNvSpPr/>
          <p:nvPr/>
        </p:nvSpPr>
        <p:spPr>
          <a:xfrm>
            <a:off x="548640" y="34564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0"/>
          <p:cNvSpPr/>
          <p:nvPr/>
        </p:nvSpPr>
        <p:spPr>
          <a:xfrm>
            <a:off x="1005840" y="342900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Choosing a fairness definition is a policy decision about which error to tolerate, not a bug to fix.</a:t>
            </a:r>
            <a:endParaRPr lang="en-US" sz="1400" dirty="0"/>
          </a:p>
        </p:txBody>
      </p:sp>
      <p:sp>
        <p:nvSpPr>
          <p:cNvPr id="14" name="Shape 11"/>
          <p:cNvSpPr/>
          <p:nvPr/>
        </p:nvSpPr>
        <p:spPr>
          <a:xfrm>
            <a:off x="548640" y="4325112"/>
            <a:ext cx="292608" cy="292608"/>
          </a:xfrm>
          <a:prstGeom prst="ellipse">
            <a:avLst/>
          </a:prstGeom>
          <a:solidFill>
            <a:srgbClr val="2A78D6"/>
          </a:solidFill>
          <a:ln/>
        </p:spPr>
      </p:sp>
      <p:sp>
        <p:nvSpPr>
          <p:cNvPr id="15" name="Text 12"/>
          <p:cNvSpPr/>
          <p:nvPr/>
        </p:nvSpPr>
        <p:spPr>
          <a:xfrm>
            <a:off x="548640" y="432511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3"/>
          <p:cNvSpPr/>
          <p:nvPr/>
        </p:nvSpPr>
        <p:spPr>
          <a:xfrm>
            <a:off x="1005840" y="429768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LIME and SHAP explain individual predictions; SHAP values can also aggregate into a global summary.</a:t>
            </a:r>
            <a:endParaRPr lang="en-US" sz="1400" dirty="0"/>
          </a:p>
        </p:txBody>
      </p:sp>
      <p:sp>
        <p:nvSpPr>
          <p:cNvPr id="17" name="Shape 14"/>
          <p:cNvSpPr/>
          <p:nvPr/>
        </p:nvSpPr>
        <p:spPr>
          <a:xfrm>
            <a:off x="548640" y="5193792"/>
            <a:ext cx="292608" cy="292608"/>
          </a:xfrm>
          <a:prstGeom prst="ellipse">
            <a:avLst/>
          </a:prstGeom>
          <a:solidFill>
            <a:srgbClr val="2A78D6"/>
          </a:solidFill>
          <a:ln/>
        </p:spPr>
      </p:sp>
      <p:sp>
        <p:nvSpPr>
          <p:cNvPr id="18" name="Text 15"/>
          <p:cNvSpPr/>
          <p:nvPr/>
        </p:nvSpPr>
        <p:spPr>
          <a:xfrm>
            <a:off x="548640" y="51937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6"/>
          <p:cNvSpPr/>
          <p:nvPr/>
        </p:nvSpPr>
        <p:spPr>
          <a:xfrm>
            <a:off x="1005840" y="516636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A feedback loop lets a deployed model's own decisions compound bias with every retraining cycle.</a:t>
            </a:r>
            <a:endParaRPr lang="en-US" sz="1400" dirty="0"/>
          </a:p>
        </p:txBody>
      </p:sp>
      <p:sp>
        <p:nvSpPr>
          <p:cNvPr id="20" name="Text 17"/>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1.9  |  Phase 1 - AI &amp; Machine Learning Foundations</a:t>
            </a:r>
            <a:endParaRPr lang="en-US" sz="1000" dirty="0"/>
          </a:p>
        </p:txBody>
      </p:sp>
      <p:sp>
        <p:nvSpPr>
          <p:cNvPr id="21" name="Text 18"/>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FURTHER READING</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Sources Cited in This Chapter</a:t>
            </a:r>
            <a:endParaRPr lang="en-US" sz="3000" dirty="0"/>
          </a:p>
        </p:txBody>
      </p:sp>
      <p:sp>
        <p:nvSpPr>
          <p:cNvPr id="4" name="Shape 2"/>
          <p:cNvSpPr/>
          <p:nvPr/>
        </p:nvSpPr>
        <p:spPr>
          <a:xfrm>
            <a:off x="457200" y="1655064"/>
            <a:ext cx="146304" cy="146304"/>
          </a:xfrm>
          <a:prstGeom prst="ellipse">
            <a:avLst/>
          </a:prstGeom>
          <a:solidFill>
            <a:srgbClr val="2A78D6"/>
          </a:solidFill>
          <a:ln/>
        </p:spPr>
      </p:sp>
      <p:sp>
        <p:nvSpPr>
          <p:cNvPr id="5" name="Text 3"/>
          <p:cNvSpPr/>
          <p:nvPr/>
        </p:nvSpPr>
        <p:spPr>
          <a:xfrm>
            <a:off x="777240" y="1600200"/>
            <a:ext cx="10607040" cy="329184"/>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Kleinberg, Mullainathan, and Raghavan (ITCS, 2017)</a:t>
            </a:r>
            <a:endParaRPr lang="en-US" sz="1350" dirty="0"/>
          </a:p>
        </p:txBody>
      </p:sp>
      <p:sp>
        <p:nvSpPr>
          <p:cNvPr id="6" name="Text 4"/>
          <p:cNvSpPr/>
          <p:nvPr/>
        </p:nvSpPr>
        <p:spPr>
          <a:xfrm>
            <a:off x="777240" y="1892808"/>
            <a:ext cx="10607040" cy="365760"/>
          </a:xfrm>
          <a:prstGeom prst="rect">
            <a:avLst/>
          </a:prstGeom>
          <a:noFill/>
          <a:ln/>
        </p:spPr>
        <p:txBody>
          <a:bodyPr wrap="square" lIns="0" tIns="0" rIns="0" bIns="0" rtlCol="0" anchor="ctr"/>
          <a:lstStyle/>
          <a:p>
            <a:pPr indent="0" marL="0">
              <a:buNone/>
            </a:pPr>
            <a:r>
              <a:rPr lang="en-US" sz="1050" dirty="0">
                <a:solidFill>
                  <a:srgbClr val="898781"/>
                </a:solidFill>
                <a:latin typeface="Calibri" pitchFamily="34" charset="0"/>
                <a:ea typeface="Calibri" pitchFamily="34" charset="-122"/>
                <a:cs typeface="Calibri" pitchFamily="34" charset="-120"/>
              </a:rPr>
              <a:t>Inherent Trade-Offs in the Fair Determination of Risk Scores - arxiv.org/abs/1609.05807</a:t>
            </a:r>
            <a:endParaRPr lang="en-US" sz="1050" dirty="0"/>
          </a:p>
        </p:txBody>
      </p:sp>
      <p:sp>
        <p:nvSpPr>
          <p:cNvPr id="7" name="Shape 5"/>
          <p:cNvSpPr/>
          <p:nvPr/>
        </p:nvSpPr>
        <p:spPr>
          <a:xfrm>
            <a:off x="457200" y="2496312"/>
            <a:ext cx="146304" cy="146304"/>
          </a:xfrm>
          <a:prstGeom prst="ellipse">
            <a:avLst/>
          </a:prstGeom>
          <a:solidFill>
            <a:srgbClr val="2A78D6"/>
          </a:solidFill>
          <a:ln/>
        </p:spPr>
      </p:sp>
      <p:sp>
        <p:nvSpPr>
          <p:cNvPr id="8" name="Text 6"/>
          <p:cNvSpPr/>
          <p:nvPr/>
        </p:nvSpPr>
        <p:spPr>
          <a:xfrm>
            <a:off x="777240" y="2441448"/>
            <a:ext cx="10607040" cy="329184"/>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Chouldechova (Big Data, 2017)</a:t>
            </a:r>
            <a:endParaRPr lang="en-US" sz="1350" dirty="0"/>
          </a:p>
        </p:txBody>
      </p:sp>
      <p:sp>
        <p:nvSpPr>
          <p:cNvPr id="9" name="Text 7"/>
          <p:cNvSpPr/>
          <p:nvPr/>
        </p:nvSpPr>
        <p:spPr>
          <a:xfrm>
            <a:off x="777240" y="2734056"/>
            <a:ext cx="10607040" cy="365760"/>
          </a:xfrm>
          <a:prstGeom prst="rect">
            <a:avLst/>
          </a:prstGeom>
          <a:noFill/>
          <a:ln/>
        </p:spPr>
        <p:txBody>
          <a:bodyPr wrap="square" lIns="0" tIns="0" rIns="0" bIns="0" rtlCol="0" anchor="ctr"/>
          <a:lstStyle/>
          <a:p>
            <a:pPr indent="0" marL="0">
              <a:buNone/>
            </a:pPr>
            <a:r>
              <a:rPr lang="en-US" sz="1050" dirty="0">
                <a:solidFill>
                  <a:srgbClr val="898781"/>
                </a:solidFill>
                <a:latin typeface="Calibri" pitchFamily="34" charset="0"/>
                <a:ea typeface="Calibri" pitchFamily="34" charset="-122"/>
                <a:cs typeface="Calibri" pitchFamily="34" charset="-120"/>
              </a:rPr>
              <a:t>Fair Prediction with Disparate Impact - doi.org/10.1089/big.2016.0047</a:t>
            </a:r>
            <a:endParaRPr lang="en-US" sz="1050" dirty="0"/>
          </a:p>
        </p:txBody>
      </p:sp>
      <p:sp>
        <p:nvSpPr>
          <p:cNvPr id="10" name="Shape 8"/>
          <p:cNvSpPr/>
          <p:nvPr/>
        </p:nvSpPr>
        <p:spPr>
          <a:xfrm>
            <a:off x="457200" y="3337560"/>
            <a:ext cx="146304" cy="146304"/>
          </a:xfrm>
          <a:prstGeom prst="ellipse">
            <a:avLst/>
          </a:prstGeom>
          <a:solidFill>
            <a:srgbClr val="2A78D6"/>
          </a:solidFill>
          <a:ln/>
        </p:spPr>
      </p:sp>
      <p:sp>
        <p:nvSpPr>
          <p:cNvPr id="11" name="Text 9"/>
          <p:cNvSpPr/>
          <p:nvPr/>
        </p:nvSpPr>
        <p:spPr>
          <a:xfrm>
            <a:off x="777240" y="3282696"/>
            <a:ext cx="10607040" cy="329184"/>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Ribeiro, Singh, and Guestrin (KDD, 2016)</a:t>
            </a:r>
            <a:endParaRPr lang="en-US" sz="1350" dirty="0"/>
          </a:p>
        </p:txBody>
      </p:sp>
      <p:sp>
        <p:nvSpPr>
          <p:cNvPr id="12" name="Text 10"/>
          <p:cNvSpPr/>
          <p:nvPr/>
        </p:nvSpPr>
        <p:spPr>
          <a:xfrm>
            <a:off x="777240" y="3575304"/>
            <a:ext cx="10607040" cy="365760"/>
          </a:xfrm>
          <a:prstGeom prst="rect">
            <a:avLst/>
          </a:prstGeom>
          <a:noFill/>
          <a:ln/>
        </p:spPr>
        <p:txBody>
          <a:bodyPr wrap="square" lIns="0" tIns="0" rIns="0" bIns="0" rtlCol="0" anchor="ctr"/>
          <a:lstStyle/>
          <a:p>
            <a:pPr indent="0" marL="0">
              <a:buNone/>
            </a:pPr>
            <a:r>
              <a:rPr lang="en-US" sz="1050" dirty="0">
                <a:solidFill>
                  <a:srgbClr val="898781"/>
                </a:solidFill>
                <a:latin typeface="Calibri" pitchFamily="34" charset="0"/>
                <a:ea typeface="Calibri" pitchFamily="34" charset="-122"/>
                <a:cs typeface="Calibri" pitchFamily="34" charset="-120"/>
              </a:rPr>
              <a:t>"Why Should I Trust You?": Explaining the Predictions of Any Classifier - dl.acm.org/doi/10.1145/2939672.2939778</a:t>
            </a:r>
            <a:endParaRPr lang="en-US" sz="1050" dirty="0"/>
          </a:p>
        </p:txBody>
      </p:sp>
      <p:sp>
        <p:nvSpPr>
          <p:cNvPr id="13" name="Shape 11"/>
          <p:cNvSpPr/>
          <p:nvPr/>
        </p:nvSpPr>
        <p:spPr>
          <a:xfrm>
            <a:off x="457200" y="4178808"/>
            <a:ext cx="146304" cy="146304"/>
          </a:xfrm>
          <a:prstGeom prst="ellipse">
            <a:avLst/>
          </a:prstGeom>
          <a:solidFill>
            <a:srgbClr val="2A78D6"/>
          </a:solidFill>
          <a:ln/>
        </p:spPr>
      </p:sp>
      <p:sp>
        <p:nvSpPr>
          <p:cNvPr id="14" name="Text 12"/>
          <p:cNvSpPr/>
          <p:nvPr/>
        </p:nvSpPr>
        <p:spPr>
          <a:xfrm>
            <a:off x="777240" y="4123944"/>
            <a:ext cx="10607040" cy="329184"/>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Lundberg and Lee (NeurIPS, 2017)</a:t>
            </a:r>
            <a:endParaRPr lang="en-US" sz="1350" dirty="0"/>
          </a:p>
        </p:txBody>
      </p:sp>
      <p:sp>
        <p:nvSpPr>
          <p:cNvPr id="15" name="Text 13"/>
          <p:cNvSpPr/>
          <p:nvPr/>
        </p:nvSpPr>
        <p:spPr>
          <a:xfrm>
            <a:off x="777240" y="4416552"/>
            <a:ext cx="10607040" cy="365760"/>
          </a:xfrm>
          <a:prstGeom prst="rect">
            <a:avLst/>
          </a:prstGeom>
          <a:noFill/>
          <a:ln/>
        </p:spPr>
        <p:txBody>
          <a:bodyPr wrap="square" lIns="0" tIns="0" rIns="0" bIns="0" rtlCol="0" anchor="ctr"/>
          <a:lstStyle/>
          <a:p>
            <a:pPr indent="0" marL="0">
              <a:buNone/>
            </a:pPr>
            <a:r>
              <a:rPr lang="en-US" sz="1050" dirty="0">
                <a:solidFill>
                  <a:srgbClr val="898781"/>
                </a:solidFill>
                <a:latin typeface="Calibri" pitchFamily="34" charset="0"/>
                <a:ea typeface="Calibri" pitchFamily="34" charset="-122"/>
                <a:cs typeface="Calibri" pitchFamily="34" charset="-120"/>
              </a:rPr>
              <a:t>A Unified Approach to Interpreting Model Predictions</a:t>
            </a:r>
            <a:endParaRPr lang="en-US" sz="1050" dirty="0"/>
          </a:p>
        </p:txBody>
      </p:sp>
      <p:sp>
        <p:nvSpPr>
          <p:cNvPr id="16" name="Shape 14"/>
          <p:cNvSpPr/>
          <p:nvPr/>
        </p:nvSpPr>
        <p:spPr>
          <a:xfrm>
            <a:off x="457200" y="5020056"/>
            <a:ext cx="146304" cy="146304"/>
          </a:xfrm>
          <a:prstGeom prst="ellipse">
            <a:avLst/>
          </a:prstGeom>
          <a:solidFill>
            <a:srgbClr val="2A78D6"/>
          </a:solidFill>
          <a:ln/>
        </p:spPr>
      </p:sp>
      <p:sp>
        <p:nvSpPr>
          <p:cNvPr id="17" name="Text 15"/>
          <p:cNvSpPr/>
          <p:nvPr/>
        </p:nvSpPr>
        <p:spPr>
          <a:xfrm>
            <a:off x="777240" y="4965192"/>
            <a:ext cx="10607040" cy="329184"/>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Obermeyer, Powers, Vogeli, and Mullainathan (Science, 2019)</a:t>
            </a:r>
            <a:endParaRPr lang="en-US" sz="1350" dirty="0"/>
          </a:p>
        </p:txBody>
      </p:sp>
      <p:sp>
        <p:nvSpPr>
          <p:cNvPr id="18" name="Text 16"/>
          <p:cNvSpPr/>
          <p:nvPr/>
        </p:nvSpPr>
        <p:spPr>
          <a:xfrm>
            <a:off x="777240" y="5257800"/>
            <a:ext cx="10607040" cy="365760"/>
          </a:xfrm>
          <a:prstGeom prst="rect">
            <a:avLst/>
          </a:prstGeom>
          <a:noFill/>
          <a:ln/>
        </p:spPr>
        <p:txBody>
          <a:bodyPr wrap="square" lIns="0" tIns="0" rIns="0" bIns="0" rtlCol="0" anchor="ctr"/>
          <a:lstStyle/>
          <a:p>
            <a:pPr indent="0" marL="0">
              <a:buNone/>
            </a:pPr>
            <a:r>
              <a:rPr lang="en-US" sz="1050" dirty="0">
                <a:solidFill>
                  <a:srgbClr val="898781"/>
                </a:solidFill>
                <a:latin typeface="Calibri" pitchFamily="34" charset="0"/>
                <a:ea typeface="Calibri" pitchFamily="34" charset="-122"/>
                <a:cs typeface="Calibri" pitchFamily="34" charset="-120"/>
              </a:rPr>
              <a:t>Dissecting Racial Bias in an Algorithm Used to Manage the Health of Populations - doi.org/10.1126/science.aax2342</a:t>
            </a:r>
            <a:endParaRPr lang="en-US" sz="1050" dirty="0"/>
          </a:p>
        </p:txBody>
      </p:sp>
      <p:sp>
        <p:nvSpPr>
          <p:cNvPr id="19" name="Text 17"/>
          <p:cNvSpPr/>
          <p:nvPr/>
        </p:nvSpPr>
        <p:spPr>
          <a:xfrm>
            <a:off x="457200" y="6172200"/>
            <a:ext cx="11274552" cy="320040"/>
          </a:xfrm>
          <a:prstGeom prst="rect">
            <a:avLst/>
          </a:prstGeom>
          <a:noFill/>
          <a:ln/>
        </p:spPr>
        <p:txBody>
          <a:bodyPr wrap="square" lIns="0" tIns="0" rIns="0" bIns="0"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Full chapter with inline links: docs/01-ai-ml-foundations/1-9-ethics-responsible-ai.mdx</a:t>
            </a:r>
            <a:endParaRPr lang="en-US" sz="1200" dirty="0"/>
          </a:p>
        </p:txBody>
      </p:sp>
      <p:sp>
        <p:nvSpPr>
          <p:cNvPr id="20" name="Text 18"/>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1.9  |  Phase 1 - AI &amp; Machine Learning Foundations</a:t>
            </a:r>
            <a:endParaRPr lang="en-US" sz="1000" dirty="0"/>
          </a:p>
        </p:txBody>
      </p:sp>
      <p:sp>
        <p:nvSpPr>
          <p:cNvPr id="21" name="Text 19"/>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2026-08-20T04:50:41Z</dcterms:created>
  <dcterms:modified xsi:type="dcterms:W3CDTF">2026-08-20T04:50:41Z</dcterms:modified>
</cp:coreProperties>
</file>