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A decision tree learns its splits from data, but its output looks like a hand-written if/then rule set. Which layer does it belong to, and why?
A1: Machine learning. The taxonomy classifies a system by how its logic was produced, not by what it looks like afterward — the splits are fit from data by an algorithm.
Q2: Why is deep learning described as a subset of machine learning rather than a separate category?
A2: Because deep learning uses the same underlying idea (parameters fit to minimize a loss via gradient-based optimization) and only narrows it further, to models that also learn their own feature representations.
Q3: A company fine-tunes a deep learning model to sort tickets into ten fixed categories. Is this generative AI?
A3: No. It's a deep-learning discriminative model: it draws a boundary between ten known classes rather than modeling a distribution it can sample new content from.
Q4: What is the one property that separates agentic AI from generative AI?
A4: Whether the system decides its own next action. A generative model produces one output and stops; an agentic system wraps a model in a perceive/decide/act loop.
Q5: Why does the rule-based input-validation step still exist next to a far more capable ML model?
A5: A narrower, more general-purpose layer is often cheaper and more reliable for what it's good at: catching a malformed input with one line of logic doesn't need a trained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2/png/d0-title-motif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6949440" y="548640"/>
            <a:ext cx="5760720" cy="5760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6B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 ·  PHASE 1 — AI &amp; MACHINE LEARNING FOUNDATIONS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04281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2344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1.2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4360" y="19202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Taxonomy of AI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CD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Rule-Based, Machine Learning, Deep Learning, Generative, and Agentic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39319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teaching-slide walkthrough of the chapter: five layers as specializations, not competing technologies, and where the boundaries actually blur.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deck  ·  17 slides  ·  based on docs/01-ai-ml-foundations/1-2-taxonomy-of-ai.mdx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02920" cy="502920"/>
          </a:xfrm>
          <a:prstGeom prst="ellipse">
            <a:avLst/>
          </a:prstGeom>
          <a:solidFill>
            <a:srgbClr val="10428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5568" y="145389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pyramid: five nested layers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15568" y="180136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at the base, narrowest at the tip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679192"/>
            <a:ext cx="502920" cy="502920"/>
          </a:xfrm>
          <a:prstGeom prst="ellipse">
            <a:avLst/>
          </a:prstGeom>
          <a:solidFill>
            <a:srgbClr val="1042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15568" y="262432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formally distinguishes each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15568" y="2971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logic came from, not how it looks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849624"/>
            <a:ext cx="502920" cy="502920"/>
          </a:xfrm>
          <a:prstGeom prst="ellipse">
            <a:avLst/>
          </a:prstGeom>
          <a:solidFill>
            <a:srgbClr val="10428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15568" y="37947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Discriminative vs. generative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15568" y="41422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older distinction, a narrower modern usage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5020056"/>
            <a:ext cx="502920" cy="502920"/>
          </a:xfrm>
          <a:prstGeom prst="ellipse">
            <a:avLst/>
          </a:prstGeom>
          <a:solidFill>
            <a:srgbClr val="10428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020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15568" y="496519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boundary blurs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15568" y="531266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trees, and the agentic control loop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1508760"/>
            <a:ext cx="502920" cy="502920"/>
          </a:xfrm>
          <a:prstGeom prst="ellipse">
            <a:avLst/>
          </a:prstGeom>
          <a:solidFill>
            <a:srgbClr val="104281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13448" y="145389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architecture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013448" y="180136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layers in one loan-intake pipeline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55080" y="2679192"/>
            <a:ext cx="502920" cy="502920"/>
          </a:xfrm>
          <a:prstGeom prst="ellipse">
            <a:avLst/>
          </a:prstGeom>
          <a:solidFill>
            <a:srgbClr val="104281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13448" y="262432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use cases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013448" y="2971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Healthcare, and Telecom — 4 each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55080" y="3849624"/>
            <a:ext cx="502920" cy="502920"/>
          </a:xfrm>
          <a:prstGeom prst="ellipse">
            <a:avLst/>
          </a:prstGeom>
          <a:solidFill>
            <a:srgbClr val="104281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013448" y="37947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understanding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013448" y="41422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 to discuss as a class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Phase 1 — AI &amp; Machine Learning Foundations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Layers, One Idea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74552" cy="2103120"/>
          </a:xfrm>
          <a:prstGeom prst="roundRect">
            <a:avLst>
              <a:gd name="adj" fmla="val 5217"/>
            </a:avLst>
          </a:prstGeom>
          <a:solidFill>
            <a:srgbClr val="F9F9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i="1" dirty="0">
                <a:solidFill>
                  <a:srgbClr val="1042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Rule-based, machine learning, deep learning, generative AI, and agentic AI aren't five competing technologies. They're five layers, each a narrower specialization of the one below it.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medical specialization: a GP treats a wide range of conditions; a subspecialist treats a narrower set, but goes deeper on each one.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TAKEAWAY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production system usually stacks several of these layers together — it doesn't pick just one. A rule-based input check still runs in front of a machine-learned model in most systems today.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Phase 1 — AI &amp; Machine Learning Foundations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Five-Layer Pyramid</a:t>
            </a:r>
            <a:endParaRPr lang="en-US" sz="3000" dirty="0"/>
          </a:p>
        </p:txBody>
      </p:sp>
      <p:pic>
        <p:nvPicPr>
          <p:cNvPr id="4" name="Image 0" descr="/tmp/deck2/png/d1-pyra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76" y="1280160"/>
            <a:ext cx="8229600" cy="5102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Phase 1 — AI &amp; Machine Learning Foundations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Formally Distinguishes Each Layer</a:t>
            </a:r>
            <a:endParaRPr lang="en-US" sz="3000" dirty="0"/>
          </a:p>
        </p:txBody>
      </p:sp>
      <p:pic>
        <p:nvPicPr>
          <p:cNvPr id="4" name="Image 0" descr="/tmp/deck2/png/d2-formal-crite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9656" y="1280160"/>
            <a:ext cx="854964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Phase 1 — AI &amp; Machine Learning Foundations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Discriminative vs. Generative</a:t>
            </a:r>
            <a:endParaRPr lang="en-US" sz="3000" dirty="0"/>
          </a:p>
        </p:txBody>
      </p:sp>
      <p:pic>
        <p:nvPicPr>
          <p:cNvPr id="4" name="Image 0" descr="/tmp/deck2/png/d3-discriminative-vs-genera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280160"/>
            <a:ext cx="10424160" cy="4864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Phase 1 — AI &amp; Machine Learning Foundations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BOUNDARY BLURS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Decision Tree: ML to Build, Rules to Read</a:t>
            </a:r>
            <a:endParaRPr lang="en-US" sz="3000" dirty="0"/>
          </a:p>
        </p:txBody>
      </p:sp>
      <p:pic>
        <p:nvPicPr>
          <p:cNvPr id="4" name="Image 0" descr="/tmp/deck2/png/d4-decision-tree-bl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280160"/>
            <a:ext cx="10424160" cy="4864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Phase 1 — AI &amp; Machine Learning Foundations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BOUNDARY BLURS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Is a Control Loop, Not a New Model</a:t>
            </a:r>
            <a:endParaRPr lang="en-US" sz="3000" dirty="0"/>
          </a:p>
        </p:txBody>
      </p:sp>
      <p:pic>
        <p:nvPicPr>
          <p:cNvPr id="4" name="Image 0" descr="/tmp/deck2/png/d5-agentic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9716" y="1280160"/>
            <a:ext cx="7589520" cy="4828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Phase 1 — AI &amp; Machine Learning Foundations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Loan-Intake Pipeline, All Five Layers</a:t>
            </a:r>
            <a:endParaRPr lang="en-US" sz="3000" dirty="0"/>
          </a:p>
        </p:txBody>
      </p:sp>
      <p:pic>
        <p:nvPicPr>
          <p:cNvPr id="4" name="Image 0" descr="/tmp/deck2/png/d6-reference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74552" cy="36393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Phase 1 — AI &amp; Machine Learning Foundations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Decisive Question</a:t>
            </a:r>
            <a:endParaRPr lang="en-US" sz="3000" dirty="0"/>
          </a:p>
        </p:txBody>
      </p:sp>
      <p:pic>
        <p:nvPicPr>
          <p:cNvPr id="4" name="Image 0" descr="/tmp/deck2/png/d7-decisive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280160"/>
            <a:ext cx="960120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Phase 1 — AI &amp; Machine Learning Foundations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USE CASES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3000" dirty="0"/>
          </a:p>
        </p:txBody>
      </p:sp>
      <p:pic>
        <p:nvPicPr>
          <p:cNvPr id="4" name="Image 0" descr="/tmp/deck2/png/d8-usecases-fi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74552" cy="45098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Phase 1 — AI &amp; Machine Learning Foundations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USE CASES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</a:t>
            </a:r>
            <a:endParaRPr lang="en-US" sz="3000" dirty="0"/>
          </a:p>
        </p:txBody>
      </p:sp>
      <p:pic>
        <p:nvPicPr>
          <p:cNvPr id="4" name="Image 0" descr="/tmp/deck2/png/d9-usecases-health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74552" cy="45098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Phase 1 — AI &amp; Machine Learning Foundations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USE CASES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</a:t>
            </a:r>
            <a:endParaRPr lang="en-US" sz="3000" dirty="0"/>
          </a:p>
        </p:txBody>
      </p:sp>
      <p:pic>
        <p:nvPicPr>
          <p:cNvPr id="4" name="Image 0" descr="/tmp/deck2/png/d10-usecases-telec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74552" cy="45098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Phase 1 — AI &amp; Machine Learning Foundations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AS A 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9F9F7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709928"/>
            <a:ext cx="384048" cy="38404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61848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tree learns its splits from data, but its output looks like a hand-written if/then rule set. Which layer does it belong to, and why?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50876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9F9F7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1709928"/>
            <a:ext cx="384048" cy="38404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0" name="Text 8"/>
          <p:cNvSpPr/>
          <p:nvPr/>
        </p:nvSpPr>
        <p:spPr>
          <a:xfrm>
            <a:off x="6327648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161848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deep learning described as a subset of machine learning rather than a separate category?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9F9F7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172968"/>
            <a:ext cx="384048" cy="38404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308152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fine-tunes a deep learning model to sort tickets into ten fixed categories. Is this generative AI?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297180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9F9F7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27648" y="3172968"/>
            <a:ext cx="384048" cy="38404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308152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one property that separates agentic AI from generative AI?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11274552" cy="1325880"/>
          </a:xfrm>
          <a:prstGeom prst="roundRect">
            <a:avLst>
              <a:gd name="adj" fmla="val 6897"/>
            </a:avLst>
          </a:prstGeom>
          <a:solidFill>
            <a:srgbClr val="F9F9F7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4636008"/>
            <a:ext cx="384048" cy="38404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4544568"/>
            <a:ext cx="10314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rule-based input-validation step still exist next to a far more capable ML model?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59436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in the speaker notes for this slide.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Phase 1 — AI &amp; Machine Learning Foundations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Layers Side by Side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4552" cy="2743200"/>
        </p:xfrm>
        <a:graphic>
          <a:graphicData uri="http://schemas.openxmlformats.org/drawingml/2006/table">
            <a:tbl>
              <a:tblPr/>
              <a:tblGrid>
                <a:gridCol w="2313432"/>
                <a:gridCol w="1792224"/>
                <a:gridCol w="1792224"/>
                <a:gridCol w="1792224"/>
                <a:gridCol w="1792224"/>
                <a:gridCol w="1792224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Decides own next action?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(stops)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Large, varies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Inherits base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or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/ embedding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 of 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is a narrower specialization of the one to its left, not a competing option. Most production systems use several columns together.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Phase 1 — AI &amp; Machine Learning Foundations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2/png/d0-title-motif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8595360" y="210312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6B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719072"/>
            <a:ext cx="292608" cy="29260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691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D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each a narrower specialization of the one below it, not five rival technologies.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87752"/>
            <a:ext cx="292608" cy="29260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587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D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taxonomy classifies by how the logic was produced, not by what it looks like afterward.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456432"/>
            <a:ext cx="292608" cy="29260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3429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D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"Generative AI" narrows the classical generative-model idea to the conditional P(output | input) case.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325112"/>
            <a:ext cx="292608" cy="29260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4325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05840" y="4297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D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wraps a control loop around a model; today that model is usually generative, but the loop itself is older and more general.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5193792"/>
            <a:ext cx="292608" cy="29260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5193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05840" y="5166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D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decisive question across all five layers: does the system decide its own next action?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Phase 1 — AI &amp; Machine Learning Foundations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READING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Cited in This Chapter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00784"/>
            <a:ext cx="146304" cy="146304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Breiman, Friedman, Olshen &amp; Stone (1984)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5681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and Regression Trees — routledge.com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78024"/>
            <a:ext cx="146304" cy="146304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2316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&amp; Jordan, discriminative vs. generative classifiers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73405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statistics background, NeurIPS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55264"/>
            <a:ext cx="146304" cy="146304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00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1.1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51129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docs/01-ai-ml-foundations/1-1-what-is-ai.mdx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032504"/>
            <a:ext cx="146304" cy="146304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97764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Glossary: Agent, Discriminative / Generative model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28853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docs/00-orientation/0-5-glossary-notation-conventions.md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809744"/>
            <a:ext cx="146304" cy="146304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7548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 (8.1–8.3)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506577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agent control-loop treatment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chapter with inline links: docs/01-ai-ml-foundations/1-2-taxonomy-of-ai.mdx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Phase 1 — AI &amp; Machine Learning Foundations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2026-08-19T05:21:32Z</dcterms:created>
  <dcterms:modified xsi:type="dcterms:W3CDTF">2026-08-19T05:21:32Z</dcterms:modified>
</cp:coreProperties>
</file>