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Why can a single perceptron not learn the XOR function, and what specifically about an MLP fixes it?
A1: A single perceptron can only separate its input space with one straight line, and XOR's positive and negative examples are diagonally interleaved so no single line separates them. An MLP fixes this with a hidden layer: each hidden unit draws its own line, and the output unit combines them into a folded boundary.
Q2: Why does stacking layers with no nonlinear activation function fail to add any expressive power?
A2: A linear transformation followed by another linear transformation is algebraically still one linear transformation. Without nonlinearity, any depth of stacked layers collapses to the same expressive power as one layer.
Q3: What does the universal approximation theorem actually guarantee, and what does it not guarantee?
A3: It guarantees a feedforward network with one hidden layer and enough units can approximate any continuous function on a bounded region to arbitrary precision. It does not say how many units are needed, nor whether gradient descent will find the right weights.
Q4: Why does initializing every weight in a network to the same value break training?
A4: Every unit in the layer computes the same output and receives the same gradient update at every step, so they stay identical forever, a failure called the symmetry problem. Random initialization breaks the tie.
Q5: Why did ReLU replace sigmoid as the default hidden-layer activation in deep networks?
A5: Nair and Hinton (2010) showed ReLU units train faster than sigmoid or tanh in deep architectures, largely because ReLU's gradient does not shrink toward zero for positive inputs the way sigmoid's does across many stacked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5"/>
        </a:solidFill>
      </p:bgPr>
    </p:bg>
    <p:spTree>
      <p:nvGrpSpPr>
        <p:cNvPr id="1" name=""/>
        <p:cNvGrpSpPr/>
        <p:nvPr/>
      </p:nvGrpSpPr>
      <p:grpSpPr>
        <a:xfrm>
          <a:off x="0" y="0"/>
          <a:ext cx="0" cy="0"/>
          <a:chOff x="0" y="0"/>
          <a:chExt cx="0" cy="0"/>
        </a:xfrm>
      </p:grpSpPr>
      <p:sp>
        <p:nvSpPr>
          <p:cNvPr id="2" name="Shape 0"/>
          <p:cNvSpPr/>
          <p:nvPr/>
        </p:nvSpPr>
        <p:spPr>
          <a:xfrm>
            <a:off x="0" y="4480560"/>
            <a:ext cx="9144000" cy="73152"/>
          </a:xfrm>
          <a:prstGeom prst="rect">
            <a:avLst/>
          </a:prstGeom>
          <a:solidFill>
            <a:srgbClr val="5598E7"/>
          </a:solidFill>
          <a:ln/>
        </p:spPr>
      </p:sp>
      <p:sp>
        <p:nvSpPr>
          <p:cNvPr id="3" name="Text 1"/>
          <p:cNvSpPr/>
          <p:nvPr/>
        </p:nvSpPr>
        <p:spPr>
          <a:xfrm>
            <a:off x="548640" y="1417320"/>
            <a:ext cx="8046720" cy="365760"/>
          </a:xfrm>
          <a:prstGeom prst="rect">
            <a:avLst/>
          </a:prstGeom>
          <a:noFill/>
          <a:ln/>
        </p:spPr>
        <p:txBody>
          <a:bodyPr wrap="square" rtlCol="0" anchor="ctr"/>
          <a:lstStyle/>
          <a:p>
            <a:pPr indent="0" marL="0">
              <a:buNone/>
            </a:pPr>
            <a:r>
              <a:rPr lang="en-US" sz="1400" b="1" spc="100" kern="0" dirty="0">
                <a:solidFill>
                  <a:srgbClr val="86B6EF"/>
                </a:solidFill>
                <a:latin typeface="Calibri" pitchFamily="34" charset="0"/>
                <a:ea typeface="Calibri" pitchFamily="34" charset="-122"/>
                <a:cs typeface="Calibri" pitchFamily="34" charset="-120"/>
              </a:rPr>
              <a:t>Phase 2 — Deep Learning Foundations</a:t>
            </a:r>
            <a:endParaRPr lang="en-US" sz="1400" dirty="0"/>
          </a:p>
        </p:txBody>
      </p:sp>
      <p:sp>
        <p:nvSpPr>
          <p:cNvPr id="4" name="Text 2"/>
          <p:cNvSpPr/>
          <p:nvPr/>
        </p:nvSpPr>
        <p:spPr>
          <a:xfrm>
            <a:off x="548640" y="1828800"/>
            <a:ext cx="8046720" cy="1463040"/>
          </a:xfrm>
          <a:prstGeom prst="rect">
            <a:avLst/>
          </a:prstGeom>
          <a:noFill/>
          <a:ln/>
        </p:spPr>
        <p:txBody>
          <a:bodyPr wrap="square"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Neural Networks 101: From Perceptron to MLP</a:t>
            </a:r>
            <a:endParaRPr lang="en-US" sz="3400" dirty="0"/>
          </a:p>
        </p:txBody>
      </p:sp>
      <p:sp>
        <p:nvSpPr>
          <p:cNvPr id="5" name="Text 3"/>
          <p:cNvSpPr/>
          <p:nvPr/>
        </p:nvSpPr>
        <p:spPr>
          <a:xfrm>
            <a:off x="548640" y="3246120"/>
            <a:ext cx="8046720" cy="548640"/>
          </a:xfrm>
          <a:prstGeom prst="rect">
            <a:avLst/>
          </a:prstGeom>
          <a:noFill/>
          <a:ln/>
        </p:spPr>
        <p:txBody>
          <a:bodyPr wrap="square" rtlCol="0" anchor="ctr"/>
          <a:lstStyle/>
          <a:p>
            <a:pPr indent="0" marL="0">
              <a:buNone/>
            </a:pPr>
            <a:r>
              <a:rPr lang="en-US" sz="1500" dirty="0">
                <a:solidFill>
                  <a:srgbClr val="9FB8D6"/>
                </a:solidFill>
                <a:latin typeface="Calibri" pitchFamily="34" charset="0"/>
                <a:ea typeface="Calibri" pitchFamily="34" charset="-122"/>
                <a:cs typeface="Calibri" pitchFamily="34" charset="-120"/>
              </a:rPr>
              <a:t>The perceptron, the XOR problem, and why a hidden layer with nonlinear activations changes everything</a:t>
            </a:r>
            <a:endParaRPr lang="en-US" sz="1500" dirty="0"/>
          </a:p>
        </p:txBody>
      </p:sp>
      <p:sp>
        <p:nvSpPr>
          <p:cNvPr id="6" name="Text 4"/>
          <p:cNvSpPr/>
          <p:nvPr/>
        </p:nvSpPr>
        <p:spPr>
          <a:xfrm>
            <a:off x="548640" y="4160520"/>
            <a:ext cx="3657600" cy="320040"/>
          </a:xfrm>
          <a:prstGeom prst="rect">
            <a:avLst/>
          </a:prstGeom>
          <a:noFill/>
          <a:ln/>
        </p:spPr>
        <p:txBody>
          <a:bodyPr wrap="square" rtlCol="0" anchor="ctr"/>
          <a:lstStyle/>
          <a:p>
            <a:pPr indent="0" marL="0">
              <a:buNone/>
            </a:pPr>
            <a:r>
              <a:rPr lang="en-US" sz="1200" dirty="0">
                <a:solidFill>
                  <a:srgbClr val="86B6EF"/>
                </a:solidFill>
                <a:latin typeface="Calibri" pitchFamily="34" charset="0"/>
                <a:ea typeface="Calibri" pitchFamily="34" charset="-122"/>
                <a:cs typeface="Calibri" pitchFamily="34" charset="-120"/>
              </a:rPr>
              <a:t>Chapter 2.1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0B0B0B"/>
                </a:solidFill>
                <a:latin typeface="Cambria" pitchFamily="34" charset="0"/>
                <a:ea typeface="Cambria" pitchFamily="34" charset="-122"/>
                <a:cs typeface="Cambria" pitchFamily="34" charset="-120"/>
              </a:rPr>
              <a:t>Agenda</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914400"/>
        </p:xfrm>
        <a:graphic>
          <a:graphicData uri="http://schemas.openxmlformats.org/drawingml/2006/table">
            <a:tbl>
              <a:tblPr/>
              <a:tblGrid>
                <a:gridCol w="640080"/>
                <a:gridCol w="7406640"/>
              </a:tblGrid>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TL;DR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High-Level: perceptron and MLP</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Deep-Dive: forward pass, XOR, universal approximation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Comparison &amp; Related Concepts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Reference Architecture: the forward pass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Industry Use Cases (Finance, Healthcare, Telecom)</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Check Your Understanding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bl>
          </a:graphicData>
        </a:graphic>
      </p:graphicFrame>
      <p:sp>
        <p:nvSpPr>
          <p:cNvPr id="4" name="Text 1"/>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2.1</a:t>
            </a:r>
            <a:endParaRPr lang="en-US" sz="900" dirty="0"/>
          </a:p>
        </p:txBody>
      </p:sp>
      <p:sp>
        <p:nvSpPr>
          <p:cNvPr id="5" name="Text 2"/>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F35"/>
          </a:solidFill>
          <a:ln/>
        </p:spPr>
      </p:sp>
      <p:sp>
        <p:nvSpPr>
          <p:cNvPr id="3" name="Text 1"/>
          <p:cNvSpPr/>
          <p:nvPr/>
        </p:nvSpPr>
        <p:spPr>
          <a:xfrm>
            <a:off x="548640" y="201168"/>
            <a:ext cx="804672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TL;DR</a:t>
            </a:r>
            <a:endParaRPr lang="en-US" sz="2600" dirty="0"/>
          </a:p>
        </p:txBody>
      </p:sp>
      <p:sp>
        <p:nvSpPr>
          <p:cNvPr id="4" name="Text 2"/>
          <p:cNvSpPr/>
          <p:nvPr/>
        </p:nvSpPr>
        <p:spPr>
          <a:xfrm>
            <a:off x="640080" y="1234440"/>
            <a:ext cx="7863840" cy="3474720"/>
          </a:xfrm>
          <a:prstGeom prst="rect">
            <a:avLst/>
          </a:prstGeom>
          <a:noFill/>
          <a:ln/>
        </p:spPr>
        <p:txBody>
          <a:bodyPr wrap="square" rtlCol="0" anchor="t"/>
          <a:lstStyle/>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A neural network is built from a simple unit, the perceptron, that takes a weighted sum of its inputs, adds a bias, and passes the result through an activation function.</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One perceptron alone can only separate data with a straight line, so it cannot even learn the XOR function.</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Stacking perceptrons into layers (a multilayer perceptron, or MLP) and giving each unit a nonlinear activation lets the network bend that line into an arbitrarily complex decision boundary.</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Per the universal approximation theorem, an MLP with a hidden layer and enough units can approximate essentially any continuous function.</a:t>
            </a:r>
            <a:endParaRPr lang="en-US" sz="1500" dirty="0"/>
          </a:p>
        </p:txBody>
      </p:sp>
      <p:sp>
        <p:nvSpPr>
          <p:cNvPr id="5" name="Text 3"/>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2.1</a:t>
            </a:r>
            <a:endParaRPr lang="en-US" sz="900" dirty="0"/>
          </a:p>
        </p:txBody>
      </p:sp>
      <p:sp>
        <p:nvSpPr>
          <p:cNvPr id="6" name="Text 4"/>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Single perceptron vs. multilayer perceptron on XOR</a:t>
            </a:r>
            <a:endParaRPr lang="en-US" sz="2100" dirty="0"/>
          </a:p>
        </p:txBody>
      </p:sp>
      <p:pic>
        <p:nvPicPr>
          <p:cNvPr id="3" name="Image 0" descr="/tmp/deck-x5w7FB/diag0-2-1-perceptron-to-mlp.png">    </p:cNvPr>
          <p:cNvPicPr>
            <a:picLocks noChangeAspect="1"/>
          </p:cNvPicPr>
          <p:nvPr/>
        </p:nvPicPr>
        <p:blipFill>
          <a:blip r:embed="rId1"/>
          <a:stretch>
            <a:fillRect/>
          </a:stretch>
        </p:blipFill>
        <p:spPr>
          <a:xfrm>
            <a:off x="1303373" y="868680"/>
            <a:ext cx="6537255"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A hidden layer of perceptrons combines several straight lines into a folded boundary a single unit cannot produce.</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2.1</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Activation functions: sigmoid, tanh, ReLU</a:t>
            </a:r>
            <a:endParaRPr lang="en-US" sz="2100" dirty="0"/>
          </a:p>
        </p:txBody>
      </p:sp>
      <p:pic>
        <p:nvPicPr>
          <p:cNvPr id="3" name="Image 0" descr="/tmp/deck-x5w7FB/diag1-2-1-activation-functions.png">    </p:cNvPr>
          <p:cNvPicPr>
            <a:picLocks noChangeAspect="1"/>
          </p:cNvPicPr>
          <p:nvPr/>
        </p:nvPicPr>
        <p:blipFill>
          <a:blip r:embed="rId1"/>
          <a:stretch>
            <a:fillRect/>
          </a:stretch>
        </p:blipFill>
        <p:spPr>
          <a:xfrm>
            <a:off x="1428089" y="868680"/>
            <a:ext cx="6287823"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ReLU's gradient does not shrink for positive inputs the way sigmoid's and tanh's do, which is why it trains faster in deep networks.</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2.1</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The universal approximation theorem, mechanically</a:t>
            </a:r>
            <a:endParaRPr lang="en-US" sz="2100" dirty="0"/>
          </a:p>
        </p:txBody>
      </p:sp>
      <p:pic>
        <p:nvPicPr>
          <p:cNvPr id="3" name="Image 0" descr="/tmp/deck-x5w7FB/diag2-2-1-universal-approximation.png">    </p:cNvPr>
          <p:cNvPicPr>
            <a:picLocks noChangeAspect="1"/>
          </p:cNvPicPr>
          <p:nvPr/>
        </p:nvPicPr>
        <p:blipFill>
          <a:blip r:embed="rId1"/>
          <a:stretch>
            <a:fillRect/>
          </a:stretch>
        </p:blipFill>
        <p:spPr>
          <a:xfrm>
            <a:off x="2057165" y="868680"/>
            <a:ext cx="5029670"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Cybenko (1989) and Hornik, Stinchcombe, and White (1989): enough weighted sigmoid units, summed, approximate any continuous function.</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2.1</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Why weight initialization must be small and random</a:t>
            </a:r>
            <a:endParaRPr lang="en-US" sz="2100" dirty="0"/>
          </a:p>
        </p:txBody>
      </p:sp>
      <p:pic>
        <p:nvPicPr>
          <p:cNvPr id="3" name="Image 0" descr="/tmp/deck-x5w7FB/diag3-2-1-weight-init-symmetry.png">    </p:cNvPr>
          <p:cNvPicPr>
            <a:picLocks noChangeAspect="1"/>
          </p:cNvPicPr>
          <p:nvPr/>
        </p:nvPicPr>
        <p:blipFill>
          <a:blip r:embed="rId1"/>
          <a:stretch>
            <a:fillRect/>
          </a:stretch>
        </p:blipFill>
        <p:spPr>
          <a:xfrm>
            <a:off x="799512" y="868680"/>
            <a:ext cx="7544976"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Identical initial weights produce identical gradients forever; random initialization lets hidden units specialize.</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2.1</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Reference architecture: the forward pass</a:t>
            </a:r>
            <a:endParaRPr lang="en-US" sz="2100" dirty="0"/>
          </a:p>
        </p:txBody>
      </p:sp>
      <p:pic>
        <p:nvPicPr>
          <p:cNvPr id="3" name="Image 0" descr="/tmp/deck-x5w7FB/diag4-2-1-mlp-forward-pass.png">    </p:cNvPr>
          <p:cNvPicPr>
            <a:picLocks noChangeAspect="1"/>
          </p:cNvPicPr>
          <p:nvPr/>
        </p:nvPicPr>
        <p:blipFill>
          <a:blip r:embed="rId1"/>
          <a:stretch>
            <a:fillRect/>
          </a:stretch>
        </p:blipFill>
        <p:spPr>
          <a:xfrm>
            <a:off x="457200" y="1109159"/>
            <a:ext cx="8229600" cy="3039482"/>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Every arrow moves data forward only; chapter 2.2 covers how error flows backward to update every weight.</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2.1</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365760" y="228600"/>
            <a:ext cx="8412480" cy="457200"/>
          </a:xfrm>
          <a:prstGeom prst="rect">
            <a:avLst/>
          </a:prstGeom>
          <a:noFill/>
          <a:ln/>
        </p:spPr>
        <p:txBody>
          <a:bodyPr wrap="square" rtlCol="0" anchor="ctr"/>
          <a:lstStyle/>
          <a:p>
            <a:pPr indent="0" marL="0">
              <a:buNone/>
            </a:pPr>
            <a:r>
              <a:rPr lang="en-US" sz="2200" b="1" dirty="0">
                <a:solidFill>
                  <a:srgbClr val="0B0B0B"/>
                </a:solidFill>
                <a:latin typeface="Cambria" pitchFamily="34" charset="0"/>
                <a:ea typeface="Cambria" pitchFamily="34" charset="-122"/>
                <a:cs typeface="Cambria" pitchFamily="34" charset="-120"/>
              </a:rPr>
              <a:t>Comparison &amp; Related Concepts</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8412480" cy="914400"/>
        </p:xfrm>
        <a:graphic>
          <a:graphicData uri="http://schemas.openxmlformats.org/drawingml/2006/table">
            <a:tbl>
              <a:tblPr/>
              <a:tblGrid>
                <a:gridCol w="1682496"/>
                <a:gridCol w="1682496"/>
                <a:gridCol w="1682496"/>
                <a:gridCol w="1682496"/>
                <a:gridCol w="1682496"/>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Aspect</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Single Perceptron</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Multilayer Perceptron (MLP)</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Logistic Regression</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Decision Tree</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Decision boundary shape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One straight line/hyperplane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Arbitrarily complex, folded regions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One straight line/hyperplane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Axis-aligned rectangular regions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Can it solve XOR</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Yes, with one hidden layer</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Yes, with enough splits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How it learns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Perceptron rule or gradient descent</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Backpropagation + gradient descent</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Gradient descent on log loss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Greedy recursive splitting</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Interpretability</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High: weights are directly readable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Low without SHAP/LIME tooling</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High: coefficients are directly readable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High: split path is directly readable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bl>
          </a:graphicData>
        </a:graphic>
      </p:graphicFrame>
      <p:sp>
        <p:nvSpPr>
          <p:cNvPr id="4" name="Text 1"/>
          <p:cNvSpPr/>
          <p:nvPr/>
        </p:nvSpPr>
        <p:spPr>
          <a:xfrm>
            <a:off x="365760" y="4526280"/>
            <a:ext cx="8412480" cy="457200"/>
          </a:xfrm>
          <a:prstGeom prst="rect">
            <a:avLst/>
          </a:prstGeom>
          <a:noFill/>
          <a:ln/>
        </p:spPr>
        <p:txBody>
          <a:bodyPr wrap="square" rtlCol="0" anchor="ctr"/>
          <a:lstStyle/>
          <a:p>
            <a:pPr indent="0" marL="0">
              <a:buNone/>
            </a:pPr>
            <a:r>
              <a:rPr lang="en-US" sz="1000" i="1" dirty="0">
                <a:solidFill>
                  <a:srgbClr val="52514E"/>
                </a:solidFill>
                <a:latin typeface="Calibri" pitchFamily="34" charset="0"/>
                <a:ea typeface="Calibri" pitchFamily="34" charset="-122"/>
                <a:cs typeface="Calibri" pitchFamily="34" charset="-120"/>
              </a:rPr>
              <a:t>Logistic regression is mathematically a single perceptron with a sigmoid activation; the hidden layer is what makes an MLP qualitatively different.</a:t>
            </a:r>
            <a:endParaRPr lang="en-US" sz="10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2.1</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pic>
        <p:nvPicPr>
          <p:cNvPr id="2" name="Image 0" descr="/tmp/deck-x5w7FB/grid0-uc-finance.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2.1</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pic>
        <p:nvPicPr>
          <p:cNvPr id="2" name="Image 0" descr="/tmp/deck-x5w7FB/grid1-uc-healthcare.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2.1</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pic>
        <p:nvPicPr>
          <p:cNvPr id="2" name="Image 0" descr="/tmp/deck-x5w7FB/grid2-uc-telecom.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2.1</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F35"/>
          </a:solidFill>
          <a:ln/>
        </p:spPr>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4" name="Text 2"/>
          <p:cNvSpPr/>
          <p:nvPr/>
        </p:nvSpPr>
        <p:spPr>
          <a:xfrm>
            <a:off x="548640" y="1005840"/>
            <a:ext cx="8046720" cy="3749040"/>
          </a:xfrm>
          <a:prstGeom prst="rect">
            <a:avLst/>
          </a:prstGeom>
          <a:noFill/>
          <a:ln/>
        </p:spPr>
        <p:txBody>
          <a:bodyPr wrap="square" rtlCol="0" anchor="t"/>
          <a:lstStyle/>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1. Why can a single perceptron not learn the XOR function, and what specifically about an MLP fixes it?</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2. Why does stacking layers with no nonlinear activation function fail to add any expressive power?</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3. What does the universal approximation theorem actually guarantee, and what does it not guarantee?</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4. Why does initializing every weight in a network to the same value break training?</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5. Why did ReLU replace sigmoid as the default hidden-layer activation in deep networks?</a:t>
            </a:r>
            <a:endParaRPr lang="en-US" sz="1250" dirty="0"/>
          </a:p>
        </p:txBody>
      </p:sp>
      <p:sp>
        <p:nvSpPr>
          <p:cNvPr id="6" name="Text 3"/>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2.1</a:t>
            </a:r>
            <a:endParaRPr lang="en-US" sz="900" dirty="0"/>
          </a:p>
        </p:txBody>
      </p:sp>
      <p:sp>
        <p:nvSpPr>
          <p:cNvPr id="7" name="Text 4"/>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2C4E"/>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Key Takeaways</a:t>
            </a:r>
            <a:endParaRPr lang="en-US" sz="2600" dirty="0"/>
          </a:p>
        </p:txBody>
      </p:sp>
      <p:sp>
        <p:nvSpPr>
          <p:cNvPr id="3" name="Text 1"/>
          <p:cNvSpPr/>
          <p:nvPr/>
        </p:nvSpPr>
        <p:spPr>
          <a:xfrm>
            <a:off x="640080" y="1143000"/>
            <a:ext cx="7863840" cy="3566160"/>
          </a:xfrm>
          <a:prstGeom prst="rect">
            <a:avLst/>
          </a:prstGeom>
          <a:noFill/>
          <a:ln/>
        </p:spPr>
        <p:txBody>
          <a:bodyPr wrap="square" rtlCol="0" anchor="t"/>
          <a:lstStyle/>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 perceptron computes one weighted sum plus a bias, then an activation; alone it can only draw a straight decision line.</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 hidden layer with a nonlinear activation is what lets a network fold that line into an arbitrarily complex boundary, solving problems like XOR that a single perceptron cannot.</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The universal approximation theorem is an existence proof, not a training or efficiency guarantee: it says a wide enough network can represent a function, not that gradient descent will find the right weights.</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Weights are initialized small and random, not identical, to break the symmetry that would otherwise make every hidden unit learn the same thing forever.</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ReLU is the default hidden-layer activation in modern deep networks because its gradient does not vanish for positive inputs the way sigmoid's and tanh's do.</a:t>
            </a:r>
            <a:endParaRPr lang="en-US" sz="1450" dirty="0"/>
          </a:p>
        </p:txBody>
      </p:sp>
      <p:sp>
        <p:nvSpPr>
          <p:cNvPr id="4"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2.1</a:t>
            </a:r>
            <a:endParaRPr lang="en-US" sz="900" dirty="0"/>
          </a:p>
        </p:txBody>
      </p:sp>
      <p:sp>
        <p:nvSpPr>
          <p:cNvPr id="5"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0B0B0B"/>
                </a:solidFill>
                <a:latin typeface="Cambria" pitchFamily="34" charset="0"/>
                <a:ea typeface="Cambria" pitchFamily="34" charset="-122"/>
                <a:cs typeface="Cambria" pitchFamily="34" charset="-120"/>
              </a:rPr>
              <a:t>Sources</a:t>
            </a:r>
            <a:endParaRPr lang="en-US" sz="2600" dirty="0"/>
          </a:p>
        </p:txBody>
      </p:sp>
      <p:sp>
        <p:nvSpPr>
          <p:cNvPr id="3" name="Text 1"/>
          <p:cNvSpPr/>
          <p:nvPr/>
        </p:nvSpPr>
        <p:spPr>
          <a:xfrm>
            <a:off x="640080" y="1097280"/>
            <a:ext cx="7863840" cy="3657600"/>
          </a:xfrm>
          <a:prstGeom prst="rect">
            <a:avLst/>
          </a:prstGeom>
          <a:noFill/>
          <a:ln/>
        </p:spPr>
        <p:txBody>
          <a:bodyPr wrap="square" rtlCol="0" anchor="t"/>
          <a:lstStyle/>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Rosenblatt, F. (1958). The Perceptron: A Probabilistic Model for Information Storage and Organization in the Brain. Psychological Review. — https://pubmed.ncbi.nlm.nih.gov/13602029/</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Minsky, M. and Papert, S. (1969). Perceptrons: An Introduction to Computational Geometry. MIT Press. — https://en.wikipedia.org/wiki/Perceptrons_(book)</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Cybenko, G. (1989). Approximation by Superpositions of a Sigmoidal Function. Mathematics of Control, Signals and Systems. — https://www.sciencedirect.com/science/article/abs/pii/0893608089900208</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Hornik, K., Stinchcombe, M., and White, H. (1989). Multilayer Feedforward Networks Are Universal Approximators. Neural Networks. — https://www.sciencedirect.com/science/article/abs/pii/0893608089900256</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Nair, V. and Hinton, G. (2010). Rectified Linear Units Improve Restricted Boltzmann Machines. ICML. — http://www.cs.toronto.edu/~fritz/absps/reluICML.pdf</a:t>
            </a:r>
            <a:endParaRPr lang="en-US" sz="1150" dirty="0"/>
          </a:p>
        </p:txBody>
      </p:sp>
      <p:sp>
        <p:nvSpPr>
          <p:cNvPr id="4"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2.1</a:t>
            </a:r>
            <a:endParaRPr lang="en-US" sz="900" dirty="0"/>
          </a:p>
        </p:txBody>
      </p:sp>
      <p:sp>
        <p:nvSpPr>
          <p:cNvPr id="5"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Networks 101: From Perceptron to MLP</dc:title>
  <dc:subject>PptxGenJS Presentation</dc:subject>
  <dc:creator>RegAITraining</dc:creator>
  <cp:lastModifiedBy>RegAITraining</cp:lastModifiedBy>
  <cp:revision>1</cp:revision>
  <dcterms:created xsi:type="dcterms:W3CDTF">2026-08-20T23:14:42Z</dcterms:created>
  <dcterms:modified xsi:type="dcterms:W3CDTF">2026-08-20T23:14:42Z</dcterms:modified>
</cp:coreProperties>
</file>