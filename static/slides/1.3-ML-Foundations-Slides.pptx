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A system has no labeled data but receives a numeric score after each action it takes in a live environment. Which paradigm is this, and what specifically makes it that rather than unsupervised learning?
A1: Reinforcement learning. The presence of a reward signal tied to the system's own actions is the deciding factor: unsupervised learning has no feedback signal of any kind, while RL has a reward, even though neither one has human-supplied labels.
Q2: What is the difference between the classification and regression subtypes of supervised learning?
A2: Classification predicts a category from a fixed set of options (fraud or not fraud); regression predicts a continuous number (a price or a forecast). Both are supervised because both are graded against a ground-truth label during training.
Q3: Why is next-token prediction in LLM pretraining called "self-supervised" rather than "unsupervised," given that no human labels the training text?
A3: Because there is still a label being predicted at every step (the actual next token), and the model is graded against it with an ordinary loss function: mechanically identical to supervised learning. The label is just generated automatically from the data itself instead of by a human annotator.
Q4: How does reward hacking differ from label leakage as a failure mode?
A4: Label leakage means a supervised model learned a shortcut from information that won't be available at inference time, so it performs well in training and poorly in production. Reward hacking means an RL agent optimized its reward function exactly as designed, but the reward itself was an imperfect proxy for what its designers actually wanted: the model isn't broken, the objective was.
Q5: In the churn-prevention reference architecture, why does unsupervised segmentation run before the supervised churn model rather than after it?
A5: Segmentation groups customers by behavioral similarity with no predefined labels, which gives the supervised model cohort-specific structure to score within, rather than treating the entire customer base as one undifferentiated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5"/>
        </a:solidFill>
      </p:bgPr>
    </p:bg>
    <p:spTree>
      <p:nvGrpSpPr>
        <p:cNvPr id="1" name=""/>
        <p:cNvGrpSpPr/>
        <p:nvPr/>
      </p:nvGrpSpPr>
      <p:grpSpPr>
        <a:xfrm>
          <a:off x="0" y="0"/>
          <a:ext cx="0" cy="0"/>
          <a:chOff x="0" y="0"/>
          <a:chExt cx="0" cy="0"/>
        </a:xfrm>
      </p:grpSpPr>
      <p:pic>
        <p:nvPicPr>
          <p:cNvPr id="2" name="Image 0" descr="/tmp/deck3/png/d0-title-motif.png">    </p:cNvPr>
          <p:cNvPicPr>
            <a:picLocks noChangeAspect="1"/>
          </p:cNvPicPr>
          <p:nvPr/>
        </p:nvPicPr>
        <p:blipFill>
          <a:blip r:embed="rId1">
            <a:alphaModFix amt="95000"/>
          </a:blip>
          <a:stretch>
            <a:fillRect/>
          </a:stretch>
        </p:blipFill>
        <p:spPr>
          <a:xfrm>
            <a:off x="6949440" y="548640"/>
            <a:ext cx="5760720" cy="5760720"/>
          </a:xfrm>
          <a:prstGeom prst="rect">
            <a:avLst/>
          </a:prstGeom>
        </p:spPr>
      </p:pic>
      <p:sp>
        <p:nvSpPr>
          <p:cNvPr id="3" name="Text 0"/>
          <p:cNvSpPr/>
          <p:nvPr/>
        </p:nvSpPr>
        <p:spPr>
          <a:xfrm>
            <a:off x="640080" y="640080"/>
            <a:ext cx="8229600" cy="32004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REGAITRAINING  ·  PHASE 1 — AI &amp; MACHINE LEARNING FOUNDATIONS</a:t>
            </a:r>
            <a:endParaRPr lang="en-US" sz="1200" dirty="0"/>
          </a:p>
        </p:txBody>
      </p:sp>
      <p:sp>
        <p:nvSpPr>
          <p:cNvPr id="4" name="Shape 1"/>
          <p:cNvSpPr/>
          <p:nvPr/>
        </p:nvSpPr>
        <p:spPr>
          <a:xfrm>
            <a:off x="640080" y="1234440"/>
            <a:ext cx="1417320" cy="384048"/>
          </a:xfrm>
          <a:prstGeom prst="roundRect">
            <a:avLst>
              <a:gd name="adj" fmla="val 19048"/>
            </a:avLst>
          </a:prstGeom>
          <a:solidFill>
            <a:srgbClr val="104281"/>
          </a:solidFill>
          <a:ln/>
        </p:spPr>
      </p:sp>
      <p:sp>
        <p:nvSpPr>
          <p:cNvPr id="5" name="Text 2"/>
          <p:cNvSpPr/>
          <p:nvPr/>
        </p:nvSpPr>
        <p:spPr>
          <a:xfrm>
            <a:off x="640080" y="1234440"/>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CHAPTER 1.3</a:t>
            </a:r>
            <a:endParaRPr lang="en-US" sz="1200" dirty="0"/>
          </a:p>
        </p:txBody>
      </p:sp>
      <p:sp>
        <p:nvSpPr>
          <p:cNvPr id="6" name="Text 3"/>
          <p:cNvSpPr/>
          <p:nvPr/>
        </p:nvSpPr>
        <p:spPr>
          <a:xfrm>
            <a:off x="594360" y="1920240"/>
            <a:ext cx="841248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Machine Learning Foundations</a:t>
            </a:r>
            <a:endParaRPr lang="en-US" sz="4400" dirty="0"/>
          </a:p>
        </p:txBody>
      </p:sp>
      <p:sp>
        <p:nvSpPr>
          <p:cNvPr id="7" name="Text 4"/>
          <p:cNvSpPr/>
          <p:nvPr/>
        </p:nvSpPr>
        <p:spPr>
          <a:xfrm>
            <a:off x="640080" y="2880360"/>
            <a:ext cx="8138160" cy="822960"/>
          </a:xfrm>
          <a:prstGeom prst="rect">
            <a:avLst/>
          </a:prstGeom>
          <a:noFill/>
          <a:ln/>
        </p:spPr>
        <p:txBody>
          <a:bodyPr wrap="square" lIns="0" tIns="0" rIns="0" bIns="0" rtlCol="0" anchor="ctr"/>
          <a:lstStyle/>
          <a:p>
            <a:pPr indent="0" marL="0">
              <a:lnSpc>
                <a:spcPts val="2400"/>
              </a:lnSpc>
              <a:buNone/>
            </a:pPr>
            <a:r>
              <a:rPr lang="en-US" sz="2000" dirty="0">
                <a:solidFill>
                  <a:srgbClr val="CDE2FB"/>
                </a:solidFill>
                <a:latin typeface="Calibri" pitchFamily="34" charset="0"/>
                <a:ea typeface="Calibri" pitchFamily="34" charset="-122"/>
                <a:cs typeface="Calibri" pitchFamily="34" charset="-120"/>
              </a:rPr>
              <a:t>Supervised, Unsupervised, and Reinforcement Learning</a:t>
            </a:r>
            <a:endParaRPr lang="en-US" sz="2000" dirty="0"/>
          </a:p>
        </p:txBody>
      </p:sp>
      <p:sp>
        <p:nvSpPr>
          <p:cNvPr id="8" name="Text 5"/>
          <p:cNvSpPr/>
          <p:nvPr/>
        </p:nvSpPr>
        <p:spPr>
          <a:xfrm>
            <a:off x="640080" y="3931920"/>
            <a:ext cx="6766560" cy="822960"/>
          </a:xfrm>
          <a:prstGeom prst="rect">
            <a:avLst/>
          </a:prstGeom>
          <a:noFill/>
          <a:ln/>
        </p:spPr>
        <p:txBody>
          <a:bodyPr wrap="square" lIns="0" tIns="0" rIns="0" bIns="0" rtlCol="0" anchor="ctr"/>
          <a:lstStyle/>
          <a:p>
            <a:pPr indent="0" marL="0">
              <a:lnSpc>
                <a:spcPts val="2000"/>
              </a:lnSpc>
              <a:buNone/>
            </a:pPr>
            <a:r>
              <a:rPr lang="en-US" sz="1400" dirty="0">
                <a:solidFill>
                  <a:srgbClr val="C3C2B7"/>
                </a:solidFill>
                <a:latin typeface="Calibri" pitchFamily="34" charset="0"/>
                <a:ea typeface="Calibri" pitchFamily="34" charset="-122"/>
                <a:cs typeface="Calibri" pitchFamily="34" charset="-120"/>
              </a:rPr>
              <a:t>A teaching-slide walkthrough of the chapter: three paradigms distinguished by their feedback signal, and where the boundary between them blurs.</a:t>
            </a:r>
            <a:endParaRPr lang="en-US" sz="1400" dirty="0"/>
          </a:p>
        </p:txBody>
      </p:sp>
      <p:sp>
        <p:nvSpPr>
          <p:cNvPr id="9" name="Text 6"/>
          <p:cNvSpPr/>
          <p:nvPr/>
        </p:nvSpPr>
        <p:spPr>
          <a:xfrm>
            <a:off x="640080" y="6263640"/>
            <a:ext cx="8229600" cy="32004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Instructor deck  ·  15 slides  ·  based on docs/01-ai-ml-foundations/1-3-ml-foundations.mdx</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457200" y="1508760"/>
            <a:ext cx="502920" cy="502920"/>
          </a:xfrm>
          <a:prstGeom prst="ellipse">
            <a:avLst/>
          </a:prstGeom>
          <a:solidFill>
            <a:srgbClr val="104281"/>
          </a:solidFill>
          <a:ln/>
        </p:spPr>
      </p:sp>
      <p:sp>
        <p:nvSpPr>
          <p:cNvPr id="5" name="Text 3"/>
          <p:cNvSpPr/>
          <p:nvPr/>
        </p:nvSpPr>
        <p:spPr>
          <a:xfrm>
            <a:off x="45720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1556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Three paradigms, one open question</a:t>
            </a:r>
            <a:endParaRPr lang="en-US" sz="1550" dirty="0"/>
          </a:p>
        </p:txBody>
      </p:sp>
      <p:sp>
        <p:nvSpPr>
          <p:cNvPr id="7" name="Text 5"/>
          <p:cNvSpPr/>
          <p:nvPr/>
        </p:nvSpPr>
        <p:spPr>
          <a:xfrm>
            <a:off x="111556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What is the model graded against?</a:t>
            </a:r>
            <a:endParaRPr lang="en-US" sz="1250" dirty="0"/>
          </a:p>
        </p:txBody>
      </p:sp>
      <p:sp>
        <p:nvSpPr>
          <p:cNvPr id="8" name="Shape 6"/>
          <p:cNvSpPr/>
          <p:nvPr/>
        </p:nvSpPr>
        <p:spPr>
          <a:xfrm>
            <a:off x="457200" y="2679192"/>
            <a:ext cx="502920" cy="502920"/>
          </a:xfrm>
          <a:prstGeom prst="ellipse">
            <a:avLst/>
          </a:prstGeom>
          <a:solidFill>
            <a:srgbClr val="104281"/>
          </a:solidFill>
          <a:ln/>
        </p:spPr>
      </p:sp>
      <p:sp>
        <p:nvSpPr>
          <p:cNvPr id="9" name="Text 7"/>
          <p:cNvSpPr/>
          <p:nvPr/>
        </p:nvSpPr>
        <p:spPr>
          <a:xfrm>
            <a:off x="45720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11556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Formal definitions</a:t>
            </a:r>
            <a:endParaRPr lang="en-US" sz="1550" dirty="0"/>
          </a:p>
        </p:txBody>
      </p:sp>
      <p:sp>
        <p:nvSpPr>
          <p:cNvPr id="11" name="Text 9"/>
          <p:cNvSpPr/>
          <p:nvPr/>
        </p:nvSpPr>
        <p:spPr>
          <a:xfrm>
            <a:off x="111556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Supervised, unsupervised, and RL, precisely</a:t>
            </a:r>
            <a:endParaRPr lang="en-US" sz="1250" dirty="0"/>
          </a:p>
        </p:txBody>
      </p:sp>
      <p:sp>
        <p:nvSpPr>
          <p:cNvPr id="12" name="Shape 10"/>
          <p:cNvSpPr/>
          <p:nvPr/>
        </p:nvSpPr>
        <p:spPr>
          <a:xfrm>
            <a:off x="457200" y="3849624"/>
            <a:ext cx="502920" cy="502920"/>
          </a:xfrm>
          <a:prstGeom prst="ellipse">
            <a:avLst/>
          </a:prstGeom>
          <a:solidFill>
            <a:srgbClr val="104281"/>
          </a:solidFill>
          <a:ln/>
        </p:spPr>
      </p:sp>
      <p:sp>
        <p:nvSpPr>
          <p:cNvPr id="13" name="Text 11"/>
          <p:cNvSpPr/>
          <p:nvPr/>
        </p:nvSpPr>
        <p:spPr>
          <a:xfrm>
            <a:off x="45720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11556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Where the boundary blurs</a:t>
            </a:r>
            <a:endParaRPr lang="en-US" sz="1550" dirty="0"/>
          </a:p>
        </p:txBody>
      </p:sp>
      <p:sp>
        <p:nvSpPr>
          <p:cNvPr id="15" name="Text 13"/>
          <p:cNvSpPr/>
          <p:nvPr/>
        </p:nvSpPr>
        <p:spPr>
          <a:xfrm>
            <a:off x="111556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Self-supervised learning and reward hacking</a:t>
            </a:r>
            <a:endParaRPr lang="en-US" sz="1250" dirty="0"/>
          </a:p>
        </p:txBody>
      </p:sp>
      <p:sp>
        <p:nvSpPr>
          <p:cNvPr id="16" name="Shape 14"/>
          <p:cNvSpPr/>
          <p:nvPr/>
        </p:nvSpPr>
        <p:spPr>
          <a:xfrm>
            <a:off x="457200" y="5020056"/>
            <a:ext cx="502920" cy="502920"/>
          </a:xfrm>
          <a:prstGeom prst="ellipse">
            <a:avLst/>
          </a:prstGeom>
          <a:solidFill>
            <a:srgbClr val="104281"/>
          </a:solidFill>
          <a:ln/>
        </p:spPr>
      </p:sp>
      <p:sp>
        <p:nvSpPr>
          <p:cNvPr id="17" name="Text 15"/>
          <p:cNvSpPr/>
          <p:nvPr/>
        </p:nvSpPr>
        <p:spPr>
          <a:xfrm>
            <a:off x="457200" y="50200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1115568" y="4965192"/>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A reference architecture</a:t>
            </a:r>
            <a:endParaRPr lang="en-US" sz="1550" dirty="0"/>
          </a:p>
        </p:txBody>
      </p:sp>
      <p:sp>
        <p:nvSpPr>
          <p:cNvPr id="19" name="Text 17"/>
          <p:cNvSpPr/>
          <p:nvPr/>
        </p:nvSpPr>
        <p:spPr>
          <a:xfrm>
            <a:off x="1115568" y="5312664"/>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All three paradigms in one churn pipeline</a:t>
            </a:r>
            <a:endParaRPr lang="en-US" sz="1250" dirty="0"/>
          </a:p>
        </p:txBody>
      </p:sp>
      <p:sp>
        <p:nvSpPr>
          <p:cNvPr id="20" name="Shape 18"/>
          <p:cNvSpPr/>
          <p:nvPr/>
        </p:nvSpPr>
        <p:spPr>
          <a:xfrm>
            <a:off x="6355080" y="1508760"/>
            <a:ext cx="502920" cy="502920"/>
          </a:xfrm>
          <a:prstGeom prst="ellipse">
            <a:avLst/>
          </a:prstGeom>
          <a:solidFill>
            <a:srgbClr val="104281"/>
          </a:solidFill>
          <a:ln/>
        </p:spPr>
      </p:sp>
      <p:sp>
        <p:nvSpPr>
          <p:cNvPr id="21" name="Text 19"/>
          <p:cNvSpPr/>
          <p:nvPr/>
        </p:nvSpPr>
        <p:spPr>
          <a:xfrm>
            <a:off x="635508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20"/>
          <p:cNvSpPr/>
          <p:nvPr/>
        </p:nvSpPr>
        <p:spPr>
          <a:xfrm>
            <a:off x="701344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Comparison table</a:t>
            </a:r>
            <a:endParaRPr lang="en-US" sz="1550" dirty="0"/>
          </a:p>
        </p:txBody>
      </p:sp>
      <p:sp>
        <p:nvSpPr>
          <p:cNvPr id="23" name="Text 21"/>
          <p:cNvSpPr/>
          <p:nvPr/>
        </p:nvSpPr>
        <p:spPr>
          <a:xfrm>
            <a:off x="701344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The decisive difference, side by side</a:t>
            </a:r>
            <a:endParaRPr lang="en-US" sz="1250" dirty="0"/>
          </a:p>
        </p:txBody>
      </p:sp>
      <p:sp>
        <p:nvSpPr>
          <p:cNvPr id="24" name="Shape 22"/>
          <p:cNvSpPr/>
          <p:nvPr/>
        </p:nvSpPr>
        <p:spPr>
          <a:xfrm>
            <a:off x="6355080" y="2679192"/>
            <a:ext cx="502920" cy="502920"/>
          </a:xfrm>
          <a:prstGeom prst="ellipse">
            <a:avLst/>
          </a:prstGeom>
          <a:solidFill>
            <a:srgbClr val="104281"/>
          </a:solidFill>
          <a:ln/>
        </p:spPr>
      </p:sp>
      <p:sp>
        <p:nvSpPr>
          <p:cNvPr id="25" name="Text 23"/>
          <p:cNvSpPr/>
          <p:nvPr/>
        </p:nvSpPr>
        <p:spPr>
          <a:xfrm>
            <a:off x="635508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6" name="Text 24"/>
          <p:cNvSpPr/>
          <p:nvPr/>
        </p:nvSpPr>
        <p:spPr>
          <a:xfrm>
            <a:off x="701344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Industry use cases</a:t>
            </a:r>
            <a:endParaRPr lang="en-US" sz="1550" dirty="0"/>
          </a:p>
        </p:txBody>
      </p:sp>
      <p:sp>
        <p:nvSpPr>
          <p:cNvPr id="27" name="Text 25"/>
          <p:cNvSpPr/>
          <p:nvPr/>
        </p:nvSpPr>
        <p:spPr>
          <a:xfrm>
            <a:off x="701344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Finance, Healthcare, and Telecom — 4 each</a:t>
            </a:r>
            <a:endParaRPr lang="en-US" sz="1250" dirty="0"/>
          </a:p>
        </p:txBody>
      </p:sp>
      <p:sp>
        <p:nvSpPr>
          <p:cNvPr id="28" name="Shape 26"/>
          <p:cNvSpPr/>
          <p:nvPr/>
        </p:nvSpPr>
        <p:spPr>
          <a:xfrm>
            <a:off x="6355080" y="3849624"/>
            <a:ext cx="502920" cy="502920"/>
          </a:xfrm>
          <a:prstGeom prst="ellipse">
            <a:avLst/>
          </a:prstGeom>
          <a:solidFill>
            <a:srgbClr val="104281"/>
          </a:solidFill>
          <a:ln/>
        </p:spPr>
      </p:sp>
      <p:sp>
        <p:nvSpPr>
          <p:cNvPr id="29" name="Text 27"/>
          <p:cNvSpPr/>
          <p:nvPr/>
        </p:nvSpPr>
        <p:spPr>
          <a:xfrm>
            <a:off x="635508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0" name="Text 28"/>
          <p:cNvSpPr/>
          <p:nvPr/>
        </p:nvSpPr>
        <p:spPr>
          <a:xfrm>
            <a:off x="701344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Check your understanding</a:t>
            </a:r>
            <a:endParaRPr lang="en-US" sz="1550" dirty="0"/>
          </a:p>
        </p:txBody>
      </p:sp>
      <p:sp>
        <p:nvSpPr>
          <p:cNvPr id="31" name="Text 29"/>
          <p:cNvSpPr/>
          <p:nvPr/>
        </p:nvSpPr>
        <p:spPr>
          <a:xfrm>
            <a:off x="701344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Five questions to discuss as a class</a:t>
            </a:r>
            <a:endParaRPr lang="en-US" sz="1250" dirty="0"/>
          </a:p>
        </p:txBody>
      </p:sp>
      <p:sp>
        <p:nvSpPr>
          <p:cNvPr id="32" name="Text 30"/>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1.3 · Phase 1 — AI &amp; Machine Learning Foundations</a:t>
            </a:r>
            <a:endParaRPr lang="en-US" sz="1000" dirty="0"/>
          </a:p>
        </p:txBody>
      </p:sp>
      <p:sp>
        <p:nvSpPr>
          <p:cNvPr id="33" name="Text 31"/>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TL;DR</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Three Paradigms, One Open Question</a:t>
            </a:r>
            <a:endParaRPr lang="en-US" sz="3000" dirty="0"/>
          </a:p>
        </p:txBody>
      </p:sp>
      <p:sp>
        <p:nvSpPr>
          <p:cNvPr id="4" name="Shape 2"/>
          <p:cNvSpPr/>
          <p:nvPr/>
        </p:nvSpPr>
        <p:spPr>
          <a:xfrm>
            <a:off x="457200" y="1417320"/>
            <a:ext cx="11274552" cy="2103120"/>
          </a:xfrm>
          <a:prstGeom prst="roundRect">
            <a:avLst>
              <a:gd name="adj" fmla="val 5217"/>
            </a:avLst>
          </a:prstGeom>
          <a:solidFill>
            <a:srgbClr val="F9F9F7"/>
          </a:solidFill>
          <a:ln/>
        </p:spPr>
      </p:sp>
      <p:sp>
        <p:nvSpPr>
          <p:cNvPr id="5" name="Text 3"/>
          <p:cNvSpPr/>
          <p:nvPr/>
        </p:nvSpPr>
        <p:spPr>
          <a:xfrm>
            <a:off x="822960" y="1645920"/>
            <a:ext cx="10515600" cy="1005840"/>
          </a:xfrm>
          <a:prstGeom prst="rect">
            <a:avLst/>
          </a:prstGeom>
          <a:noFill/>
          <a:ln/>
        </p:spPr>
        <p:txBody>
          <a:bodyPr wrap="square" lIns="0" tIns="0" rIns="0" bIns="0" rtlCol="0" anchor="ctr"/>
          <a:lstStyle/>
          <a:p>
            <a:pPr indent="0" marL="0">
              <a:lnSpc>
                <a:spcPts val="2800"/>
              </a:lnSpc>
              <a:buNone/>
            </a:pPr>
            <a:r>
              <a:rPr lang="en-US" sz="2200" i="1" dirty="0">
                <a:solidFill>
                  <a:srgbClr val="104281"/>
                </a:solidFill>
                <a:latin typeface="Cambria" pitchFamily="34" charset="0"/>
                <a:ea typeface="Cambria" pitchFamily="34" charset="-122"/>
                <a:cs typeface="Cambria" pitchFamily="34" charset="-120"/>
              </a:rPr>
              <a:t>Chapter 1.2 named machine learning as one layer: logic learned from data via a loss function and an optimizer. This chapter opens that layer up.</a:t>
            </a:r>
            <a:endParaRPr lang="en-US" sz="2200" dirty="0"/>
          </a:p>
        </p:txBody>
      </p:sp>
      <p:sp>
        <p:nvSpPr>
          <p:cNvPr id="6" name="Text 4"/>
          <p:cNvSpPr/>
          <p:nvPr/>
        </p:nvSpPr>
        <p:spPr>
          <a:xfrm>
            <a:off x="822960" y="2743200"/>
            <a:ext cx="10515600" cy="640080"/>
          </a:xfrm>
          <a:prstGeom prst="rect">
            <a:avLst/>
          </a:prstGeom>
          <a:noFill/>
          <a:ln/>
        </p:spPr>
        <p:txBody>
          <a:bodyPr wrap="square" lIns="0" tIns="0" rIns="0" bIns="0" rtlCol="0" anchor="ctr"/>
          <a:lstStyle/>
          <a:p>
            <a:pPr indent="0" marL="0">
              <a:lnSpc>
                <a:spcPts val="2100"/>
              </a:lnSpc>
              <a:buNone/>
            </a:pPr>
            <a:r>
              <a:rPr lang="en-US" sz="1500" dirty="0">
                <a:solidFill>
                  <a:srgbClr val="52514E"/>
                </a:solidFill>
                <a:latin typeface="Calibri" pitchFamily="34" charset="0"/>
                <a:ea typeface="Calibri" pitchFamily="34" charset="-122"/>
                <a:cs typeface="Calibri" pitchFamily="34" charset="-120"/>
              </a:rPr>
              <a:t>What a model learns from, and how it's told whether it's doing well, splits into three paradigms: supervised (labeled examples), unsupervised (no labels at all), and reinforcement learning (a reward earned by acting).</a:t>
            </a:r>
            <a:endParaRPr lang="en-US" sz="1500" dirty="0"/>
          </a:p>
        </p:txBody>
      </p:sp>
      <p:sp>
        <p:nvSpPr>
          <p:cNvPr id="7" name="Text 5"/>
          <p:cNvSpPr/>
          <p:nvPr/>
        </p:nvSpPr>
        <p:spPr>
          <a:xfrm>
            <a:off x="457200" y="3840480"/>
            <a:ext cx="5486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THE PRACTICAL TAKEAWAY</a:t>
            </a:r>
            <a:endParaRPr lang="en-US" sz="1200" dirty="0"/>
          </a:p>
        </p:txBody>
      </p:sp>
      <p:sp>
        <p:nvSpPr>
          <p:cNvPr id="8" name="Text 6"/>
          <p:cNvSpPr/>
          <p:nvPr/>
        </p:nvSpPr>
        <p:spPr>
          <a:xfrm>
            <a:off x="457200" y="4160520"/>
            <a:ext cx="10972800" cy="1188720"/>
          </a:xfrm>
          <a:prstGeom prst="rect">
            <a:avLst/>
          </a:prstGeom>
          <a:noFill/>
          <a:ln/>
        </p:spPr>
        <p:txBody>
          <a:bodyPr wrap="square" lIns="0" tIns="0" rIns="0" bIns="0" rtlCol="0" anchor="ctr"/>
          <a:lstStyle/>
          <a:p>
            <a:pPr indent="0" marL="0">
              <a:lnSpc>
                <a:spcPts val="2100"/>
              </a:lnSpc>
              <a:buNone/>
            </a:pPr>
            <a:r>
              <a:rPr lang="en-US" sz="1500" dirty="0">
                <a:solidFill>
                  <a:srgbClr val="0B0B0B"/>
                </a:solidFill>
                <a:latin typeface="Calibri" pitchFamily="34" charset="0"/>
                <a:ea typeface="Calibri" pitchFamily="34" charset="-122"/>
                <a:cs typeface="Calibri" pitchFamily="34" charset="-120"/>
              </a:rPr>
              <a:t>Most production ML systems combine more than one of these paradigms, often in the same pipeline, rather than picking a single one.</a:t>
            </a:r>
            <a:endParaRPr lang="en-US" sz="1500" dirty="0"/>
          </a:p>
        </p:txBody>
      </p:sp>
      <p:sp>
        <p:nvSpPr>
          <p:cNvPr id="9" name="Text 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1.3 · Phase 1 — AI &amp; Machine Learning Foundations</a:t>
            </a:r>
            <a:endParaRPr lang="en-US" sz="1000" dirty="0"/>
          </a:p>
        </p:txBody>
      </p:sp>
      <p:sp>
        <p:nvSpPr>
          <p:cNvPr id="10" name="Text 8"/>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HIGH-LEVEL</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Three Paradigms, Three Data Flows</a:t>
            </a:r>
            <a:endParaRPr lang="en-US" sz="3000" dirty="0"/>
          </a:p>
        </p:txBody>
      </p:sp>
      <p:pic>
        <p:nvPicPr>
          <p:cNvPr id="4" name="Image 0" descr="/tmp/deck3/png/d1-three-paradigms.png">    </p:cNvPr>
          <p:cNvPicPr>
            <a:picLocks noChangeAspect="1"/>
          </p:cNvPicPr>
          <p:nvPr/>
        </p:nvPicPr>
        <p:blipFill>
          <a:blip r:embed="rId1"/>
          <a:stretch>
            <a:fillRect/>
          </a:stretch>
        </p:blipFill>
        <p:spPr>
          <a:xfrm>
            <a:off x="928116" y="1280160"/>
            <a:ext cx="10332720" cy="4133088"/>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1.3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Three Paradigms, Formally</a:t>
            </a:r>
            <a:endParaRPr lang="en-US" sz="3000" dirty="0"/>
          </a:p>
        </p:txBody>
      </p:sp>
      <p:pic>
        <p:nvPicPr>
          <p:cNvPr id="4" name="Image 0" descr="/tmp/deck3/png/d2-formal-definitions.png">    </p:cNvPr>
          <p:cNvPicPr>
            <a:picLocks noChangeAspect="1"/>
          </p:cNvPicPr>
          <p:nvPr/>
        </p:nvPicPr>
        <p:blipFill>
          <a:blip r:embed="rId1"/>
          <a:stretch>
            <a:fillRect/>
          </a:stretch>
        </p:blipFill>
        <p:spPr>
          <a:xfrm>
            <a:off x="1202436" y="1280160"/>
            <a:ext cx="9784080" cy="4215384"/>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1.3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WHERE THE BOUNDARY BLURS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Self-Supervised Learning</a:t>
            </a:r>
            <a:endParaRPr lang="en-US" sz="3000" dirty="0"/>
          </a:p>
        </p:txBody>
      </p:sp>
      <p:pic>
        <p:nvPicPr>
          <p:cNvPr id="4" name="Image 0" descr="/tmp/deck3/png/d3-self-supervised.png">    </p:cNvPr>
          <p:cNvPicPr>
            <a:picLocks noChangeAspect="1"/>
          </p:cNvPicPr>
          <p:nvPr/>
        </p:nvPicPr>
        <p:blipFill>
          <a:blip r:embed="rId1"/>
          <a:stretch>
            <a:fillRect/>
          </a:stretch>
        </p:blipFill>
        <p:spPr>
          <a:xfrm>
            <a:off x="1248156" y="1280160"/>
            <a:ext cx="9692640" cy="4206240"/>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1.3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WHERE THE BOUNDARY BLURS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Reward Hacking Is Not Label Leakage</a:t>
            </a:r>
            <a:endParaRPr lang="en-US" sz="3000" dirty="0"/>
          </a:p>
        </p:txBody>
      </p:sp>
      <p:pic>
        <p:nvPicPr>
          <p:cNvPr id="4" name="Image 0" descr="/tmp/deck3/png/d4-reward-hacking.png">    </p:cNvPr>
          <p:cNvPicPr>
            <a:picLocks noChangeAspect="1"/>
          </p:cNvPicPr>
          <p:nvPr/>
        </p:nvPicPr>
        <p:blipFill>
          <a:blip r:embed="rId1"/>
          <a:stretch>
            <a:fillRect/>
          </a:stretch>
        </p:blipFill>
        <p:spPr>
          <a:xfrm>
            <a:off x="1248156" y="1280160"/>
            <a:ext cx="9692640" cy="4206240"/>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1.3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REFERENCE ARCHITECTURE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A Churn-Prevention Pipeline, All Three Paradigms</a:t>
            </a:r>
            <a:endParaRPr lang="en-US" sz="3000" dirty="0"/>
          </a:p>
        </p:txBody>
      </p:sp>
      <p:pic>
        <p:nvPicPr>
          <p:cNvPr id="4" name="Image 0" descr="/tmp/deck3/png/d5-reference-architecture.png">    </p:cNvPr>
          <p:cNvPicPr>
            <a:picLocks noChangeAspect="1"/>
          </p:cNvPicPr>
          <p:nvPr/>
        </p:nvPicPr>
        <p:blipFill>
          <a:blip r:embed="rId1"/>
          <a:stretch>
            <a:fillRect/>
          </a:stretch>
        </p:blipFill>
        <p:spPr>
          <a:xfrm>
            <a:off x="608076" y="1280160"/>
            <a:ext cx="10972800" cy="3712464"/>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1.3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COMPARISON &amp; RELATED CONCEPTS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Three Paradigms Side by Side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4552" cy="3291840"/>
        </p:xfrm>
        <a:graphic>
          <a:graphicData uri="http://schemas.openxmlformats.org/drawingml/2006/table">
            <a:tbl>
              <a:tblPr/>
              <a:tblGrid>
                <a:gridCol w="2770632"/>
                <a:gridCol w="2834640"/>
                <a:gridCol w="2834640"/>
                <a:gridCol w="2834640"/>
              </a:tblGrid>
              <a:tr h="54864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Supervised</a:t>
                      </a:r>
                      <a:endParaRPr lang="en-US" sz="12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Unsupervised</a:t>
                      </a:r>
                      <a:endParaRPr lang="en-US" sz="12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Reinforcement Learning</a:t>
                      </a:r>
                      <a:endParaRPr lang="en-US" sz="120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r>
              <a:tr h="548640">
                <a:tc>
                  <a:txBody>
                    <a:bodyPr/>
                    <a:lstStyle/>
                    <a:p>
                      <a:pPr algn="l" indent="0" marL="0">
                        <a:buNone/>
                      </a:pPr>
                      <a:r>
                        <a:rPr lang="en-US" sz="1150" b="1" dirty="0">
                          <a:solidFill>
                            <a:srgbClr val="0B0B0B"/>
                          </a:solidFill>
                          <a:latin typeface="Calibri" pitchFamily="34" charset="0"/>
                          <a:ea typeface="Calibri" pitchFamily="34" charset="-122"/>
                          <a:cs typeface="Calibri" pitchFamily="34" charset="-120"/>
                        </a:rPr>
                        <a:t>Feedback signal</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 human-supplied label for every example</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None (no ground truth at all)</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 reward earned by acting, often delayed</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r h="548640">
                <a:tc>
                  <a:txBody>
                    <a:bodyPr/>
                    <a:lstStyle/>
                    <a:p>
                      <a:pPr algn="l" indent="0" marL="0">
                        <a:buNone/>
                      </a:pPr>
                      <a:r>
                        <a:rPr lang="en-US" sz="1150" b="1" dirty="0">
                          <a:solidFill>
                            <a:srgbClr val="0B0B0B"/>
                          </a:solidFill>
                          <a:latin typeface="Calibri" pitchFamily="34" charset="0"/>
                          <a:ea typeface="Calibri" pitchFamily="34" charset="-122"/>
                          <a:cs typeface="Calibri" pitchFamily="34" charset="-120"/>
                        </a:rPr>
                        <a:t>What it learns</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 mapping from input to output</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Structure already present in the data</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 policy for choosing actions over time</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0B0B0B"/>
                          </a:solidFill>
                          <a:latin typeface="Calibri" pitchFamily="34" charset="0"/>
                          <a:ea typeface="Calibri" pitchFamily="34" charset="-122"/>
                          <a:cs typeface="Calibri" pitchFamily="34" charset="-120"/>
                        </a:rPr>
                        <a:t>Own behavior changes training data?</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No (dataset is fixed)</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No (dataset is fixed)</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 (actions determine what happens next)</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r h="548640">
                <a:tc>
                  <a:txBody>
                    <a:bodyPr/>
                    <a:lstStyle/>
                    <a:p>
                      <a:pPr algn="l" indent="0" marL="0">
                        <a:buNone/>
                      </a:pPr>
                      <a:r>
                        <a:rPr lang="en-US" sz="1150" b="1" dirty="0">
                          <a:solidFill>
                            <a:srgbClr val="0B0B0B"/>
                          </a:solidFill>
                          <a:latin typeface="Calibri" pitchFamily="34" charset="0"/>
                          <a:ea typeface="Calibri" pitchFamily="34" charset="-122"/>
                          <a:cs typeface="Calibri" pitchFamily="34" charset="-120"/>
                        </a:rPr>
                        <a:t>Typical output</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 label or a number</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Clusters, components, or anomaly score</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 policy: a rule for which action to take</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0B0B0B"/>
                          </a:solidFill>
                          <a:latin typeface="Calibri" pitchFamily="34" charset="0"/>
                          <a:ea typeface="Calibri" pitchFamily="34" charset="-122"/>
                          <a:cs typeface="Calibri" pitchFamily="34" charset="-120"/>
                        </a:rPr>
                        <a:t>Classic example</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Credit default classifier</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Customer segmentation via clustering</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AlphaGo Zero, robotic control</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bl>
          </a:graphicData>
        </a:graphic>
      </p:graphicFrame>
      <p:sp>
        <p:nvSpPr>
          <p:cNvPr id="5" name="Text 2"/>
          <p:cNvSpPr/>
          <p:nvPr/>
        </p:nvSpPr>
        <p:spPr>
          <a:xfrm>
            <a:off x="457200" y="5074920"/>
            <a:ext cx="11274552" cy="640080"/>
          </a:xfrm>
          <a:prstGeom prst="rect">
            <a:avLst/>
          </a:prstGeom>
          <a:noFill/>
          <a:ln/>
        </p:spPr>
        <p:txBody>
          <a:bodyPr wrap="square" lIns="0" tIns="0" rIns="0" bIns="0" rtlCol="0" anchor="ctr"/>
          <a:lstStyle/>
          <a:p>
            <a:pPr indent="0" marL="0">
              <a:lnSpc>
                <a:spcPts val="1800"/>
              </a:lnSpc>
              <a:buNone/>
            </a:pPr>
            <a:r>
              <a:rPr lang="en-US" sz="1300" i="1" dirty="0">
                <a:solidFill>
                  <a:srgbClr val="898781"/>
                </a:solidFill>
                <a:latin typeface="Calibri" pitchFamily="34" charset="0"/>
                <a:ea typeface="Calibri" pitchFamily="34" charset="-122"/>
                <a:cs typeface="Calibri" pitchFamily="34" charset="-120"/>
              </a:rPr>
              <a:t>The decisive difference is where the feedback comes from. Self-supervised learning (chapter 1.2's generative AI layer) is mechanically supervised: the labels are just generated from the data itself rather than by a human.</a:t>
            </a:r>
            <a:endParaRPr lang="en-US" sz="1300" dirty="0"/>
          </a:p>
        </p:txBody>
      </p:sp>
      <p:sp>
        <p:nvSpPr>
          <p:cNvPr id="6" name="Text 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1.3 · Phase 1 — AI &amp; Machine Learning Foundations</a:t>
            </a:r>
            <a:endParaRPr lang="en-US" sz="1000" dirty="0"/>
          </a:p>
        </p:txBody>
      </p:sp>
      <p:sp>
        <p:nvSpPr>
          <p:cNvPr id="7" name="Text 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1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Finance</a:t>
            </a:r>
            <a:endParaRPr lang="en-US" sz="3000" dirty="0"/>
          </a:p>
        </p:txBody>
      </p:sp>
      <p:pic>
        <p:nvPicPr>
          <p:cNvPr id="4" name="Image 0" descr="/tmp/deck3/png/d6-usecases-financ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1.3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2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Healthcare</a:t>
            </a:r>
            <a:endParaRPr lang="en-US" sz="3000" dirty="0"/>
          </a:p>
        </p:txBody>
      </p:sp>
      <p:pic>
        <p:nvPicPr>
          <p:cNvPr id="4" name="Image 0" descr="/tmp/deck3/png/d7-usecases-healthcar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1.3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3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Telecom</a:t>
            </a:r>
            <a:endParaRPr lang="en-US" sz="3000" dirty="0"/>
          </a:p>
        </p:txBody>
      </p:sp>
      <p:pic>
        <p:nvPicPr>
          <p:cNvPr id="4" name="Image 0" descr="/tmp/deck3/png/d8-usecases-telecom.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1.3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DISCUSS AS A CLASS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Check Your Understanding</a:t>
            </a:r>
            <a:endParaRPr lang="en-US" sz="3000" dirty="0"/>
          </a:p>
        </p:txBody>
      </p:sp>
      <p:sp>
        <p:nvSpPr>
          <p:cNvPr id="4" name="Shape 2"/>
          <p:cNvSpPr/>
          <p:nvPr/>
        </p:nvSpPr>
        <p:spPr>
          <a:xfrm>
            <a:off x="457200" y="1508760"/>
            <a:ext cx="5486400" cy="1325880"/>
          </a:xfrm>
          <a:prstGeom prst="roundRect">
            <a:avLst>
              <a:gd name="adj" fmla="val 6897"/>
            </a:avLst>
          </a:prstGeom>
          <a:solidFill>
            <a:srgbClr val="F9F9F7"/>
          </a:solidFill>
          <a:ln w="12700">
            <a:solidFill>
              <a:srgbClr val="E1E0D9"/>
            </a:solidFill>
            <a:prstDash val="solid"/>
          </a:ln>
        </p:spPr>
      </p:sp>
      <p:sp>
        <p:nvSpPr>
          <p:cNvPr id="5" name="Shape 3"/>
          <p:cNvSpPr/>
          <p:nvPr/>
        </p:nvSpPr>
        <p:spPr>
          <a:xfrm>
            <a:off x="658368" y="1709928"/>
            <a:ext cx="384048" cy="384048"/>
          </a:xfrm>
          <a:prstGeom prst="ellipse">
            <a:avLst/>
          </a:prstGeom>
          <a:solidFill>
            <a:srgbClr val="2A78D6"/>
          </a:solidFill>
          <a:ln/>
        </p:spPr>
      </p:sp>
      <p:sp>
        <p:nvSpPr>
          <p:cNvPr id="6" name="Text 4"/>
          <p:cNvSpPr/>
          <p:nvPr/>
        </p:nvSpPr>
        <p:spPr>
          <a:xfrm>
            <a:off x="65836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1188720" y="1618488"/>
            <a:ext cx="4526280" cy="1097280"/>
          </a:xfrm>
          <a:prstGeom prst="rect">
            <a:avLst/>
          </a:prstGeom>
          <a:noFill/>
          <a:ln/>
        </p:spPr>
        <p:txBody>
          <a:bodyPr wrap="square" lIns="0" tIns="0" rIns="0" bIns="0" rtlCol="0" anchor="ctr"/>
          <a:lstStyle/>
          <a:p>
            <a:pPr indent="0" marL="0">
              <a:lnSpc>
                <a:spcPts val="1450"/>
              </a:lnSpc>
              <a:buNone/>
            </a:pPr>
            <a:r>
              <a:rPr lang="en-US" sz="1200" dirty="0">
                <a:solidFill>
                  <a:srgbClr val="0B0B0B"/>
                </a:solidFill>
                <a:latin typeface="Calibri" pitchFamily="34" charset="0"/>
                <a:ea typeface="Calibri" pitchFamily="34" charset="-122"/>
                <a:cs typeface="Calibri" pitchFamily="34" charset="-120"/>
              </a:rPr>
              <a:t>A system has no labeled data but receives a numeric score after each action it takes in a live environment. Which paradigm is this, and what specifically makes it that rather than unsupervised learning?</a:t>
            </a:r>
            <a:endParaRPr lang="en-US" sz="1200" dirty="0"/>
          </a:p>
        </p:txBody>
      </p:sp>
      <p:sp>
        <p:nvSpPr>
          <p:cNvPr id="8" name="Shape 6"/>
          <p:cNvSpPr/>
          <p:nvPr/>
        </p:nvSpPr>
        <p:spPr>
          <a:xfrm>
            <a:off x="6126480" y="1508760"/>
            <a:ext cx="5486400" cy="1325880"/>
          </a:xfrm>
          <a:prstGeom prst="roundRect">
            <a:avLst>
              <a:gd name="adj" fmla="val 6897"/>
            </a:avLst>
          </a:prstGeom>
          <a:solidFill>
            <a:srgbClr val="F9F9F7"/>
          </a:solidFill>
          <a:ln w="12700">
            <a:solidFill>
              <a:srgbClr val="E1E0D9"/>
            </a:solidFill>
            <a:prstDash val="solid"/>
          </a:ln>
        </p:spPr>
      </p:sp>
      <p:sp>
        <p:nvSpPr>
          <p:cNvPr id="9" name="Shape 7"/>
          <p:cNvSpPr/>
          <p:nvPr/>
        </p:nvSpPr>
        <p:spPr>
          <a:xfrm>
            <a:off x="6327648" y="1709928"/>
            <a:ext cx="384048" cy="384048"/>
          </a:xfrm>
          <a:prstGeom prst="ellipse">
            <a:avLst/>
          </a:prstGeom>
          <a:solidFill>
            <a:srgbClr val="2A78D6"/>
          </a:solidFill>
          <a:ln/>
        </p:spPr>
      </p:sp>
      <p:sp>
        <p:nvSpPr>
          <p:cNvPr id="10" name="Text 8"/>
          <p:cNvSpPr/>
          <p:nvPr/>
        </p:nvSpPr>
        <p:spPr>
          <a:xfrm>
            <a:off x="632764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1" name="Text 9"/>
          <p:cNvSpPr/>
          <p:nvPr/>
        </p:nvSpPr>
        <p:spPr>
          <a:xfrm>
            <a:off x="6858000" y="1618488"/>
            <a:ext cx="4526280" cy="1097280"/>
          </a:xfrm>
          <a:prstGeom prst="rect">
            <a:avLst/>
          </a:prstGeom>
          <a:noFill/>
          <a:ln/>
        </p:spPr>
        <p:txBody>
          <a:bodyPr wrap="square" lIns="0" tIns="0" rIns="0" bIns="0" rtlCol="0" anchor="ctr"/>
          <a:lstStyle/>
          <a:p>
            <a:pPr indent="0" marL="0">
              <a:lnSpc>
                <a:spcPts val="1450"/>
              </a:lnSpc>
              <a:buNone/>
            </a:pPr>
            <a:r>
              <a:rPr lang="en-US" sz="1200" dirty="0">
                <a:solidFill>
                  <a:srgbClr val="0B0B0B"/>
                </a:solidFill>
                <a:latin typeface="Calibri" pitchFamily="34" charset="0"/>
                <a:ea typeface="Calibri" pitchFamily="34" charset="-122"/>
                <a:cs typeface="Calibri" pitchFamily="34" charset="-120"/>
              </a:rPr>
              <a:t>What is the difference between the classification and regression subtypes of supervised learning?</a:t>
            </a:r>
            <a:endParaRPr lang="en-US" sz="1200" dirty="0"/>
          </a:p>
        </p:txBody>
      </p:sp>
      <p:sp>
        <p:nvSpPr>
          <p:cNvPr id="12" name="Shape 10"/>
          <p:cNvSpPr/>
          <p:nvPr/>
        </p:nvSpPr>
        <p:spPr>
          <a:xfrm>
            <a:off x="457200" y="2971800"/>
            <a:ext cx="5486400" cy="1325880"/>
          </a:xfrm>
          <a:prstGeom prst="roundRect">
            <a:avLst>
              <a:gd name="adj" fmla="val 6897"/>
            </a:avLst>
          </a:prstGeom>
          <a:solidFill>
            <a:srgbClr val="F9F9F7"/>
          </a:solidFill>
          <a:ln w="12700">
            <a:solidFill>
              <a:srgbClr val="E1E0D9"/>
            </a:solidFill>
            <a:prstDash val="solid"/>
          </a:ln>
        </p:spPr>
      </p:sp>
      <p:sp>
        <p:nvSpPr>
          <p:cNvPr id="13" name="Shape 11"/>
          <p:cNvSpPr/>
          <p:nvPr/>
        </p:nvSpPr>
        <p:spPr>
          <a:xfrm>
            <a:off x="658368" y="3172968"/>
            <a:ext cx="384048" cy="384048"/>
          </a:xfrm>
          <a:prstGeom prst="ellipse">
            <a:avLst/>
          </a:prstGeom>
          <a:solidFill>
            <a:srgbClr val="2A78D6"/>
          </a:solidFill>
          <a:ln/>
        </p:spPr>
      </p:sp>
      <p:sp>
        <p:nvSpPr>
          <p:cNvPr id="14" name="Text 12"/>
          <p:cNvSpPr/>
          <p:nvPr/>
        </p:nvSpPr>
        <p:spPr>
          <a:xfrm>
            <a:off x="658368" y="3172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5" name="Text 13"/>
          <p:cNvSpPr/>
          <p:nvPr/>
        </p:nvSpPr>
        <p:spPr>
          <a:xfrm>
            <a:off x="1188720" y="3081528"/>
            <a:ext cx="4526280" cy="1097280"/>
          </a:xfrm>
          <a:prstGeom prst="rect">
            <a:avLst/>
          </a:prstGeom>
          <a:noFill/>
          <a:ln/>
        </p:spPr>
        <p:txBody>
          <a:bodyPr wrap="square" lIns="0" tIns="0" rIns="0" bIns="0" rtlCol="0" anchor="ctr"/>
          <a:lstStyle/>
          <a:p>
            <a:pPr indent="0" marL="0">
              <a:lnSpc>
                <a:spcPts val="1450"/>
              </a:lnSpc>
              <a:buNone/>
            </a:pPr>
            <a:r>
              <a:rPr lang="en-US" sz="1200" dirty="0">
                <a:solidFill>
                  <a:srgbClr val="0B0B0B"/>
                </a:solidFill>
                <a:latin typeface="Calibri" pitchFamily="34" charset="0"/>
                <a:ea typeface="Calibri" pitchFamily="34" charset="-122"/>
                <a:cs typeface="Calibri" pitchFamily="34" charset="-120"/>
              </a:rPr>
              <a:t>Why is next-token prediction in LLM pretraining called "self-supervised" rather than "unsupervised," given that no human labels the training text?</a:t>
            </a:r>
            <a:endParaRPr lang="en-US" sz="1200" dirty="0"/>
          </a:p>
        </p:txBody>
      </p:sp>
      <p:sp>
        <p:nvSpPr>
          <p:cNvPr id="16" name="Shape 14"/>
          <p:cNvSpPr/>
          <p:nvPr/>
        </p:nvSpPr>
        <p:spPr>
          <a:xfrm>
            <a:off x="6126480" y="2971800"/>
            <a:ext cx="5486400" cy="1325880"/>
          </a:xfrm>
          <a:prstGeom prst="roundRect">
            <a:avLst>
              <a:gd name="adj" fmla="val 6897"/>
            </a:avLst>
          </a:prstGeom>
          <a:solidFill>
            <a:srgbClr val="F9F9F7"/>
          </a:solidFill>
          <a:ln w="12700">
            <a:solidFill>
              <a:srgbClr val="E1E0D9"/>
            </a:solidFill>
            <a:prstDash val="solid"/>
          </a:ln>
        </p:spPr>
      </p:sp>
      <p:sp>
        <p:nvSpPr>
          <p:cNvPr id="17" name="Shape 15"/>
          <p:cNvSpPr/>
          <p:nvPr/>
        </p:nvSpPr>
        <p:spPr>
          <a:xfrm>
            <a:off x="6327648" y="3172968"/>
            <a:ext cx="384048" cy="384048"/>
          </a:xfrm>
          <a:prstGeom prst="ellipse">
            <a:avLst/>
          </a:prstGeom>
          <a:solidFill>
            <a:srgbClr val="2A78D6"/>
          </a:solidFill>
          <a:ln/>
        </p:spPr>
      </p:sp>
      <p:sp>
        <p:nvSpPr>
          <p:cNvPr id="18" name="Text 16"/>
          <p:cNvSpPr/>
          <p:nvPr/>
        </p:nvSpPr>
        <p:spPr>
          <a:xfrm>
            <a:off x="6327648" y="3172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19" name="Text 17"/>
          <p:cNvSpPr/>
          <p:nvPr/>
        </p:nvSpPr>
        <p:spPr>
          <a:xfrm>
            <a:off x="6858000" y="3081528"/>
            <a:ext cx="4526280" cy="1097280"/>
          </a:xfrm>
          <a:prstGeom prst="rect">
            <a:avLst/>
          </a:prstGeom>
          <a:noFill/>
          <a:ln/>
        </p:spPr>
        <p:txBody>
          <a:bodyPr wrap="square" lIns="0" tIns="0" rIns="0" bIns="0" rtlCol="0" anchor="ctr"/>
          <a:lstStyle/>
          <a:p>
            <a:pPr indent="0" marL="0">
              <a:lnSpc>
                <a:spcPts val="1450"/>
              </a:lnSpc>
              <a:buNone/>
            </a:pPr>
            <a:r>
              <a:rPr lang="en-US" sz="1200" dirty="0">
                <a:solidFill>
                  <a:srgbClr val="0B0B0B"/>
                </a:solidFill>
                <a:latin typeface="Calibri" pitchFamily="34" charset="0"/>
                <a:ea typeface="Calibri" pitchFamily="34" charset="-122"/>
                <a:cs typeface="Calibri" pitchFamily="34" charset="-120"/>
              </a:rPr>
              <a:t>How does reward hacking differ from label leakage as a failure mode?</a:t>
            </a:r>
            <a:endParaRPr lang="en-US" sz="1200" dirty="0"/>
          </a:p>
        </p:txBody>
      </p:sp>
      <p:sp>
        <p:nvSpPr>
          <p:cNvPr id="20" name="Shape 18"/>
          <p:cNvSpPr/>
          <p:nvPr/>
        </p:nvSpPr>
        <p:spPr>
          <a:xfrm>
            <a:off x="457200" y="4434840"/>
            <a:ext cx="11274552" cy="1325880"/>
          </a:xfrm>
          <a:prstGeom prst="roundRect">
            <a:avLst>
              <a:gd name="adj" fmla="val 6897"/>
            </a:avLst>
          </a:prstGeom>
          <a:solidFill>
            <a:srgbClr val="F9F9F7"/>
          </a:solidFill>
          <a:ln w="12700">
            <a:solidFill>
              <a:srgbClr val="E1E0D9"/>
            </a:solidFill>
            <a:prstDash val="solid"/>
          </a:ln>
        </p:spPr>
      </p:sp>
      <p:sp>
        <p:nvSpPr>
          <p:cNvPr id="21" name="Shape 19"/>
          <p:cNvSpPr/>
          <p:nvPr/>
        </p:nvSpPr>
        <p:spPr>
          <a:xfrm>
            <a:off x="658368" y="4636008"/>
            <a:ext cx="384048" cy="384048"/>
          </a:xfrm>
          <a:prstGeom prst="ellipse">
            <a:avLst/>
          </a:prstGeom>
          <a:solidFill>
            <a:srgbClr val="2A78D6"/>
          </a:solidFill>
          <a:ln/>
        </p:spPr>
      </p:sp>
      <p:sp>
        <p:nvSpPr>
          <p:cNvPr id="22" name="Text 20"/>
          <p:cNvSpPr/>
          <p:nvPr/>
        </p:nvSpPr>
        <p:spPr>
          <a:xfrm>
            <a:off x="658368" y="46360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Q5</a:t>
            </a:r>
            <a:endParaRPr lang="en-US" sz="1100" dirty="0"/>
          </a:p>
        </p:txBody>
      </p:sp>
      <p:sp>
        <p:nvSpPr>
          <p:cNvPr id="23" name="Text 21"/>
          <p:cNvSpPr/>
          <p:nvPr/>
        </p:nvSpPr>
        <p:spPr>
          <a:xfrm>
            <a:off x="1188720" y="4544568"/>
            <a:ext cx="10314432" cy="1097280"/>
          </a:xfrm>
          <a:prstGeom prst="rect">
            <a:avLst/>
          </a:prstGeom>
          <a:noFill/>
          <a:ln/>
        </p:spPr>
        <p:txBody>
          <a:bodyPr wrap="square" lIns="0" tIns="0" rIns="0" bIns="0" rtlCol="0" anchor="ctr"/>
          <a:lstStyle/>
          <a:p>
            <a:pPr indent="0" marL="0">
              <a:lnSpc>
                <a:spcPts val="1450"/>
              </a:lnSpc>
              <a:buNone/>
            </a:pPr>
            <a:r>
              <a:rPr lang="en-US" sz="1200" dirty="0">
                <a:solidFill>
                  <a:srgbClr val="0B0B0B"/>
                </a:solidFill>
                <a:latin typeface="Calibri" pitchFamily="34" charset="0"/>
                <a:ea typeface="Calibri" pitchFamily="34" charset="-122"/>
                <a:cs typeface="Calibri" pitchFamily="34" charset="-120"/>
              </a:rPr>
              <a:t>In the churn-prevention reference architecture, why does unsupervised segmentation run before the supervised churn model rather than after it?</a:t>
            </a:r>
            <a:endParaRPr lang="en-US" sz="1200" dirty="0"/>
          </a:p>
        </p:txBody>
      </p:sp>
      <p:sp>
        <p:nvSpPr>
          <p:cNvPr id="24" name="Text 22"/>
          <p:cNvSpPr/>
          <p:nvPr/>
        </p:nvSpPr>
        <p:spPr>
          <a:xfrm>
            <a:off x="457200" y="594360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Answers are in the speaker notes for this slide.</a:t>
            </a:r>
            <a:endParaRPr lang="en-US" sz="1200" dirty="0"/>
          </a:p>
        </p:txBody>
      </p:sp>
      <p:sp>
        <p:nvSpPr>
          <p:cNvPr id="26" name="Text 2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1.3 · Phase 1 — AI &amp; Machine Learning Foundations</a:t>
            </a:r>
            <a:endParaRPr lang="en-US" sz="1000" dirty="0"/>
          </a:p>
        </p:txBody>
      </p:sp>
      <p:sp>
        <p:nvSpPr>
          <p:cNvPr id="27" name="Text 2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F35"/>
        </a:solidFill>
      </p:bgPr>
    </p:bg>
    <p:spTree>
      <p:nvGrpSpPr>
        <p:cNvPr id="1" name=""/>
        <p:cNvGrpSpPr/>
        <p:nvPr/>
      </p:nvGrpSpPr>
      <p:grpSpPr>
        <a:xfrm>
          <a:off x="0" y="0"/>
          <a:ext cx="0" cy="0"/>
          <a:chOff x="0" y="0"/>
          <a:chExt cx="0" cy="0"/>
        </a:xfrm>
      </p:grpSpPr>
      <p:pic>
        <p:nvPicPr>
          <p:cNvPr id="2" name="Image 0" descr="/tmp/deck3/png/d0-title-motif.png">    </p:cNvPr>
          <p:cNvPicPr>
            <a:picLocks noChangeAspect="1"/>
          </p:cNvPicPr>
          <p:nvPr/>
        </p:nvPicPr>
        <p:blipFill>
          <a:blip r:embed="rId1">
            <a:alphaModFix amt="85000"/>
          </a:blip>
          <a:stretch>
            <a:fillRect/>
          </a:stretch>
        </p:blipFill>
        <p:spPr>
          <a:xfrm>
            <a:off x="8595360" y="2103120"/>
            <a:ext cx="3840480" cy="3840480"/>
          </a:xfrm>
          <a:prstGeom prst="rect">
            <a:avLst/>
          </a:prstGeom>
        </p:spPr>
      </p:pic>
      <p:sp>
        <p:nvSpPr>
          <p:cNvPr id="3"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SUMMARY</a:t>
            </a:r>
            <a:endParaRPr lang="en-US" sz="1200" dirty="0"/>
          </a:p>
        </p:txBody>
      </p:sp>
      <p:sp>
        <p:nvSpPr>
          <p:cNvPr id="4" name="Text 1"/>
          <p:cNvSpPr/>
          <p:nvPr/>
        </p:nvSpPr>
        <p:spPr>
          <a:xfrm>
            <a:off x="548640" y="73152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5" name="Shape 2"/>
          <p:cNvSpPr/>
          <p:nvPr/>
        </p:nvSpPr>
        <p:spPr>
          <a:xfrm>
            <a:off x="548640" y="1719072"/>
            <a:ext cx="292608" cy="292608"/>
          </a:xfrm>
          <a:prstGeom prst="ellipse">
            <a:avLst/>
          </a:prstGeom>
          <a:solidFill>
            <a:srgbClr val="2A78D6"/>
          </a:solidFill>
          <a:ln/>
        </p:spPr>
      </p:sp>
      <p:sp>
        <p:nvSpPr>
          <p:cNvPr id="6" name="Text 3"/>
          <p:cNvSpPr/>
          <p:nvPr/>
        </p:nvSpPr>
        <p:spPr>
          <a:xfrm>
            <a:off x="548640" y="171907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4"/>
          <p:cNvSpPr/>
          <p:nvPr/>
        </p:nvSpPr>
        <p:spPr>
          <a:xfrm>
            <a:off x="1005840" y="1691640"/>
            <a:ext cx="731520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Three paradigms, distinguished by one question: where does the feedback signal come from?</a:t>
            </a:r>
            <a:endParaRPr lang="en-US" sz="1400" dirty="0"/>
          </a:p>
        </p:txBody>
      </p:sp>
      <p:sp>
        <p:nvSpPr>
          <p:cNvPr id="8" name="Shape 5"/>
          <p:cNvSpPr/>
          <p:nvPr/>
        </p:nvSpPr>
        <p:spPr>
          <a:xfrm>
            <a:off x="548640" y="2587752"/>
            <a:ext cx="292608" cy="292608"/>
          </a:xfrm>
          <a:prstGeom prst="ellipse">
            <a:avLst/>
          </a:prstGeom>
          <a:solidFill>
            <a:srgbClr val="2A78D6"/>
          </a:solidFill>
          <a:ln/>
        </p:spPr>
      </p:sp>
      <p:sp>
        <p:nvSpPr>
          <p:cNvPr id="9" name="Text 6"/>
          <p:cNvSpPr/>
          <p:nvPr/>
        </p:nvSpPr>
        <p:spPr>
          <a:xfrm>
            <a:off x="548640" y="25877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7"/>
          <p:cNvSpPr/>
          <p:nvPr/>
        </p:nvSpPr>
        <p:spPr>
          <a:xfrm>
            <a:off x="1005840" y="2560320"/>
            <a:ext cx="731520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Supervised learning is graded against human-supplied labels; unsupervised learning has no feedback signal at all.</a:t>
            </a:r>
            <a:endParaRPr lang="en-US" sz="1400" dirty="0"/>
          </a:p>
        </p:txBody>
      </p:sp>
      <p:sp>
        <p:nvSpPr>
          <p:cNvPr id="11" name="Shape 8"/>
          <p:cNvSpPr/>
          <p:nvPr/>
        </p:nvSpPr>
        <p:spPr>
          <a:xfrm>
            <a:off x="548640" y="3456432"/>
            <a:ext cx="292608" cy="292608"/>
          </a:xfrm>
          <a:prstGeom prst="ellipse">
            <a:avLst/>
          </a:prstGeom>
          <a:solidFill>
            <a:srgbClr val="2A78D6"/>
          </a:solidFill>
          <a:ln/>
        </p:spPr>
      </p:sp>
      <p:sp>
        <p:nvSpPr>
          <p:cNvPr id="12" name="Text 9"/>
          <p:cNvSpPr/>
          <p:nvPr/>
        </p:nvSpPr>
        <p:spPr>
          <a:xfrm>
            <a:off x="548640" y="34564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1005840" y="3429000"/>
            <a:ext cx="731520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Reinforcement learning is graded against a reward its own actions helped produce, which the other two paradigms never see.</a:t>
            </a:r>
            <a:endParaRPr lang="en-US" sz="1400" dirty="0"/>
          </a:p>
        </p:txBody>
      </p:sp>
      <p:sp>
        <p:nvSpPr>
          <p:cNvPr id="14" name="Shape 11"/>
          <p:cNvSpPr/>
          <p:nvPr/>
        </p:nvSpPr>
        <p:spPr>
          <a:xfrm>
            <a:off x="548640" y="4325112"/>
            <a:ext cx="292608" cy="292608"/>
          </a:xfrm>
          <a:prstGeom prst="ellipse">
            <a:avLst/>
          </a:prstGeom>
          <a:solidFill>
            <a:srgbClr val="2A78D6"/>
          </a:solidFill>
          <a:ln/>
        </p:spPr>
      </p:sp>
      <p:sp>
        <p:nvSpPr>
          <p:cNvPr id="15" name="Text 12"/>
          <p:cNvSpPr/>
          <p:nvPr/>
        </p:nvSpPr>
        <p:spPr>
          <a:xfrm>
            <a:off x="548640" y="432511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3"/>
          <p:cNvSpPr/>
          <p:nvPr/>
        </p:nvSpPr>
        <p:spPr>
          <a:xfrm>
            <a:off x="1005840" y="4297680"/>
            <a:ext cx="731520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Self-supervised learning looks unsupervised but is mechanically supervised: the label is generated from the data itself.</a:t>
            </a:r>
            <a:endParaRPr lang="en-US" sz="1400" dirty="0"/>
          </a:p>
        </p:txBody>
      </p:sp>
      <p:sp>
        <p:nvSpPr>
          <p:cNvPr id="17" name="Shape 14"/>
          <p:cNvSpPr/>
          <p:nvPr/>
        </p:nvSpPr>
        <p:spPr>
          <a:xfrm>
            <a:off x="548640" y="5193792"/>
            <a:ext cx="292608" cy="292608"/>
          </a:xfrm>
          <a:prstGeom prst="ellipse">
            <a:avLst/>
          </a:prstGeom>
          <a:solidFill>
            <a:srgbClr val="2A78D6"/>
          </a:solidFill>
          <a:ln/>
        </p:spPr>
      </p:sp>
      <p:sp>
        <p:nvSpPr>
          <p:cNvPr id="18" name="Text 15"/>
          <p:cNvSpPr/>
          <p:nvPr/>
        </p:nvSpPr>
        <p:spPr>
          <a:xfrm>
            <a:off x="548640" y="51937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6"/>
          <p:cNvSpPr/>
          <p:nvPr/>
        </p:nvSpPr>
        <p:spPr>
          <a:xfrm>
            <a:off x="1005840" y="5166360"/>
            <a:ext cx="731520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Reward hacking and label leakage look similar but differ: one is a broken dataset, the other is a broken objective.</a:t>
            </a:r>
            <a:endParaRPr lang="en-US" sz="1400" dirty="0"/>
          </a:p>
        </p:txBody>
      </p:sp>
      <p:sp>
        <p:nvSpPr>
          <p:cNvPr id="20" name="Text 1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1.3 · Phase 1 — AI &amp; Machine Learning Foundations</a:t>
            </a:r>
            <a:endParaRPr lang="en-US" sz="1000" dirty="0"/>
          </a:p>
        </p:txBody>
      </p:sp>
      <p:sp>
        <p:nvSpPr>
          <p:cNvPr id="21" name="Text 18"/>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FURTHER READING</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Sources Cited in This Chapter</a:t>
            </a:r>
            <a:endParaRPr lang="en-US" sz="3000" dirty="0"/>
          </a:p>
        </p:txBody>
      </p:sp>
      <p:sp>
        <p:nvSpPr>
          <p:cNvPr id="4" name="Shape 2"/>
          <p:cNvSpPr/>
          <p:nvPr/>
        </p:nvSpPr>
        <p:spPr>
          <a:xfrm>
            <a:off x="457200" y="1700784"/>
            <a:ext cx="146304" cy="146304"/>
          </a:xfrm>
          <a:prstGeom prst="ellipse">
            <a:avLst/>
          </a:prstGeom>
          <a:solidFill>
            <a:srgbClr val="2A78D6"/>
          </a:solidFill>
          <a:ln/>
        </p:spPr>
      </p:sp>
      <p:sp>
        <p:nvSpPr>
          <p:cNvPr id="5" name="Text 3"/>
          <p:cNvSpPr/>
          <p:nvPr/>
        </p:nvSpPr>
        <p:spPr>
          <a:xfrm>
            <a:off x="777240" y="164592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Silver et al., Mastering the Game of Go without Human Knowledge</a:t>
            </a:r>
            <a:endParaRPr lang="en-US" sz="1500" dirty="0"/>
          </a:p>
        </p:txBody>
      </p:sp>
      <p:sp>
        <p:nvSpPr>
          <p:cNvPr id="6" name="Text 4"/>
          <p:cNvSpPr/>
          <p:nvPr/>
        </p:nvSpPr>
        <p:spPr>
          <a:xfrm>
            <a:off x="777240" y="195681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AlphaGo Zero — Nature, 2017</a:t>
            </a:r>
            <a:endParaRPr lang="en-US" sz="1200" dirty="0"/>
          </a:p>
        </p:txBody>
      </p:sp>
      <p:sp>
        <p:nvSpPr>
          <p:cNvPr id="7" name="Shape 5"/>
          <p:cNvSpPr/>
          <p:nvPr/>
        </p:nvSpPr>
        <p:spPr>
          <a:xfrm>
            <a:off x="457200" y="2478024"/>
            <a:ext cx="146304" cy="146304"/>
          </a:xfrm>
          <a:prstGeom prst="ellipse">
            <a:avLst/>
          </a:prstGeom>
          <a:solidFill>
            <a:srgbClr val="2A78D6"/>
          </a:solidFill>
          <a:ln/>
        </p:spPr>
      </p:sp>
      <p:sp>
        <p:nvSpPr>
          <p:cNvPr id="8" name="Text 6"/>
          <p:cNvSpPr/>
          <p:nvPr/>
        </p:nvSpPr>
        <p:spPr>
          <a:xfrm>
            <a:off x="777240" y="242316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MacQueen (1967); Pearson (1901); Hotelling (1933)</a:t>
            </a:r>
            <a:endParaRPr lang="en-US" sz="1500" dirty="0"/>
          </a:p>
        </p:txBody>
      </p:sp>
      <p:sp>
        <p:nvSpPr>
          <p:cNvPr id="9" name="Text 7"/>
          <p:cNvSpPr/>
          <p:nvPr/>
        </p:nvSpPr>
        <p:spPr>
          <a:xfrm>
            <a:off x="777240" y="273405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k-means clustering; PCA's geometric and eigenvector formulations</a:t>
            </a:r>
            <a:endParaRPr lang="en-US" sz="1200" dirty="0"/>
          </a:p>
        </p:txBody>
      </p:sp>
      <p:sp>
        <p:nvSpPr>
          <p:cNvPr id="10" name="Shape 8"/>
          <p:cNvSpPr/>
          <p:nvPr/>
        </p:nvSpPr>
        <p:spPr>
          <a:xfrm>
            <a:off x="457200" y="3255264"/>
            <a:ext cx="146304" cy="146304"/>
          </a:xfrm>
          <a:prstGeom prst="ellipse">
            <a:avLst/>
          </a:prstGeom>
          <a:solidFill>
            <a:srgbClr val="2A78D6"/>
          </a:solidFill>
          <a:ln/>
        </p:spPr>
      </p:sp>
      <p:sp>
        <p:nvSpPr>
          <p:cNvPr id="11" name="Text 9"/>
          <p:cNvSpPr/>
          <p:nvPr/>
        </p:nvSpPr>
        <p:spPr>
          <a:xfrm>
            <a:off x="777240" y="320040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Sutton &amp; Barto, Reinforcement Learning: An Introduction</a:t>
            </a:r>
            <a:endParaRPr lang="en-US" sz="1500" dirty="0"/>
          </a:p>
        </p:txBody>
      </p:sp>
      <p:sp>
        <p:nvSpPr>
          <p:cNvPr id="12" name="Text 10"/>
          <p:cNvSpPr/>
          <p:nvPr/>
        </p:nvSpPr>
        <p:spPr>
          <a:xfrm>
            <a:off x="777240" y="351129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2nd ed., 2018</a:t>
            </a:r>
            <a:endParaRPr lang="en-US" sz="1200" dirty="0"/>
          </a:p>
        </p:txBody>
      </p:sp>
      <p:sp>
        <p:nvSpPr>
          <p:cNvPr id="13" name="Shape 11"/>
          <p:cNvSpPr/>
          <p:nvPr/>
        </p:nvSpPr>
        <p:spPr>
          <a:xfrm>
            <a:off x="457200" y="4032504"/>
            <a:ext cx="146304" cy="146304"/>
          </a:xfrm>
          <a:prstGeom prst="ellipse">
            <a:avLst/>
          </a:prstGeom>
          <a:solidFill>
            <a:srgbClr val="2A78D6"/>
          </a:solidFill>
          <a:ln/>
        </p:spPr>
      </p:sp>
      <p:sp>
        <p:nvSpPr>
          <p:cNvPr id="14" name="Text 12"/>
          <p:cNvSpPr/>
          <p:nvPr/>
        </p:nvSpPr>
        <p:spPr>
          <a:xfrm>
            <a:off x="777240" y="397764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Amodei et al., Concrete Problems in AI Safety</a:t>
            </a:r>
            <a:endParaRPr lang="en-US" sz="1500" dirty="0"/>
          </a:p>
        </p:txBody>
      </p:sp>
      <p:sp>
        <p:nvSpPr>
          <p:cNvPr id="15" name="Text 13"/>
          <p:cNvSpPr/>
          <p:nvPr/>
        </p:nvSpPr>
        <p:spPr>
          <a:xfrm>
            <a:off x="777240" y="428853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reward hacking — arXiv, 2016</a:t>
            </a:r>
            <a:endParaRPr lang="en-US" sz="1200" dirty="0"/>
          </a:p>
        </p:txBody>
      </p:sp>
      <p:sp>
        <p:nvSpPr>
          <p:cNvPr id="16" name="Shape 14"/>
          <p:cNvSpPr/>
          <p:nvPr/>
        </p:nvSpPr>
        <p:spPr>
          <a:xfrm>
            <a:off x="457200" y="4809744"/>
            <a:ext cx="146304" cy="146304"/>
          </a:xfrm>
          <a:prstGeom prst="ellipse">
            <a:avLst/>
          </a:prstGeom>
          <a:solidFill>
            <a:srgbClr val="2A78D6"/>
          </a:solidFill>
          <a:ln/>
        </p:spPr>
      </p:sp>
      <p:sp>
        <p:nvSpPr>
          <p:cNvPr id="17" name="Text 15"/>
          <p:cNvSpPr/>
          <p:nvPr/>
        </p:nvSpPr>
        <p:spPr>
          <a:xfrm>
            <a:off x="777240" y="475488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Christiano et al., Deep RL from Human Preferences</a:t>
            </a:r>
            <a:endParaRPr lang="en-US" sz="1500" dirty="0"/>
          </a:p>
        </p:txBody>
      </p:sp>
      <p:sp>
        <p:nvSpPr>
          <p:cNvPr id="18" name="Text 16"/>
          <p:cNvSpPr/>
          <p:nvPr/>
        </p:nvSpPr>
        <p:spPr>
          <a:xfrm>
            <a:off x="777240" y="506577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RLHF's reward model — arXiv, 2017</a:t>
            </a:r>
            <a:endParaRPr lang="en-US" sz="1200" dirty="0"/>
          </a:p>
        </p:txBody>
      </p:sp>
      <p:sp>
        <p:nvSpPr>
          <p:cNvPr id="19" name="Text 17"/>
          <p:cNvSpPr/>
          <p:nvPr/>
        </p:nvSpPr>
        <p:spPr>
          <a:xfrm>
            <a:off x="457200" y="603504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Full chapter with inline links: docs/01-ai-ml-foundations/1-3-ml-foundations.mdx</a:t>
            </a:r>
            <a:endParaRPr lang="en-US" sz="1200" dirty="0"/>
          </a:p>
        </p:txBody>
      </p:sp>
      <p:sp>
        <p:nvSpPr>
          <p:cNvPr id="20" name="Text 18"/>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1.3 · Phase 1 — AI &amp; Machine Learning Foundations</a:t>
            </a:r>
            <a:endParaRPr lang="en-US" sz="1000" dirty="0"/>
          </a:p>
        </p:txBody>
      </p:sp>
      <p:sp>
        <p:nvSpPr>
          <p:cNvPr id="21" name="Text 19"/>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2026-08-19T20:59:06Z</dcterms:created>
  <dcterms:modified xsi:type="dcterms:W3CDTF">2026-08-19T20:59:06Z</dcterms:modified>
</cp:coreProperties>
</file>